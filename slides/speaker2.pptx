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1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9" r:id="rId6"/>
    <p:sldId id="261" r:id="rId7"/>
    <p:sldId id="260" r:id="rId8"/>
    <p:sldId id="268" r:id="rId9"/>
    <p:sldId id="263" r:id="rId10"/>
    <p:sldId id="264" r:id="rId11"/>
    <p:sldId id="265" r:id="rId12"/>
    <p:sldId id="270" r:id="rId13"/>
    <p:sldId id="266" r:id="rId14"/>
    <p:sldId id="267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13806B-076E-41F8-8013-5FD802C59FD7}" type="datetimeFigureOut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AEFA6-D827-4D5D-86C2-61CF0414BCE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6899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39179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7844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89963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0726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57058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45076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742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771719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85213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85855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42900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106244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37053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AEFA6-D827-4D5D-86C2-61CF0414BCEE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2518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96319" y="802299"/>
            <a:ext cx="5618515" cy="2541431"/>
          </a:xfrm>
        </p:spPr>
        <p:txBody>
          <a:bodyPr bIns="0" anchor="b">
            <a:normAutofit/>
          </a:bodyPr>
          <a:lstStyle>
            <a:lvl1pPr algn="l"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96319" y="3531205"/>
            <a:ext cx="5618515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60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396319" y="329308"/>
            <a:ext cx="3086292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4703" y="798973"/>
            <a:ext cx="802005" cy="50357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396319" y="3528542"/>
            <a:ext cx="561851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4020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4828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1756130"/>
            <a:ext cx="5617002" cy="1887950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2" y="3806196"/>
            <a:ext cx="5617002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43491" y="3804985"/>
            <a:ext cx="561700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7324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890"/>
            <a:ext cx="6571343" cy="105930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3490" y="2013936"/>
            <a:ext cx="3125871" cy="34375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89182" y="2013936"/>
            <a:ext cx="3125652" cy="3437559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522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Straight Connector 35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164"/>
            <a:ext cx="6571344" cy="1056319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9550"/>
            <a:ext cx="3125766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3491" y="2824270"/>
            <a:ext cx="3125766" cy="2644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89182" y="2023004"/>
            <a:ext cx="31256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89182" y="2821491"/>
            <a:ext cx="3125652" cy="26373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364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143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3735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9042" y="798973"/>
            <a:ext cx="2425950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6656" y="798974"/>
            <a:ext cx="3828178" cy="4658826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39042" y="3205492"/>
            <a:ext cx="2427369" cy="2248181"/>
          </a:xfrm>
        </p:spPr>
        <p:txBody>
          <a:bodyPr>
            <a:normAutofit/>
          </a:bodyPr>
          <a:lstStyle>
            <a:lvl1pPr marL="0" indent="0" algn="l"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1748" y="3205491"/>
            <a:ext cx="242327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5881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4996501" y="482171"/>
            <a:ext cx="3511387" cy="5149101"/>
            <a:chOff x="6852919" y="583365"/>
            <a:chExt cx="4681849" cy="5181928"/>
          </a:xfrm>
        </p:grpSpPr>
        <p:sp>
          <p:nvSpPr>
            <p:cNvPr id="14" name="Rectangle 13"/>
            <p:cNvSpPr/>
            <p:nvPr/>
          </p:nvSpPr>
          <p:spPr>
            <a:xfrm>
              <a:off x="6852919" y="583365"/>
              <a:ext cx="4681849" cy="5181928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Rectangle 14"/>
            <p:cNvSpPr/>
            <p:nvPr/>
          </p:nvSpPr>
          <p:spPr>
            <a:xfrm>
              <a:off x="7273787" y="915806"/>
              <a:ext cx="3844017" cy="4507918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148" y="1129513"/>
            <a:ext cx="3244935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40128" y="1122543"/>
            <a:ext cx="2234998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3492" y="3145992"/>
            <a:ext cx="3240286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36664" y="5469857"/>
            <a:ext cx="3252420" cy="320123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37530" y="318641"/>
            <a:ext cx="3251553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1281" y="3143605"/>
            <a:ext cx="324201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9448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772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18028" y="798974"/>
            <a:ext cx="1103027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3491" y="798974"/>
            <a:ext cx="5301095" cy="4659889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6918028" y="798974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894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015734"/>
            <a:ext cx="9144000" cy="407952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t="1538" r="12500" b="-1538"/>
          <a:stretch/>
        </p:blipFill>
        <p:spPr>
          <a:xfrm>
            <a:off x="-1" y="6095253"/>
            <a:ext cx="9144001" cy="774727"/>
          </a:xfrm>
          <a:prstGeom prst="rect">
            <a:avLst/>
          </a:prstGeom>
        </p:spPr>
      </p:pic>
      <p:cxnSp>
        <p:nvCxnSpPr>
          <p:cNvPr id="13" name="Straight Connector 12"/>
          <p:cNvCxnSpPr/>
          <p:nvPr/>
        </p:nvCxnSpPr>
        <p:spPr>
          <a:xfrm>
            <a:off x="0" y="6101127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3491" y="804520"/>
            <a:ext cx="6571343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5733"/>
            <a:ext cx="6571343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46542" y="330370"/>
            <a:ext cx="2368292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43491" y="329308"/>
            <a:ext cx="4034004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7725" y="798973"/>
            <a:ext cx="795746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124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2" r:id="rId1"/>
    <p:sldLayoutId id="2147483793" r:id="rId2"/>
    <p:sldLayoutId id="2147483794" r:id="rId3"/>
    <p:sldLayoutId id="2147483795" r:id="rId4"/>
    <p:sldLayoutId id="2147483796" r:id="rId5"/>
    <p:sldLayoutId id="2147483797" r:id="rId6"/>
    <p:sldLayoutId id="2147483798" r:id="rId7"/>
    <p:sldLayoutId id="2147483799" r:id="rId8"/>
    <p:sldLayoutId id="2147483800" r:id="rId9"/>
    <p:sldLayoutId id="2147483801" r:id="rId10"/>
    <p:sldLayoutId id="2147483802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6858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5086" y="1106944"/>
            <a:ext cx="8024781" cy="1143000"/>
          </a:xfrm>
        </p:spPr>
        <p:txBody>
          <a:bodyPr>
            <a:normAutofit/>
          </a:bodyPr>
          <a:lstStyle/>
          <a:p>
            <a:r>
              <a:rPr lang="zh-TW" altLang="en-US" sz="3600" dirty="0"/>
              <a:t>補全行為與開發者生產力之間的關係</a:t>
            </a:r>
            <a:endParaRPr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2677" y="3197338"/>
            <a:ext cx="8229600" cy="2160188"/>
          </a:xfrm>
        </p:spPr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Copilot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補全行為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生產力研究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報告者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陳冠閔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日期：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09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343" y="1024523"/>
            <a:ext cx="4591831" cy="766177"/>
          </a:xfrm>
        </p:spPr>
        <p:txBody>
          <a:bodyPr>
            <a:normAutofit/>
          </a:bodyPr>
          <a:lstStyle/>
          <a:p>
            <a:r>
              <a:rPr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研究</a:t>
            </a:r>
            <a:r>
              <a:rPr lang="zh-TW" alt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背景與</a:t>
            </a:r>
            <a:r>
              <a:rPr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動機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4592" y="2145617"/>
            <a:ext cx="7454815" cy="4088718"/>
          </a:xfrm>
        </p:spPr>
        <p:txBody>
          <a:bodyPr>
            <a:normAutofit/>
          </a:bodyPr>
          <a:lstStyle/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隨著AI技術的快速發展，像是GitHub Copilot這類AI輔助程式設計工具逐漸成為開發者的常用幫手。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雖然有人認為這些工具能提升開發效率，但實證研究較少。本報告旨在了解AI工具（特別是Copilot）對開發者 Productivity（生產力）的實際影響。</a:t>
            </a:r>
          </a:p>
          <a:p>
            <a:pPr marL="0" indent="0">
              <a:buNone/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5985" y="945669"/>
            <a:ext cx="2735748" cy="772667"/>
          </a:xfrm>
        </p:spPr>
        <p:txBody>
          <a:bodyPr>
            <a:normAutofit/>
          </a:bodyPr>
          <a:lstStyle/>
          <a:p>
            <a:r>
              <a:rPr lang="zh-TW" altLang="en-US" sz="4800">
                <a:latin typeface="Times New Roman" panose="02020603050405020304" pitchFamily="18" charset="0"/>
                <a:cs typeface="Times New Roman" panose="02020603050405020304" pitchFamily="18" charset="0"/>
              </a:rPr>
              <a:t>研究問題</a:t>
            </a:r>
            <a:endParaRPr lang="zh-TW" alt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28053" y="2138715"/>
            <a:ext cx="8229600" cy="4525963"/>
          </a:xfrm>
        </p:spPr>
        <p:txBody>
          <a:bodyPr>
            <a:normAutofit/>
          </a:bodyPr>
          <a:lstStyle/>
          <a:p>
            <a:r>
              <a:rPr lang="en-US" altLang="zh-TW" sz="2400" dirty="0"/>
              <a:t>1. </a:t>
            </a:r>
            <a:r>
              <a:rPr lang="zh-TW" altLang="en-US" sz="2400" dirty="0"/>
              <a:t>哪些補全提升生產力？</a:t>
            </a:r>
          </a:p>
          <a:p>
            <a:r>
              <a:rPr lang="en-US" altLang="zh-TW" sz="2400" dirty="0"/>
              <a:t>2. </a:t>
            </a:r>
            <a:r>
              <a:rPr lang="zh-TW" altLang="en-US" sz="2400" dirty="0"/>
              <a:t>補全數量是否有用？</a:t>
            </a:r>
          </a:p>
          <a:p>
            <a:r>
              <a:rPr lang="en-US" altLang="zh-TW" sz="2400" dirty="0"/>
              <a:t>3. </a:t>
            </a:r>
            <a:r>
              <a:rPr lang="zh-TW" altLang="en-US" sz="2400" dirty="0"/>
              <a:t>哪些族群受益？</a:t>
            </a:r>
          </a:p>
          <a:p>
            <a:r>
              <a:rPr lang="en-US" altLang="zh-TW" sz="2400" dirty="0"/>
              <a:t>4. </a:t>
            </a:r>
            <a:r>
              <a:rPr lang="zh-TW" altLang="en-US" sz="2400" dirty="0"/>
              <a:t>情境是否影響接受程度？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800" dirty="0" err="1"/>
              <a:t>研究方法概述</a:t>
            </a:r>
            <a:endParaRPr sz="4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 IDE 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數據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個人體驗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問卷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指標：shown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/accepted/persistence/contribution</a:t>
            </a: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分析：相關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降維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回歸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時間週期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EC3D9-F33B-9FAC-04C0-9D2CA59AC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5222A-08E5-0CE5-D12E-7BE77D6D5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8201" y="138871"/>
            <a:ext cx="1928526" cy="566119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研究對象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31B0F42-078C-19F8-066D-C71A369E6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029" y="802951"/>
            <a:ext cx="6924871" cy="549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0744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29510" y="391239"/>
            <a:ext cx="1884980" cy="578393"/>
          </a:xfrm>
        </p:spPr>
        <p:txBody>
          <a:bodyPr/>
          <a:lstStyle/>
          <a:p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行為指標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7A0D4AE-77FD-E0B2-584E-E6D0E1EDC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20" y="1105798"/>
            <a:ext cx="7427559" cy="5238224"/>
          </a:xfrm>
          <a:prstGeom prst="rect">
            <a:avLst/>
          </a:prstGeom>
        </p:spPr>
      </p:pic>
      <p:cxnSp>
        <p:nvCxnSpPr>
          <p:cNvPr id="4" name="直線接點 3">
            <a:extLst>
              <a:ext uri="{FF2B5EF4-FFF2-40B4-BE49-F238E27FC236}">
                <a16:creationId xmlns:a16="http://schemas.microsoft.com/office/drawing/2014/main" id="{BF89F4D8-819F-31F7-8763-C80A92C07740}"/>
              </a:ext>
            </a:extLst>
          </p:cNvPr>
          <p:cNvCxnSpPr>
            <a:cxnSpLocks/>
          </p:cNvCxnSpPr>
          <p:nvPr/>
        </p:nvCxnSpPr>
        <p:spPr>
          <a:xfrm>
            <a:off x="1159877" y="2190878"/>
            <a:ext cx="95735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08230EA2-681D-9989-F317-8089A0D79E2B}"/>
              </a:ext>
            </a:extLst>
          </p:cNvPr>
          <p:cNvCxnSpPr>
            <a:cxnSpLocks/>
          </p:cNvCxnSpPr>
          <p:nvPr/>
        </p:nvCxnSpPr>
        <p:spPr>
          <a:xfrm>
            <a:off x="1116919" y="2668535"/>
            <a:ext cx="1184424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接點 2">
            <a:extLst>
              <a:ext uri="{FF2B5EF4-FFF2-40B4-BE49-F238E27FC236}">
                <a16:creationId xmlns:a16="http://schemas.microsoft.com/office/drawing/2014/main" id="{80FF0CCC-4952-1C4A-E785-8A0857C5FCF8}"/>
              </a:ext>
            </a:extLst>
          </p:cNvPr>
          <p:cNvCxnSpPr>
            <a:cxnSpLocks/>
          </p:cNvCxnSpPr>
          <p:nvPr/>
        </p:nvCxnSpPr>
        <p:spPr>
          <a:xfrm>
            <a:off x="1116919" y="2979472"/>
            <a:ext cx="129488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53938" y="9996"/>
            <a:ext cx="3863187" cy="566119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程式碼補全流程階梯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A211C53-0830-699B-4257-53DF14DBFB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519" y="569978"/>
            <a:ext cx="6904027" cy="59290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8F89E-D7C0-CC57-2557-02624C7E4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35372-3B91-0780-2D14-B5FC72DE3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7200" y="34376"/>
            <a:ext cx="1829600" cy="558460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相關矩陣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8DBA637-9A99-A123-79AA-3E3A90F3BF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261" y="558460"/>
            <a:ext cx="6879478" cy="601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297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66289" y="65328"/>
            <a:ext cx="2699857" cy="521638"/>
          </a:xfrm>
        </p:spPr>
        <p:txBody>
          <a:bodyPr>
            <a:noAutofit/>
          </a:bodyPr>
          <a:lstStyle/>
          <a:p>
            <a:r>
              <a:rPr lang="zh-TW" altLang="en-US" dirty="0"/>
              <a:t>指標降維結果</a:t>
            </a:r>
            <a:endParaRPr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0135E3F-FFF6-9A82-D571-73E423E5C9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313" y="586966"/>
            <a:ext cx="6701589" cy="610708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4680" y="127352"/>
            <a:ext cx="1905512" cy="529298"/>
          </a:xfrm>
        </p:spPr>
        <p:txBody>
          <a:bodyPr>
            <a:noAutofit/>
          </a:bodyPr>
          <a:lstStyle/>
          <a:p>
            <a:r>
              <a:rPr dirty="0" err="1"/>
              <a:t>族群差異</a:t>
            </a:r>
            <a:endParaRPr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DA32723-CFF4-7561-56FB-25F264BEAE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148" y="612935"/>
            <a:ext cx="6746577" cy="59290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65269" y="122691"/>
            <a:ext cx="1813459" cy="537387"/>
          </a:xfrm>
        </p:spPr>
        <p:txBody>
          <a:bodyPr/>
          <a:lstStyle/>
          <a:p>
            <a:r>
              <a:rPr dirty="0" err="1"/>
              <a:t>時間週期</a:t>
            </a:r>
            <a:endParaRPr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664CBD2-A970-6255-E7C8-DB013FDE3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739" y="657416"/>
            <a:ext cx="6938521" cy="601995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7426B-B51B-F87F-B0BE-DA7830BFA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1EB0A-8543-D81B-2521-0167CEB5B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討論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1343C-D970-D6D2-F58B-DCCCEC519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品質比數量重要</a:t>
            </a:r>
          </a:p>
          <a:p>
            <a:r>
              <a:t>2. 效果因人而異</a:t>
            </a:r>
          </a:p>
          <a:p>
            <a:r>
              <a:t>3. 情境影響接受度</a:t>
            </a:r>
          </a:p>
        </p:txBody>
      </p:sp>
    </p:spTree>
    <p:extLst>
      <p:ext uri="{BB962C8B-B14F-4D97-AF65-F5344CB8AC3E}">
        <p14:creationId xmlns:p14="http://schemas.microsoft.com/office/powerpoint/2010/main" val="26449103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研究貢獻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A114CE3-6F2D-1629-9B1B-F74D7CC63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9907" y="2037014"/>
            <a:ext cx="6938509" cy="3450613"/>
          </a:xfrm>
        </p:spPr>
        <p:txBody>
          <a:bodyPr/>
          <a:lstStyle/>
          <a:p>
            <a:r>
              <a:rPr lang="zh-TW" altLang="en-US" dirty="0"/>
              <a:t>首次明確量化「使用行為」與「生產力感受」之間的連結。</a:t>
            </a:r>
            <a:br>
              <a:rPr lang="zh-TW" altLang="en-US" dirty="0"/>
            </a:br>
            <a:r>
              <a:rPr lang="zh-TW" altLang="en-US" dirty="0"/>
              <a:t>→ 接受率能預測感知生產力。</a:t>
            </a:r>
            <a:endParaRPr lang="en-US" altLang="zh-TW" dirty="0"/>
          </a:p>
          <a:p>
            <a:r>
              <a:rPr lang="zh-TW" altLang="en-US" dirty="0"/>
              <a:t>證明補全的「品質」比「數量」更重要。</a:t>
            </a:r>
            <a:br>
              <a:rPr lang="zh-TW" altLang="en-US" dirty="0"/>
            </a:br>
            <a:r>
              <a:rPr lang="zh-TW" altLang="en-US" dirty="0"/>
              <a:t>→ 持久率不如接受率有預測力。</a:t>
            </a:r>
            <a:endParaRPr lang="en-US" altLang="zh-TW" dirty="0"/>
          </a:p>
          <a:p>
            <a:r>
              <a:rPr lang="zh-TW" altLang="en-US" dirty="0"/>
              <a:t>揭露不同族群、不同時間的使用差異。</a:t>
            </a:r>
            <a:br>
              <a:rPr lang="zh-TW" altLang="en-US" dirty="0"/>
            </a:br>
            <a:r>
              <a:rPr lang="zh-TW" altLang="en-US" dirty="0"/>
              <a:t>→ 新手效益大、</a:t>
            </a:r>
            <a:r>
              <a:rPr lang="en-US" altLang="zh-TW" dirty="0"/>
              <a:t>JS/TS </a:t>
            </a:r>
            <a:r>
              <a:rPr lang="zh-TW" altLang="en-US" dirty="0"/>
              <a:t>使用者較高、晚上與週末接受率上升。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結論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400" dirty="0"/>
              <a:t>AI </a:t>
            </a:r>
            <a:r>
              <a:rPr sz="2400" dirty="0" err="1"/>
              <a:t>補全提升屬小而穩定</a:t>
            </a:r>
            <a:endParaRPr sz="2400" dirty="0"/>
          </a:p>
          <a:p>
            <a:r>
              <a:rPr sz="2400" dirty="0" err="1"/>
              <a:t>被接受並保留的補全最有價值</a:t>
            </a:r>
            <a:endParaRPr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圖庫">
  <a:themeElements>
    <a:clrScheme name="圖庫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圖庫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圖庫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TM10001114[[fn=圖庫]]</Template>
  <TotalTime>2641</TotalTime>
  <Words>303</Words>
  <Application>Microsoft Office PowerPoint</Application>
  <PresentationFormat>如螢幕大小 (4:3)</PresentationFormat>
  <Paragraphs>51</Paragraphs>
  <Slides>14</Slides>
  <Notes>14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9" baseType="lpstr">
      <vt:lpstr>Aptos</vt:lpstr>
      <vt:lpstr>Arial</vt:lpstr>
      <vt:lpstr>Gill Sans MT</vt:lpstr>
      <vt:lpstr>Times New Roman</vt:lpstr>
      <vt:lpstr>圖庫</vt:lpstr>
      <vt:lpstr>補全行為與開發者生產力之間的關係</vt:lpstr>
      <vt:lpstr>研究背景與動機</vt:lpstr>
      <vt:lpstr>研究問題</vt:lpstr>
      <vt:lpstr>研究方法概述</vt:lpstr>
      <vt:lpstr>研究對象</vt:lpstr>
      <vt:lpstr>行為指標</vt:lpstr>
      <vt:lpstr>程式碼補全流程階梯</vt:lpstr>
      <vt:lpstr>相關矩陣</vt:lpstr>
      <vt:lpstr>指標降維結果</vt:lpstr>
      <vt:lpstr>族群差異</vt:lpstr>
      <vt:lpstr>時間週期</vt:lpstr>
      <vt:lpstr>討論</vt:lpstr>
      <vt:lpstr>研究貢獻</vt:lpstr>
      <vt:lpstr>結論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明憲 蔡</cp:lastModifiedBy>
  <cp:revision>23</cp:revision>
  <dcterms:created xsi:type="dcterms:W3CDTF">2013-01-27T09:14:16Z</dcterms:created>
  <dcterms:modified xsi:type="dcterms:W3CDTF">2025-12-08T16:51:03Z</dcterms:modified>
  <cp:category/>
</cp:coreProperties>
</file>