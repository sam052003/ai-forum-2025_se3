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8" r:id="rId9"/>
    <p:sldId id="263" r:id="rId10"/>
    <p:sldId id="264" r:id="rId11"/>
    <p:sldId id="265" r:id="rId12"/>
    <p:sldId id="270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3806B-076E-41F8-8013-5FD802C59FD7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AEFA6-D827-4D5D-86C2-61CF0414BC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689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大家好，我是陳冠閔。</a:t>
            </a:r>
            <a:br>
              <a:rPr lang="zh-TW" altLang="en-US" dirty="0"/>
            </a:br>
            <a:r>
              <a:rPr lang="zh-TW" altLang="en-US" dirty="0"/>
              <a:t>今天要分享的主題是 </a:t>
            </a:r>
            <a:r>
              <a:rPr lang="en-US" altLang="zh-TW" dirty="0"/>
              <a:t>GitHub Copilot </a:t>
            </a:r>
            <a:r>
              <a:rPr lang="zh-TW" altLang="en-US" dirty="0"/>
              <a:t>補全行為與開發者生產力之間的關係。</a:t>
            </a:r>
          </a:p>
          <a:p>
            <a:r>
              <a:rPr lang="zh-TW" altLang="en-US" dirty="0"/>
              <a:t>其實現在很多工程師都在用 </a:t>
            </a:r>
            <a:r>
              <a:rPr lang="en-US" altLang="zh-TW" dirty="0"/>
              <a:t>Copilot</a:t>
            </a:r>
            <a:r>
              <a:rPr lang="zh-TW" altLang="en-US" dirty="0"/>
              <a:t>，但它到底有沒有真的幫助我們寫程式？</a:t>
            </a:r>
            <a:br>
              <a:rPr lang="zh-TW" altLang="en-US" dirty="0"/>
            </a:br>
            <a:r>
              <a:rPr lang="zh-TW" altLang="en-US" dirty="0"/>
              <a:t>什麼補全有用、什麼補全沒用、誰最受益、又在什麼情境下最有效？</a:t>
            </a:r>
          </a:p>
          <a:p>
            <a:r>
              <a:rPr lang="zh-TW" altLang="en-US" dirty="0"/>
              <a:t>這些問題一直都沒有很好的答案，因此今天就透過最新的實證研究來做分享。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AEFA6-D827-4D5D-86C2-61CF0414BCE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917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接下來是研究背景與動機。</a:t>
            </a:r>
          </a:p>
          <a:p>
            <a:r>
              <a:rPr lang="zh-TW" altLang="en-US" dirty="0"/>
              <a:t>主要是因為現在 </a:t>
            </a:r>
            <a:r>
              <a:rPr lang="en-US" altLang="zh-TW" dirty="0"/>
              <a:t>AI </a:t>
            </a:r>
            <a:r>
              <a:rPr lang="zh-TW" altLang="en-US" dirty="0"/>
              <a:t>技術發展非常快，</a:t>
            </a:r>
            <a:r>
              <a:rPr lang="en-US" altLang="zh-TW" dirty="0"/>
              <a:t>Copilot </a:t>
            </a:r>
            <a:r>
              <a:rPr lang="zh-TW" altLang="en-US" dirty="0"/>
              <a:t>基本上已經變成很多工程師寫程式時的日常工具。</a:t>
            </a:r>
            <a:br>
              <a:rPr lang="zh-TW" altLang="en-US" dirty="0"/>
            </a:br>
            <a:r>
              <a:rPr lang="zh-TW" altLang="en-US" dirty="0"/>
              <a:t>不管你是寫前端、後端、資料科學，甚至寫文件，都會看到它跳出來給你建議。</a:t>
            </a:r>
          </a:p>
          <a:p>
            <a:r>
              <a:rPr lang="zh-TW" altLang="en-US" dirty="0"/>
              <a:t>但主要的核心問題是</a:t>
            </a:r>
            <a:br>
              <a:rPr lang="en-US" altLang="zh-TW" dirty="0"/>
            </a:br>
            <a:r>
              <a:rPr lang="zh-TW" altLang="en-US" dirty="0"/>
              <a:t>「這些補全真的有提升生產力嗎？」</a:t>
            </a:r>
            <a:br>
              <a:rPr lang="zh-TW" altLang="en-US" dirty="0"/>
            </a:br>
            <a:r>
              <a:rPr lang="zh-TW" altLang="en-US" dirty="0"/>
              <a:t>「那我們覺得有這些補全讓我們的速度更快，這是心理作用，還是真的更快？」</a:t>
            </a:r>
          </a:p>
          <a:p>
            <a:r>
              <a:rPr lang="zh-TW" altLang="en-US" dirty="0"/>
              <a:t>其實過去的研究很少把「補全行為」跟「開發者自己感受到的生產力」做連結。</a:t>
            </a:r>
            <a:br>
              <a:rPr lang="zh-TW" altLang="en-US" dirty="0"/>
            </a:br>
            <a:r>
              <a:rPr lang="zh-TW" altLang="en-US" dirty="0"/>
              <a:t>因此這篇研究就想用大量 </a:t>
            </a:r>
            <a:r>
              <a:rPr lang="en-US" altLang="zh-TW" dirty="0"/>
              <a:t>IDE </a:t>
            </a:r>
            <a:r>
              <a:rPr lang="zh-TW" altLang="en-US" dirty="0"/>
              <a:t>數據加上問卷，來真正回答這件事情。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AEFA6-D827-4D5D-86C2-61CF0414BCE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7844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這篇研究主要想回答四個問題：</a:t>
            </a:r>
          </a:p>
          <a:p>
            <a:r>
              <a:rPr lang="zh-TW" altLang="en-US" dirty="0"/>
              <a:t>第一，什麼樣的補全會提升開發者的生產力？</a:t>
            </a:r>
            <a:br>
              <a:rPr lang="zh-TW" altLang="en-US" dirty="0"/>
            </a:br>
            <a:r>
              <a:rPr lang="zh-TW" altLang="en-US" dirty="0"/>
              <a:t>第二，補全越多是不是代表效率越高？</a:t>
            </a:r>
            <a:br>
              <a:rPr lang="zh-TW" altLang="en-US" dirty="0"/>
            </a:br>
            <a:r>
              <a:rPr lang="zh-TW" altLang="en-US" dirty="0"/>
              <a:t>第三，哪些族群最能受益？新手？老手？還是某些語言使用者？</a:t>
            </a:r>
            <a:br>
              <a:rPr lang="zh-TW" altLang="en-US" dirty="0"/>
            </a:br>
            <a:r>
              <a:rPr lang="zh-TW" altLang="en-US" dirty="0"/>
              <a:t>第四，補全效果會不會因為「使用情境」不同而改變，例如上班或下班？</a:t>
            </a:r>
          </a:p>
          <a:p>
            <a:r>
              <a:rPr lang="zh-TW" altLang="en-US" dirty="0"/>
              <a:t>這四個問題基本上涵蓋了 </a:t>
            </a:r>
            <a:r>
              <a:rPr lang="en-US" altLang="zh-TW" dirty="0"/>
              <a:t>Copilot </a:t>
            </a:r>
            <a:r>
              <a:rPr lang="zh-TW" altLang="en-US" dirty="0"/>
              <a:t>真實使用的不同面向。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AEFA6-D827-4D5D-86C2-61CF0414BCE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996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「這篇研究的研究方法主要分成兩個部分。</a:t>
            </a:r>
          </a:p>
          <a:p>
            <a:r>
              <a:rPr lang="zh-TW" altLang="en-US" dirty="0"/>
              <a:t>第一部分是 </a:t>
            </a:r>
            <a:r>
              <a:rPr lang="zh-TW" altLang="en-US" b="1" dirty="0"/>
              <a:t>從開發環境收集到的行為數據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也就是使用者在寫程式時，</a:t>
            </a:r>
            <a:r>
              <a:rPr lang="en-US" altLang="zh-TW" dirty="0"/>
              <a:t>Copilot </a:t>
            </a:r>
            <a:r>
              <a:rPr lang="zh-TW" altLang="en-US" dirty="0"/>
              <a:t>出現了哪些補全、哪些被顯示出來、哪些被使用者採用，以及哪些在後續的程式碼編輯中被保留下來。</a:t>
            </a:r>
            <a:br>
              <a:rPr lang="zh-TW" altLang="en-US" dirty="0"/>
            </a:br>
            <a:r>
              <a:rPr lang="zh-TW" altLang="en-US" dirty="0"/>
              <a:t>這一部分可以讓我們客觀地觀察使用者實際的開發行為。</a:t>
            </a:r>
          </a:p>
          <a:p>
            <a:r>
              <a:rPr lang="zh-TW" altLang="en-US" dirty="0"/>
              <a:t>第二部分是 </a:t>
            </a:r>
            <a:r>
              <a:rPr lang="zh-TW" altLang="en-US" b="1" dirty="0"/>
              <a:t>使用者問卷資料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問卷的設計是參考 </a:t>
            </a:r>
            <a:r>
              <a:rPr lang="en-US" altLang="zh-TW" dirty="0"/>
              <a:t>SPACE </a:t>
            </a:r>
            <a:r>
              <a:rPr lang="zh-TW" altLang="en-US" dirty="0"/>
              <a:t>框架，主要分成滿意度、效率、協作、效能等面向，讓我們能夠量化開發者主觀的使用感受。</a:t>
            </a:r>
            <a:endParaRPr lang="en-US" altLang="zh-TW" dirty="0"/>
          </a:p>
          <a:p>
            <a:r>
              <a:rPr lang="zh-TW" altLang="en-US" dirty="0"/>
              <a:t>用到的主要指標有 顯示率 接受率 持久率 以及 貢獻度。</a:t>
            </a:r>
          </a:p>
          <a:p>
            <a:r>
              <a:rPr lang="zh-TW" altLang="en-US" dirty="0"/>
              <a:t>在分析方法的部分，研究使用了相關分析、降維分析、回歸分析，同時也比較了不同時間週期的使用行為，去觀察開發者在長期使用 </a:t>
            </a:r>
            <a:r>
              <a:rPr lang="en-US" altLang="zh-TW" dirty="0"/>
              <a:t>Copilot </a:t>
            </a:r>
            <a:r>
              <a:rPr lang="zh-TW" altLang="en-US" dirty="0"/>
              <a:t>時是否有行為上的變化。」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AEFA6-D827-4D5D-86C2-61CF0414BCE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072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那這一張圖就是根據族群去區分的人數比例圖，整體的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AEFA6-D827-4D5D-86C2-61CF0414BCE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705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這張圖非常重要，他是程式碼補全流程階梯圖，它顯示出補全從「有機會補」到「被展示」到「被接受」的整個流程。</a:t>
            </a:r>
            <a:endParaRPr lang="en-US" altLang="zh-TW" dirty="0"/>
          </a:p>
          <a:p>
            <a:r>
              <a:rPr lang="zh-TW" altLang="en-US" dirty="0"/>
              <a:t>首先，補全機會這邊意思是說，只要你在編輯器打了一些程式，不一定要很長，那</a:t>
            </a:r>
            <a:r>
              <a:rPr lang="en-US" altLang="zh-TW" dirty="0"/>
              <a:t>AI</a:t>
            </a:r>
            <a:r>
              <a:rPr lang="zh-TW" altLang="en-US" dirty="0"/>
              <a:t>就會去觀察你的上下文邏輯，然後去試圖生成一個對你來說可能可用的補全，那每當他出現了一次這種想法，在這邊就算一次的補全機會，所以可以看到這張表格，幾乎每分鐘出現</a:t>
            </a:r>
            <a:r>
              <a:rPr lang="en-US" altLang="zh-TW" dirty="0"/>
              <a:t>2~3</a:t>
            </a:r>
            <a:r>
              <a:rPr lang="zh-TW" altLang="en-US" dirty="0"/>
              <a:t>個程式碼補全，由此可知</a:t>
            </a:r>
            <a:r>
              <a:rPr lang="en-US" altLang="zh-TW" dirty="0"/>
              <a:t>AI</a:t>
            </a:r>
            <a:r>
              <a:rPr lang="zh-TW" altLang="en-US" dirty="0"/>
              <a:t>是真的無時無刻在替你思考，但最終能不能真正顯示出來，還是需要當時的情境來判斷。</a:t>
            </a:r>
          </a:p>
          <a:p>
            <a:r>
              <a:rPr lang="zh-TW" altLang="en-US" dirty="0"/>
              <a:t>再往後看我們其實可以看到也不是顯示出來的補全都會被採用，平均下來，採用率大概是 </a:t>
            </a:r>
            <a:r>
              <a:rPr lang="en-US" altLang="zh-TW" dirty="0"/>
              <a:t>27%</a:t>
            </a:r>
            <a:r>
              <a:rPr lang="zh-TW" altLang="en-US" dirty="0"/>
              <a:t>，也就是說每四個補全只有一個會被真正用到。</a:t>
            </a:r>
            <a:br>
              <a:rPr lang="zh-TW" altLang="en-US" dirty="0"/>
            </a:br>
            <a:r>
              <a:rPr lang="zh-TW" altLang="en-US" dirty="0"/>
              <a:t>所以這邊可以觀察到的是補得多不代表有效，重點是「被採用的補全」。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AEFA6-D827-4D5D-86C2-61CF0414BCE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874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那這項研究設計了幾個非常關鍵的主要指標，紅色標示處是這篇論文的主軸：</a:t>
            </a:r>
          </a:p>
          <a:p>
            <a:r>
              <a:rPr lang="zh-TW" altLang="en-US" b="1" dirty="0"/>
              <a:t>第一個是顯示率</a:t>
            </a:r>
            <a:r>
              <a:rPr lang="zh-TW" altLang="en-US" dirty="0"/>
              <a:t>：</a:t>
            </a:r>
            <a:r>
              <a:rPr lang="en-US" altLang="zh-TW" dirty="0"/>
              <a:t>Copilot </a:t>
            </a:r>
            <a:r>
              <a:rPr lang="zh-TW" altLang="en-US" dirty="0"/>
              <a:t>顯示了多少補全</a:t>
            </a:r>
          </a:p>
          <a:p>
            <a:r>
              <a:rPr lang="zh-TW" altLang="en-US" b="1" dirty="0"/>
              <a:t>第二個是接受率</a:t>
            </a:r>
            <a:r>
              <a:rPr lang="zh-TW" altLang="en-US" dirty="0"/>
              <a:t>：使用者接受了多少</a:t>
            </a:r>
          </a:p>
          <a:p>
            <a:r>
              <a:rPr lang="zh-TW" altLang="en-US" b="1" dirty="0"/>
              <a:t>第三個是持久率</a:t>
            </a:r>
            <a:r>
              <a:rPr lang="zh-TW" altLang="en-US" dirty="0"/>
              <a:t>：接受後的補全，有多久留在程式碼裡沒有被刪掉或改掉</a:t>
            </a:r>
          </a:p>
          <a:p>
            <a:r>
              <a:rPr lang="zh-TW" altLang="en-US" dirty="0"/>
              <a:t>那持久率</a:t>
            </a:r>
            <a:r>
              <a:rPr lang="en-US" altLang="zh-TW" dirty="0"/>
              <a:t> </a:t>
            </a:r>
            <a:r>
              <a:rPr lang="zh-TW" altLang="en-US" dirty="0"/>
              <a:t>是一個很有趣的概念，如果使用者接受補全但馬上刪掉，代表那個補全其實沒有價值，</a:t>
            </a:r>
            <a:br>
              <a:rPr lang="zh-TW" altLang="en-US" dirty="0"/>
            </a:br>
            <a:r>
              <a:rPr lang="zh-TW" altLang="en-US" dirty="0"/>
              <a:t>但如果補全能存在 </a:t>
            </a:r>
            <a:r>
              <a:rPr lang="en-US" altLang="zh-TW" dirty="0"/>
              <a:t>30 </a:t>
            </a:r>
            <a:r>
              <a:rPr lang="zh-TW" altLang="en-US" dirty="0"/>
              <a:t>秒、甚至 </a:t>
            </a:r>
            <a:r>
              <a:rPr lang="en-US" altLang="zh-TW" dirty="0"/>
              <a:t>5 </a:t>
            </a:r>
            <a:r>
              <a:rPr lang="zh-TW" altLang="en-US" dirty="0"/>
              <a:t>分鐘或更久，代表確實減少了工作量。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AEFA6-D827-4D5D-86C2-61CF0414BCE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4507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這張相關矩陣主要想看的是：</a:t>
            </a:r>
            <a:br>
              <a:rPr lang="zh-TW" altLang="en-US" dirty="0"/>
            </a:br>
            <a:r>
              <a:rPr lang="en-US" altLang="zh-TW" b="1" dirty="0"/>
              <a:t>Copilot </a:t>
            </a:r>
            <a:r>
              <a:rPr lang="zh-TW" altLang="en-US" b="1" dirty="0"/>
              <a:t>的哪些行為指標，和開發者的生產力感受最有關聯。</a:t>
            </a:r>
            <a:endParaRPr lang="zh-TW" altLang="en-US" dirty="0"/>
          </a:p>
          <a:p>
            <a:r>
              <a:rPr lang="zh-TW" altLang="en-US" dirty="0"/>
              <a:t>從這張圖我們可以看到：</a:t>
            </a:r>
          </a:p>
          <a:p>
            <a:r>
              <a:rPr lang="zh-TW" altLang="en-US" dirty="0"/>
              <a:t>第一，</a:t>
            </a:r>
            <a:r>
              <a:rPr lang="en-US" altLang="zh-TW" b="1" dirty="0"/>
              <a:t>acceptance rate</a:t>
            </a:r>
            <a:r>
              <a:rPr lang="zh-TW" altLang="en-US" b="1" dirty="0"/>
              <a:t>（</a:t>
            </a:r>
            <a:r>
              <a:rPr lang="en-US" altLang="zh-TW" b="1" dirty="0" err="1"/>
              <a:t>accepted_per_shown</a:t>
            </a:r>
            <a:r>
              <a:rPr lang="zh-TW" altLang="en-US" b="1" dirty="0"/>
              <a:t>）跟大多數 </a:t>
            </a:r>
            <a:r>
              <a:rPr lang="en-US" altLang="zh-TW" b="1" dirty="0"/>
              <a:t>productivity </a:t>
            </a:r>
            <a:r>
              <a:rPr lang="zh-TW" altLang="en-US" b="1" dirty="0"/>
              <a:t>問項呈現最強正相關。</a:t>
            </a:r>
            <a:br>
              <a:rPr lang="zh-TW" altLang="en-US" dirty="0"/>
            </a:br>
            <a:r>
              <a:rPr lang="zh-TW" altLang="en-US" dirty="0"/>
              <a:t>包含完成任務速度、減少搜尋時間、降低挫折感等。</a:t>
            </a:r>
          </a:p>
          <a:p>
            <a:r>
              <a:rPr lang="zh-TW" altLang="en-US" dirty="0"/>
              <a:t>第二，</a:t>
            </a:r>
            <a:r>
              <a:rPr lang="en-US" altLang="zh-TW" b="1" dirty="0"/>
              <a:t>shown</a:t>
            </a:r>
            <a:r>
              <a:rPr lang="zh-TW" altLang="en-US" b="1" dirty="0"/>
              <a:t>（也就是補全被展示的次數）本身的相關度很低。</a:t>
            </a:r>
            <a:br>
              <a:rPr lang="zh-TW" altLang="en-US" dirty="0"/>
            </a:br>
            <a:r>
              <a:rPr lang="zh-TW" altLang="en-US" dirty="0"/>
              <a:t>表示補得多不等於有用，重點在於「補全有沒有被採用」。</a:t>
            </a:r>
          </a:p>
          <a:p>
            <a:r>
              <a:rPr lang="zh-TW" altLang="en-US" dirty="0"/>
              <a:t>第三，能看到 </a:t>
            </a:r>
            <a:r>
              <a:rPr lang="en-US" altLang="zh-TW" dirty="0"/>
              <a:t>productivity </a:t>
            </a:r>
            <a:r>
              <a:rPr lang="zh-TW" altLang="en-US" dirty="0"/>
              <a:t>問項彼此之間高度相關。</a:t>
            </a:r>
            <a:br>
              <a:rPr lang="zh-TW" altLang="en-US" dirty="0"/>
            </a:br>
            <a:r>
              <a:rPr lang="zh-TW" altLang="en-US" dirty="0"/>
              <a:t>這代表生產力其實是一個整體心流體驗，而不是單一行為可以解釋。</a:t>
            </a:r>
          </a:p>
          <a:p>
            <a:r>
              <a:rPr lang="zh-TW" altLang="en-US" dirty="0"/>
              <a:t>這一頁的核心 </a:t>
            </a:r>
            <a:r>
              <a:rPr lang="en-US" altLang="zh-TW" dirty="0"/>
              <a:t>takeaway </a:t>
            </a:r>
            <a:r>
              <a:rPr lang="zh-TW" altLang="en-US" dirty="0"/>
              <a:t>就是：</a:t>
            </a:r>
            <a:br>
              <a:rPr lang="zh-TW" altLang="en-US" dirty="0"/>
            </a:br>
            <a:r>
              <a:rPr lang="zh-TW" altLang="en-US" b="1" dirty="0"/>
              <a:t>補全的數量不是關鍵，補全被採用的比例才是最能反映生產力的指標。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AEFA6-D827-4D5D-86C2-61CF0414BCE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7171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透過 </a:t>
            </a:r>
            <a:r>
              <a:rPr lang="en-US" altLang="zh-TW" dirty="0"/>
              <a:t>PLS </a:t>
            </a:r>
            <a:r>
              <a:rPr lang="zh-TW" altLang="en-US" dirty="0"/>
              <a:t>的降維結果，我們可以更清楚看到哪些指標真正主導開發者的生產力。</a:t>
            </a:r>
          </a:p>
          <a:p>
            <a:r>
              <a:rPr lang="zh-TW" altLang="en-US" dirty="0"/>
              <a:t>結果非常明顯：</a:t>
            </a:r>
            <a:br>
              <a:rPr lang="zh-TW" altLang="en-US" dirty="0"/>
            </a:br>
            <a:r>
              <a:rPr lang="zh-TW" altLang="en-US" b="1" dirty="0"/>
              <a:t>接受率在第一主成分中權重最高。</a:t>
            </a:r>
            <a:endParaRPr lang="zh-TW" altLang="en-US" dirty="0"/>
          </a:p>
          <a:p>
            <a:r>
              <a:rPr lang="zh-TW" altLang="en-US" dirty="0"/>
              <a:t>其他指標像 </a:t>
            </a:r>
            <a:r>
              <a:rPr lang="en-US" altLang="zh-TW" dirty="0"/>
              <a:t>persistence </a:t>
            </a:r>
            <a:r>
              <a:rPr lang="zh-TW" altLang="en-US" dirty="0"/>
              <a:t>或補全的字數貢獻，都只是次要角色。</a:t>
            </a:r>
          </a:p>
          <a:p>
            <a:r>
              <a:rPr lang="zh-TW" altLang="en-US" dirty="0"/>
              <a:t>這再次驗證了研究想傳達的核心觀念</a:t>
            </a:r>
            <a:r>
              <a:rPr lang="en-US" altLang="zh-TW" dirty="0"/>
              <a:t>——</a:t>
            </a:r>
            <a:br>
              <a:rPr lang="en-US" altLang="zh-TW" dirty="0"/>
            </a:br>
            <a:r>
              <a:rPr lang="zh-TW" altLang="en-US" dirty="0"/>
              <a:t>「補全不是越多越好，而是越</a:t>
            </a:r>
            <a:r>
              <a:rPr lang="en-US" altLang="zh-TW" dirty="0"/>
              <a:t>『</a:t>
            </a:r>
            <a:r>
              <a:rPr lang="zh-TW" altLang="en-US" dirty="0"/>
              <a:t>可採用</a:t>
            </a:r>
            <a:r>
              <a:rPr lang="en-US" altLang="zh-TW" dirty="0"/>
              <a:t>』</a:t>
            </a:r>
            <a:r>
              <a:rPr lang="zh-TW" altLang="en-US" dirty="0"/>
              <a:t>越好。」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AEFA6-D827-4D5D-86C2-61CF0414BCE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521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不同族群的使用者，其實受益程度也不太一樣。</a:t>
            </a:r>
          </a:p>
          <a:p>
            <a:r>
              <a:rPr lang="zh-TW" altLang="en-US" dirty="0"/>
              <a:t>例如：</a:t>
            </a:r>
          </a:p>
          <a:p>
            <a:r>
              <a:rPr lang="zh-TW" altLang="en-US" b="1" dirty="0"/>
              <a:t>新手工程師</a:t>
            </a:r>
            <a:r>
              <a:rPr lang="zh-TW" altLang="en-US" dirty="0"/>
              <a:t>：補全接受率高、生產力提升感也高</a:t>
            </a:r>
          </a:p>
          <a:p>
            <a:r>
              <a:rPr lang="en-US" altLang="zh-TW" b="1" dirty="0"/>
              <a:t>3–10 </a:t>
            </a:r>
            <a:r>
              <a:rPr lang="zh-TW" altLang="en-US" b="1" dirty="0"/>
              <a:t>年經驗的中階工程師</a:t>
            </a:r>
            <a:r>
              <a:rPr lang="zh-TW" altLang="en-US" dirty="0"/>
              <a:t>：是最受益的一群，因為熟悉語法但又要大量寫樣板</a:t>
            </a:r>
          </a:p>
          <a:p>
            <a:r>
              <a:rPr lang="zh-TW" altLang="en-US" b="1" dirty="0"/>
              <a:t>高年資工程師</a:t>
            </a:r>
            <a:r>
              <a:rPr lang="zh-TW" altLang="en-US" dirty="0"/>
              <a:t>：效果相對比較弱</a:t>
            </a:r>
          </a:p>
          <a:p>
            <a:r>
              <a:rPr lang="zh-TW" altLang="en-US" b="1" dirty="0"/>
              <a:t>語言面向：</a:t>
            </a:r>
            <a:r>
              <a:rPr lang="en-US" altLang="zh-TW" b="1" dirty="0"/>
              <a:t>JS </a:t>
            </a:r>
            <a:r>
              <a:rPr lang="zh-TW" altLang="en-US" b="1" dirty="0"/>
              <a:t>和 </a:t>
            </a:r>
            <a:r>
              <a:rPr lang="en-US" altLang="zh-TW" b="1" dirty="0"/>
              <a:t>TS </a:t>
            </a:r>
            <a:r>
              <a:rPr lang="zh-TW" altLang="en-US" b="1" dirty="0"/>
              <a:t>使用者提升最多</a:t>
            </a:r>
            <a:br>
              <a:rPr lang="zh-TW" altLang="en-US" dirty="0"/>
            </a:br>
            <a:r>
              <a:rPr lang="zh-TW" altLang="en-US" dirty="0"/>
              <a:t>→ 可能因為前端開發樣板多，</a:t>
            </a:r>
            <a:r>
              <a:rPr lang="en-US" altLang="zh-TW" dirty="0"/>
              <a:t>Copilot </a:t>
            </a:r>
            <a:r>
              <a:rPr lang="zh-TW" altLang="en-US" dirty="0"/>
              <a:t>的補全容易命中需求</a:t>
            </a:r>
          </a:p>
          <a:p>
            <a:r>
              <a:rPr lang="zh-TW" altLang="en-US" dirty="0"/>
              <a:t>簡單來說，越常寫重複性語法的人，越容易從 </a:t>
            </a:r>
            <a:r>
              <a:rPr lang="en-US" altLang="zh-TW" dirty="0"/>
              <a:t>Copilot </a:t>
            </a:r>
            <a:r>
              <a:rPr lang="zh-TW" altLang="en-US" dirty="0"/>
              <a:t>中獲得幫助。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AEFA6-D827-4D5D-86C2-61CF0414BCE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585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Copilot </a:t>
            </a:r>
            <a:r>
              <a:rPr lang="zh-TW" altLang="en-US" dirty="0"/>
              <a:t>的補全行為也會受到「時間」影響。</a:t>
            </a:r>
          </a:p>
          <a:p>
            <a:r>
              <a:rPr lang="zh-TW" altLang="en-US" dirty="0"/>
              <a:t>研究發現：</a:t>
            </a:r>
          </a:p>
          <a:p>
            <a:r>
              <a:rPr lang="zh-TW" altLang="en-US" b="1" dirty="0"/>
              <a:t>週末的接受率最高</a:t>
            </a:r>
            <a:br>
              <a:rPr lang="zh-TW" altLang="en-US" dirty="0"/>
            </a:br>
            <a:r>
              <a:rPr lang="zh-TW" altLang="en-US" dirty="0"/>
              <a:t>可能因為寫 </a:t>
            </a:r>
            <a:r>
              <a:rPr lang="en-US" altLang="zh-TW" dirty="0"/>
              <a:t>side project</a:t>
            </a:r>
            <a:r>
              <a:rPr lang="zh-TW" altLang="en-US" dirty="0"/>
              <a:t>，比較放鬆、比較願意採用 </a:t>
            </a:r>
            <a:r>
              <a:rPr lang="en-US" altLang="zh-TW" dirty="0"/>
              <a:t>AI </a:t>
            </a:r>
            <a:r>
              <a:rPr lang="zh-TW" altLang="en-US" dirty="0"/>
              <a:t>建議</a:t>
            </a:r>
          </a:p>
          <a:p>
            <a:r>
              <a:rPr lang="zh-TW" altLang="en-US" b="1" dirty="0"/>
              <a:t>下班時間（下午四點後）也偏高</a:t>
            </a:r>
            <a:br>
              <a:rPr lang="zh-TW" altLang="en-US" dirty="0"/>
            </a:br>
            <a:r>
              <a:rPr lang="zh-TW" altLang="en-US" dirty="0"/>
              <a:t>開發者通常比較有彈性，接受補全的意願稍微增加</a:t>
            </a:r>
          </a:p>
          <a:p>
            <a:r>
              <a:rPr lang="zh-TW" altLang="en-US" b="1" dirty="0"/>
              <a:t>上班時間最低</a:t>
            </a:r>
            <a:br>
              <a:rPr lang="zh-TW" altLang="en-US" dirty="0"/>
            </a:br>
            <a:r>
              <a:rPr lang="zh-TW" altLang="en-US" dirty="0"/>
              <a:t>可能因為正式開發情境比較要求精準，開發者採用補全會更謹慎</a:t>
            </a:r>
          </a:p>
          <a:p>
            <a:r>
              <a:rPr lang="zh-TW" altLang="en-US" dirty="0"/>
              <a:t>這顯示 </a:t>
            </a:r>
            <a:r>
              <a:rPr lang="en-US" altLang="zh-TW" dirty="0"/>
              <a:t>Copilot </a:t>
            </a:r>
            <a:r>
              <a:rPr lang="zh-TW" altLang="en-US" dirty="0"/>
              <a:t>是一個受情境影響很大的工具，也讓我們了解工程師的行為模式。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AEFA6-D827-4D5D-86C2-61CF0414BCE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4290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基於上述分析，研究整理了三個重要討論點：</a:t>
            </a:r>
          </a:p>
          <a:p>
            <a:r>
              <a:rPr lang="zh-TW" altLang="en-US" dirty="0"/>
              <a:t>第一，</a:t>
            </a:r>
            <a:r>
              <a:rPr lang="zh-TW" altLang="en-US" b="1" dirty="0"/>
              <a:t>補全的品質比數量更重要。</a:t>
            </a:r>
            <a:br>
              <a:rPr lang="zh-TW" altLang="en-US" dirty="0"/>
            </a:br>
            <a:r>
              <a:rPr lang="zh-TW" altLang="en-US" dirty="0"/>
              <a:t>重點不在於 </a:t>
            </a:r>
            <a:r>
              <a:rPr lang="en-US" altLang="zh-TW" dirty="0"/>
              <a:t>Copilot </a:t>
            </a:r>
            <a:r>
              <a:rPr lang="zh-TW" altLang="en-US" dirty="0"/>
              <a:t>能補多少，而是使用者願意採用多少。</a:t>
            </a:r>
          </a:p>
          <a:p>
            <a:r>
              <a:rPr lang="zh-TW" altLang="en-US" dirty="0"/>
              <a:t>第二，</a:t>
            </a:r>
            <a:r>
              <a:rPr lang="zh-TW" altLang="en-US" b="1" dirty="0"/>
              <a:t>效果因人而異。</a:t>
            </a:r>
            <a:br>
              <a:rPr lang="zh-TW" altLang="en-US" dirty="0"/>
            </a:br>
            <a:r>
              <a:rPr lang="zh-TW" altLang="en-US" dirty="0"/>
              <a:t>尤其是新手與中階工程師，通常會感受到最大的生產力提升。</a:t>
            </a:r>
          </a:p>
          <a:p>
            <a:r>
              <a:rPr lang="zh-TW" altLang="en-US" dirty="0"/>
              <a:t>第三，</a:t>
            </a:r>
            <a:r>
              <a:rPr lang="zh-TW" altLang="en-US" b="1" dirty="0"/>
              <a:t>使用情境會影響效果。</a:t>
            </a:r>
            <a:br>
              <a:rPr lang="zh-TW" altLang="en-US" dirty="0"/>
            </a:br>
            <a:r>
              <a:rPr lang="zh-TW" altLang="en-US" dirty="0"/>
              <a:t>例如非工作時段，使用者比較願意接受補全，代表 </a:t>
            </a:r>
            <a:r>
              <a:rPr lang="en-US" altLang="zh-TW" dirty="0"/>
              <a:t>Copilot </a:t>
            </a:r>
            <a:r>
              <a:rPr lang="zh-TW" altLang="en-US" dirty="0"/>
              <a:t>的設計可考慮更動態、情境化的建議方式。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AEFA6-D827-4D5D-86C2-61CF0414BCE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0624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這篇研究的貢獻有三個：</a:t>
            </a:r>
          </a:p>
          <a:p>
            <a:r>
              <a:rPr lang="zh-TW" altLang="en-US" dirty="0"/>
              <a:t>第一，</a:t>
            </a:r>
            <a:r>
              <a:rPr lang="zh-TW" altLang="en-US" b="1" dirty="0"/>
              <a:t>首次建立「補全行為 → 生產力感受」的量化連結。</a:t>
            </a:r>
            <a:br>
              <a:rPr lang="zh-TW" altLang="en-US" dirty="0"/>
            </a:br>
            <a:r>
              <a:rPr lang="zh-TW" altLang="en-US" dirty="0"/>
              <a:t>這讓 </a:t>
            </a:r>
            <a:r>
              <a:rPr lang="en-US" altLang="zh-TW" dirty="0"/>
              <a:t>Copilot </a:t>
            </a:r>
            <a:r>
              <a:rPr lang="zh-TW" altLang="en-US" dirty="0"/>
              <a:t>的效益不再只是主觀感覺，而是可被量化。</a:t>
            </a:r>
          </a:p>
          <a:p>
            <a:r>
              <a:rPr lang="zh-TW" altLang="en-US" dirty="0"/>
              <a:t>第二，</a:t>
            </a:r>
            <a:r>
              <a:rPr lang="zh-TW" altLang="en-US" b="1" dirty="0"/>
              <a:t>提出一個新的補全設計觀點：可採用性比正確性更重要。</a:t>
            </a:r>
            <a:br>
              <a:rPr lang="zh-TW" altLang="en-US" dirty="0"/>
            </a:br>
            <a:r>
              <a:rPr lang="zh-TW" altLang="en-US" dirty="0"/>
              <a:t>這對未來 </a:t>
            </a:r>
            <a:r>
              <a:rPr lang="en-US" altLang="zh-TW" dirty="0"/>
              <a:t>AI </a:t>
            </a:r>
            <a:r>
              <a:rPr lang="zh-TW" altLang="en-US" dirty="0"/>
              <a:t>開發工具的設計非常有意義。</a:t>
            </a:r>
          </a:p>
          <a:p>
            <a:r>
              <a:rPr lang="zh-TW" altLang="en-US" dirty="0"/>
              <a:t>第三，</a:t>
            </a:r>
            <a:r>
              <a:rPr lang="zh-TW" altLang="en-US" b="1" dirty="0"/>
              <a:t>揭示族群、語言與時間的差異。</a:t>
            </a:r>
            <a:br>
              <a:rPr lang="zh-TW" altLang="en-US" dirty="0"/>
            </a:br>
            <a:r>
              <a:rPr lang="zh-TW" altLang="en-US" dirty="0"/>
              <a:t>這讓我們知道補全工具應該更個人化，不能所有使用者一視同仁。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AEFA6-D827-4D5D-86C2-61CF0414BCE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705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最後做個總結：</a:t>
            </a:r>
          </a:p>
          <a:p>
            <a:r>
              <a:rPr lang="zh-TW" altLang="en-US" dirty="0"/>
              <a:t>整體來說，</a:t>
            </a:r>
            <a:r>
              <a:rPr lang="en-US" altLang="zh-TW" dirty="0"/>
              <a:t>Copilot </a:t>
            </a:r>
            <a:r>
              <a:rPr lang="zh-TW" altLang="en-US" dirty="0"/>
              <a:t>能為開發者帶來「小但穩定」的生產力提升。</a:t>
            </a:r>
            <a:br>
              <a:rPr lang="zh-TW" altLang="en-US" dirty="0"/>
            </a:br>
            <a:r>
              <a:rPr lang="zh-TW" altLang="en-US" dirty="0"/>
              <a:t>真正有價值的不是補全的數量，而是那些能被接受、能減少思考負擔的補全。</a:t>
            </a:r>
          </a:p>
          <a:p>
            <a:r>
              <a:rPr lang="zh-TW" altLang="en-US" dirty="0"/>
              <a:t>研究也發現，中階工程師、</a:t>
            </a:r>
            <a:r>
              <a:rPr lang="en-US" altLang="zh-TW" dirty="0"/>
              <a:t>JS/TS </a:t>
            </a:r>
            <a:r>
              <a:rPr lang="zh-TW" altLang="en-US" dirty="0"/>
              <a:t>使用者是最明顯的受益族群。</a:t>
            </a:r>
            <a:br>
              <a:rPr lang="zh-TW" altLang="en-US" dirty="0"/>
            </a:br>
            <a:r>
              <a:rPr lang="zh-TW" altLang="en-US" dirty="0"/>
              <a:t>而補全的效果會隨使用情境而改變，這也是未來工具開發時值得考慮的方向。</a:t>
            </a:r>
          </a:p>
          <a:p>
            <a:r>
              <a:rPr lang="zh-TW" altLang="en-US" dirty="0"/>
              <a:t>以上就是我的報告，謝謝大家。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AEFA6-D827-4D5D-86C2-61CF0414BCE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251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0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82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324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52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64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4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73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881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448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77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94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2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345" y="839233"/>
            <a:ext cx="7654264" cy="1143000"/>
          </a:xfrm>
        </p:spPr>
        <p:txBody>
          <a:bodyPr>
            <a:normAutofit/>
          </a:bodyPr>
          <a:lstStyle/>
          <a:p>
            <a:r>
              <a:rPr lang="en-US" altLang="zh-TW" dirty="0"/>
              <a:t>Measuring GitHub Copilot’s Impact on Productivity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677" y="3197338"/>
            <a:ext cx="8229600" cy="2160188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Copilot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補全行為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生產力研究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報告者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陳冠閔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日期：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343" y="1024523"/>
            <a:ext cx="4591831" cy="766177"/>
          </a:xfrm>
        </p:spPr>
        <p:txBody>
          <a:bodyPr>
            <a:normAutofit/>
          </a:bodyPr>
          <a:lstStyle/>
          <a:p>
            <a:r>
              <a:rPr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研究</a:t>
            </a:r>
            <a:r>
              <a:rPr lang="zh-TW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背景與</a:t>
            </a:r>
            <a:r>
              <a:rPr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動機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592" y="2145617"/>
            <a:ext cx="7454815" cy="4088718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隨著AI技術的快速發展，像是GitHub Copilot這類AI輔助程式設計工具逐漸成為開發者的常用幫手。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雖然有人認為這些工具能提升開發效率，但實證研究較少。本報告旨在了解AI工具（特別是Copilot）對開發者 Productivity（生產力）的實際影響。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985" y="945669"/>
            <a:ext cx="2735748" cy="772667"/>
          </a:xfrm>
        </p:spPr>
        <p:txBody>
          <a:bodyPr>
            <a:normAutofit/>
          </a:bodyPr>
          <a:lstStyle/>
          <a:p>
            <a:r>
              <a:rPr lang="zh-TW" alt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研究問題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053" y="2138715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1. </a:t>
            </a:r>
            <a:r>
              <a:rPr lang="zh-TW" altLang="en-US" sz="2400" dirty="0"/>
              <a:t>哪些補全提升生產力？</a:t>
            </a:r>
          </a:p>
          <a:p>
            <a:r>
              <a:rPr lang="en-US" altLang="zh-TW" sz="2400" dirty="0"/>
              <a:t>2. </a:t>
            </a:r>
            <a:r>
              <a:rPr lang="zh-TW" altLang="en-US" sz="2400" dirty="0"/>
              <a:t>補全數量是否有用？</a:t>
            </a:r>
          </a:p>
          <a:p>
            <a:r>
              <a:rPr lang="en-US" altLang="zh-TW" sz="2400" dirty="0"/>
              <a:t>3. </a:t>
            </a:r>
            <a:r>
              <a:rPr lang="zh-TW" altLang="en-US" sz="2400" dirty="0"/>
              <a:t>哪些族群受益？</a:t>
            </a:r>
          </a:p>
          <a:p>
            <a:r>
              <a:rPr lang="en-US" altLang="zh-TW" sz="2400" dirty="0"/>
              <a:t>4. </a:t>
            </a:r>
            <a:r>
              <a:rPr lang="zh-TW" altLang="en-US" sz="2400" dirty="0"/>
              <a:t>情境是否影響接受程度？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 err="1"/>
              <a:t>研究方法概述</a:t>
            </a:r>
            <a:endParaRPr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IDE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數據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個人體驗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問卷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指標：shown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/accepted/persistence/contribution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分析：相關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降維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回歸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時間週期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EC3D9-F33B-9FAC-04C0-9D2CA59AC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5222A-08E5-0CE5-D12E-7BE77D6D5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201" y="138871"/>
            <a:ext cx="1928526" cy="566119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研究對象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31B0F42-078C-19F8-066D-C71A369E6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029" y="802951"/>
            <a:ext cx="6924871" cy="549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74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3938" y="9996"/>
            <a:ext cx="3863187" cy="566119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程式碼補全流程階梯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A211C53-0830-699B-4257-53DF14DBF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519" y="569978"/>
            <a:ext cx="6904027" cy="59290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9510" y="391239"/>
            <a:ext cx="1884980" cy="578393"/>
          </a:xfrm>
        </p:spPr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行為指標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7A0D4AE-77FD-E0B2-584E-E6D0E1EDC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20" y="1105798"/>
            <a:ext cx="7427559" cy="5238224"/>
          </a:xfrm>
          <a:prstGeom prst="rect">
            <a:avLst/>
          </a:prstGeom>
        </p:spPr>
      </p:pic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BF89F4D8-819F-31F7-8763-C80A92C07740}"/>
              </a:ext>
            </a:extLst>
          </p:cNvPr>
          <p:cNvCxnSpPr>
            <a:cxnSpLocks/>
          </p:cNvCxnSpPr>
          <p:nvPr/>
        </p:nvCxnSpPr>
        <p:spPr>
          <a:xfrm>
            <a:off x="1159877" y="2190878"/>
            <a:ext cx="95735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08230EA2-681D-9989-F317-8089A0D79E2B}"/>
              </a:ext>
            </a:extLst>
          </p:cNvPr>
          <p:cNvCxnSpPr>
            <a:cxnSpLocks/>
          </p:cNvCxnSpPr>
          <p:nvPr/>
        </p:nvCxnSpPr>
        <p:spPr>
          <a:xfrm>
            <a:off x="1116919" y="2668535"/>
            <a:ext cx="118442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6D253946-69A8-A5CC-0F07-6FAA701419F5}"/>
              </a:ext>
            </a:extLst>
          </p:cNvPr>
          <p:cNvCxnSpPr>
            <a:cxnSpLocks/>
          </p:cNvCxnSpPr>
          <p:nvPr/>
        </p:nvCxnSpPr>
        <p:spPr>
          <a:xfrm>
            <a:off x="1159877" y="4477901"/>
            <a:ext cx="129488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C1A6668-966E-5035-78F7-3CBA3B76C3FB}"/>
              </a:ext>
            </a:extLst>
          </p:cNvPr>
          <p:cNvCxnSpPr>
            <a:cxnSpLocks/>
          </p:cNvCxnSpPr>
          <p:nvPr/>
        </p:nvCxnSpPr>
        <p:spPr>
          <a:xfrm>
            <a:off x="1159877" y="4759177"/>
            <a:ext cx="157104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8F89E-D7C0-CC57-2557-02624C7E4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35372-3B91-0780-2D14-B5FC72DE3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200" y="34376"/>
            <a:ext cx="1829600" cy="558460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相關矩陣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8DBA637-9A99-A123-79AA-3E3A90F3B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61" y="558460"/>
            <a:ext cx="6879478" cy="601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297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6289" y="65328"/>
            <a:ext cx="2699857" cy="521638"/>
          </a:xfrm>
        </p:spPr>
        <p:txBody>
          <a:bodyPr>
            <a:noAutofit/>
          </a:bodyPr>
          <a:lstStyle/>
          <a:p>
            <a:r>
              <a:rPr lang="zh-TW" altLang="en-US" dirty="0"/>
              <a:t>指標降維結果</a:t>
            </a:r>
            <a:endParaRPr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0135E3F-FFF6-9A82-D571-73E423E5C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396" y="593102"/>
            <a:ext cx="6707644" cy="61126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4680" y="127352"/>
            <a:ext cx="1905512" cy="529298"/>
          </a:xfrm>
        </p:spPr>
        <p:txBody>
          <a:bodyPr>
            <a:noAutofit/>
          </a:bodyPr>
          <a:lstStyle/>
          <a:p>
            <a:r>
              <a:rPr dirty="0" err="1"/>
              <a:t>族群差異</a:t>
            </a:r>
            <a:endParaRPr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DA32723-CFF4-7561-56FB-25F264BEA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148" y="612935"/>
            <a:ext cx="6746577" cy="59290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5269" y="122691"/>
            <a:ext cx="1813459" cy="537387"/>
          </a:xfrm>
        </p:spPr>
        <p:txBody>
          <a:bodyPr/>
          <a:lstStyle/>
          <a:p>
            <a:r>
              <a:rPr dirty="0" err="1"/>
              <a:t>時間週期</a:t>
            </a:r>
            <a:endParaRPr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664CBD2-A970-6255-E7C8-DB013FDE3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39" y="657416"/>
            <a:ext cx="6938521" cy="60199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7426B-B51B-F87F-B0BE-DA7830BF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1EB0A-8543-D81B-2521-0167CEB5B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討論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1343C-D970-D6D2-F58B-DCCCEC519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品質比數量重要</a:t>
            </a:r>
          </a:p>
          <a:p>
            <a:r>
              <a:t>2. 效果因人而異</a:t>
            </a:r>
          </a:p>
          <a:p>
            <a:r>
              <a:t>3. 情境影響接受度</a:t>
            </a:r>
          </a:p>
        </p:txBody>
      </p:sp>
    </p:spTree>
    <p:extLst>
      <p:ext uri="{BB962C8B-B14F-4D97-AF65-F5344CB8AC3E}">
        <p14:creationId xmlns:p14="http://schemas.microsoft.com/office/powerpoint/2010/main" val="2644910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研究貢獻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A114CE3-6F2D-1629-9B1B-F74D7CC63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907" y="2037014"/>
            <a:ext cx="6938509" cy="3450613"/>
          </a:xfrm>
        </p:spPr>
        <p:txBody>
          <a:bodyPr/>
          <a:lstStyle/>
          <a:p>
            <a:r>
              <a:rPr lang="zh-TW" altLang="en-US" b="1" dirty="0"/>
              <a:t>首次明確量化「使用行為」與「生產力感受」之間的連結。</a:t>
            </a:r>
            <a:br>
              <a:rPr lang="zh-TW" altLang="en-US" dirty="0"/>
            </a:br>
            <a:r>
              <a:rPr lang="zh-TW" altLang="en-US" dirty="0"/>
              <a:t>→ </a:t>
            </a:r>
            <a:r>
              <a:rPr lang="en-US" altLang="zh-TW" dirty="0"/>
              <a:t>Acceptance rate </a:t>
            </a:r>
            <a:r>
              <a:rPr lang="zh-TW" altLang="en-US" dirty="0"/>
              <a:t>能預測 </a:t>
            </a:r>
            <a:r>
              <a:rPr lang="en-US" altLang="zh-TW" dirty="0"/>
              <a:t>perceived productivity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b="1" dirty="0"/>
              <a:t>證明補全的「品質」比「數量」更重要。</a:t>
            </a:r>
            <a:br>
              <a:rPr lang="zh-TW" altLang="en-US" dirty="0"/>
            </a:br>
            <a:r>
              <a:rPr lang="zh-TW" altLang="en-US" dirty="0"/>
              <a:t>→ </a:t>
            </a:r>
            <a:r>
              <a:rPr lang="en-US" altLang="zh-TW" dirty="0"/>
              <a:t>Persistence </a:t>
            </a:r>
            <a:r>
              <a:rPr lang="zh-TW" altLang="en-US" dirty="0"/>
              <a:t>不如 </a:t>
            </a:r>
            <a:r>
              <a:rPr lang="en-US" altLang="zh-TW" dirty="0"/>
              <a:t>acceptance rate </a:t>
            </a:r>
            <a:r>
              <a:rPr lang="zh-TW" altLang="en-US" dirty="0"/>
              <a:t>有預測力。</a:t>
            </a:r>
            <a:endParaRPr lang="en-US" altLang="zh-TW" dirty="0"/>
          </a:p>
          <a:p>
            <a:r>
              <a:rPr lang="zh-TW" altLang="en-US" b="1" dirty="0"/>
              <a:t>揭露不同族群、不同時間的使用差異。</a:t>
            </a:r>
            <a:br>
              <a:rPr lang="zh-TW" altLang="en-US" dirty="0"/>
            </a:br>
            <a:r>
              <a:rPr lang="zh-TW" altLang="en-US" dirty="0"/>
              <a:t>→ 新手效益大、</a:t>
            </a:r>
            <a:r>
              <a:rPr lang="en-US" altLang="zh-TW" dirty="0"/>
              <a:t>JS/TS </a:t>
            </a:r>
            <a:r>
              <a:rPr lang="zh-TW" altLang="en-US" dirty="0"/>
              <a:t>使用者較高、晚上與週末 </a:t>
            </a:r>
            <a:r>
              <a:rPr lang="en-US" altLang="zh-TW" dirty="0"/>
              <a:t>acceptance rate </a:t>
            </a:r>
            <a:r>
              <a:rPr lang="zh-TW" altLang="en-US" dirty="0"/>
              <a:t>上升。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結論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 </a:t>
            </a:r>
            <a:r>
              <a:rPr dirty="0" err="1"/>
              <a:t>補全提升屬小而穩定</a:t>
            </a:r>
            <a:endParaRPr dirty="0"/>
          </a:p>
          <a:p>
            <a:r>
              <a:rPr dirty="0" err="1"/>
              <a:t>被接受並保留的補全最有價值</a:t>
            </a:r>
            <a:endParaRPr dirty="0"/>
          </a:p>
          <a:p>
            <a:r>
              <a:rPr dirty="0" err="1"/>
              <a:t>中階工程師與</a:t>
            </a:r>
            <a:r>
              <a:rPr dirty="0"/>
              <a:t> JS </a:t>
            </a:r>
            <a:r>
              <a:rPr dirty="0" err="1"/>
              <a:t>使用者最受益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圖庫">
  <a:themeElements>
    <a:clrScheme name="圖庫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圖庫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庫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TM10001114[[fn=圖庫]]</Template>
  <TotalTime>2492</TotalTime>
  <Words>1927</Words>
  <Application>Microsoft Office PowerPoint</Application>
  <PresentationFormat>如螢幕大小 (4:3)</PresentationFormat>
  <Paragraphs>111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Aptos</vt:lpstr>
      <vt:lpstr>Arial</vt:lpstr>
      <vt:lpstr>Gill Sans MT</vt:lpstr>
      <vt:lpstr>Times New Roman</vt:lpstr>
      <vt:lpstr>圖庫</vt:lpstr>
      <vt:lpstr>Measuring GitHub Copilot’s Impact on Productivity</vt:lpstr>
      <vt:lpstr>研究背景與動機</vt:lpstr>
      <vt:lpstr>研究問題</vt:lpstr>
      <vt:lpstr>研究方法概述</vt:lpstr>
      <vt:lpstr>研究對象</vt:lpstr>
      <vt:lpstr>程式碼補全流程階梯</vt:lpstr>
      <vt:lpstr>行為指標</vt:lpstr>
      <vt:lpstr>相關矩陣</vt:lpstr>
      <vt:lpstr>指標降維結果</vt:lpstr>
      <vt:lpstr>族群差異</vt:lpstr>
      <vt:lpstr>時間週期</vt:lpstr>
      <vt:lpstr>討論</vt:lpstr>
      <vt:lpstr>研究貢獻</vt:lpstr>
      <vt:lpstr>結論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陳冠閔</cp:lastModifiedBy>
  <cp:revision>16</cp:revision>
  <dcterms:created xsi:type="dcterms:W3CDTF">2013-01-27T09:14:16Z</dcterms:created>
  <dcterms:modified xsi:type="dcterms:W3CDTF">2025-12-08T14:07:52Z</dcterms:modified>
  <cp:category/>
</cp:coreProperties>
</file>