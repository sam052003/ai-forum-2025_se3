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316" r:id="rId3"/>
    <p:sldId id="317" r:id="rId4"/>
    <p:sldId id="318" r:id="rId5"/>
    <p:sldId id="321" r:id="rId6"/>
    <p:sldId id="319" r:id="rId7"/>
    <p:sldId id="320" r:id="rId8"/>
    <p:sldId id="322" r:id="rId9"/>
    <p:sldId id="323" r:id="rId10"/>
    <p:sldId id="324" r:id="rId11"/>
    <p:sldId id="326" r:id="rId12"/>
    <p:sldId id="327" r:id="rId13"/>
    <p:sldId id="328" r:id="rId14"/>
    <p:sldId id="329" r:id="rId15"/>
    <p:sldId id="330" r:id="rId16"/>
    <p:sldId id="331" r:id="rId17"/>
    <p:sldId id="33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99F8B"/>
    <a:srgbClr val="0094DA"/>
    <a:srgbClr val="273E6F"/>
    <a:srgbClr val="F38200"/>
    <a:srgbClr val="B2252F"/>
    <a:srgbClr val="EEB713"/>
    <a:srgbClr val="7741A5"/>
    <a:srgbClr val="F3F515"/>
    <a:srgbClr val="2B7F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2808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652195-B128-45DF-A605-FCB5FFC530E6}" type="doc">
      <dgm:prSet loTypeId="urn:microsoft.com/office/officeart/2005/8/layout/cycle8" loCatId="cycle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zh-TW" altLang="en-US"/>
        </a:p>
      </dgm:t>
    </dgm:pt>
    <dgm:pt modelId="{94E15207-24DE-4708-8B3C-583E5994FE3F}">
      <dgm:prSet custT="1"/>
      <dgm:spPr/>
      <dgm:t>
        <a:bodyPr/>
        <a:lstStyle/>
        <a:p>
          <a:r>
            <a:rPr lang="zh-TW" altLang="en-US" sz="1600" b="1" dirty="0"/>
            <a:t>定義目標</a:t>
          </a:r>
          <a:r>
            <a:rPr lang="en-US" altLang="en-US" sz="1600" b="1" dirty="0"/>
            <a:t>/</a:t>
          </a:r>
          <a:r>
            <a:rPr lang="zh-TW" altLang="en-US" sz="1600" b="1" dirty="0"/>
            <a:t>限制</a:t>
          </a:r>
          <a:r>
            <a:rPr lang="en-US" altLang="en-US" sz="1600" b="1" dirty="0"/>
            <a:t>/</a:t>
          </a:r>
          <a:r>
            <a:rPr lang="zh-TW" altLang="en-US" sz="1600" b="1" dirty="0"/>
            <a:t>驗收條件</a:t>
          </a:r>
          <a:r>
            <a:rPr lang="zh-TW" altLang="en-US" sz="1600" dirty="0"/>
            <a:t>（含例外情境）</a:t>
          </a:r>
        </a:p>
      </dgm:t>
    </dgm:pt>
    <dgm:pt modelId="{2229A841-A830-42F3-B18E-0302BABA6992}" type="parTrans" cxnId="{EA25E0E2-B884-4823-BA81-42A37EBBBCFC}">
      <dgm:prSet/>
      <dgm:spPr/>
      <dgm:t>
        <a:bodyPr/>
        <a:lstStyle/>
        <a:p>
          <a:endParaRPr lang="zh-TW" altLang="en-US"/>
        </a:p>
      </dgm:t>
    </dgm:pt>
    <dgm:pt modelId="{2E7FB947-E18A-49BF-AAD6-96B79313AD96}" type="sibTrans" cxnId="{EA25E0E2-B884-4823-BA81-42A37EBBBCFC}">
      <dgm:prSet/>
      <dgm:spPr/>
      <dgm:t>
        <a:bodyPr/>
        <a:lstStyle/>
        <a:p>
          <a:endParaRPr lang="zh-TW" altLang="en-US"/>
        </a:p>
      </dgm:t>
    </dgm:pt>
    <dgm:pt modelId="{404DE81C-1B09-4CD8-B9F4-4327AD4FB9D8}">
      <dgm:prSet custT="1"/>
      <dgm:spPr/>
      <dgm:t>
        <a:bodyPr/>
        <a:lstStyle/>
        <a:p>
          <a:r>
            <a:rPr lang="en-US" altLang="en-US" sz="1600" b="1" dirty="0"/>
            <a:t>AI </a:t>
          </a:r>
          <a:r>
            <a:rPr lang="zh-TW" altLang="en-US" sz="1600" b="1" dirty="0"/>
            <a:t>產出候選</a:t>
          </a:r>
          <a:r>
            <a:rPr lang="zh-TW" altLang="en-US" sz="1600" dirty="0"/>
            <a:t>（程式</a:t>
          </a:r>
          <a:r>
            <a:rPr lang="en-US" altLang="en-US" sz="1600" dirty="0"/>
            <a:t>/</a:t>
          </a:r>
          <a:r>
            <a:rPr lang="zh-TW" altLang="en-US" sz="1600" dirty="0"/>
            <a:t>測試</a:t>
          </a:r>
          <a:r>
            <a:rPr lang="en-US" altLang="en-US" sz="1600" dirty="0"/>
            <a:t>/</a:t>
          </a:r>
          <a:r>
            <a:rPr lang="zh-TW" altLang="en-US" sz="1600" dirty="0"/>
            <a:t>文件）</a:t>
          </a:r>
        </a:p>
      </dgm:t>
    </dgm:pt>
    <dgm:pt modelId="{35DAC82B-9E13-4FB8-ACCC-B0943BD3F048}" type="parTrans" cxnId="{DB02FED2-AF33-40AB-9FC6-8093104D10C2}">
      <dgm:prSet/>
      <dgm:spPr/>
      <dgm:t>
        <a:bodyPr/>
        <a:lstStyle/>
        <a:p>
          <a:endParaRPr lang="zh-TW" altLang="en-US"/>
        </a:p>
      </dgm:t>
    </dgm:pt>
    <dgm:pt modelId="{D7DFF9DC-DDEC-4465-AE61-0A2EF4A2BAB0}" type="sibTrans" cxnId="{DB02FED2-AF33-40AB-9FC6-8093104D10C2}">
      <dgm:prSet/>
      <dgm:spPr/>
      <dgm:t>
        <a:bodyPr/>
        <a:lstStyle/>
        <a:p>
          <a:endParaRPr lang="zh-TW" altLang="en-US"/>
        </a:p>
      </dgm:t>
    </dgm:pt>
    <dgm:pt modelId="{E296AEC2-3B5E-4602-9F0A-54A69E50D5F2}">
      <dgm:prSet custT="1"/>
      <dgm:spPr/>
      <dgm:t>
        <a:bodyPr/>
        <a:lstStyle/>
        <a:p>
          <a:r>
            <a:rPr lang="zh-TW" altLang="en-US" sz="1600" b="1" dirty="0"/>
            <a:t>人審查、修正、整合</a:t>
          </a:r>
          <a:r>
            <a:rPr lang="zh-TW" altLang="en-US" sz="1600" dirty="0"/>
            <a:t>（審查＋測試把關）</a:t>
          </a:r>
        </a:p>
      </dgm:t>
    </dgm:pt>
    <dgm:pt modelId="{003C7269-58B7-4213-9FC0-E36F3F074842}" type="parTrans" cxnId="{8D84C51B-61FB-4B7A-9E9E-84A7C7CE7292}">
      <dgm:prSet/>
      <dgm:spPr/>
      <dgm:t>
        <a:bodyPr/>
        <a:lstStyle/>
        <a:p>
          <a:endParaRPr lang="zh-TW" altLang="en-US"/>
        </a:p>
      </dgm:t>
    </dgm:pt>
    <dgm:pt modelId="{2CE3C00F-0D40-4059-A4C1-0CFA77D32BD7}" type="sibTrans" cxnId="{8D84C51B-61FB-4B7A-9E9E-84A7C7CE7292}">
      <dgm:prSet/>
      <dgm:spPr/>
      <dgm:t>
        <a:bodyPr/>
        <a:lstStyle/>
        <a:p>
          <a:endParaRPr lang="zh-TW" altLang="en-US"/>
        </a:p>
      </dgm:t>
    </dgm:pt>
    <dgm:pt modelId="{BCC5EE7C-0F87-4CA9-B9FD-784AFEA21CA8}">
      <dgm:prSet custT="1"/>
      <dgm:spPr/>
      <dgm:t>
        <a:bodyPr/>
        <a:lstStyle/>
        <a:p>
          <a:r>
            <a:rPr lang="zh-TW" altLang="en-US" sz="1600" b="1" dirty="0"/>
            <a:t>回饋再迭代</a:t>
          </a:r>
          <a:r>
            <a:rPr lang="zh-TW" altLang="en-US" sz="1600" dirty="0"/>
            <a:t>（補 </a:t>
          </a:r>
          <a:r>
            <a:rPr lang="en-US" altLang="en-US" sz="1600" dirty="0"/>
            <a:t>edge cases</a:t>
          </a:r>
          <a:r>
            <a:rPr lang="zh-TW" altLang="en-US" sz="1600" dirty="0"/>
            <a:t>、補資安、補文件）</a:t>
          </a:r>
        </a:p>
      </dgm:t>
    </dgm:pt>
    <dgm:pt modelId="{5ED4BF53-6690-47E9-A755-50492740C3D0}" type="parTrans" cxnId="{C487E658-E1BF-4B60-8954-8931197C65FC}">
      <dgm:prSet/>
      <dgm:spPr/>
      <dgm:t>
        <a:bodyPr/>
        <a:lstStyle/>
        <a:p>
          <a:endParaRPr lang="zh-TW" altLang="en-US"/>
        </a:p>
      </dgm:t>
    </dgm:pt>
    <dgm:pt modelId="{C085A103-199E-4B72-AD89-543F3DD4CA72}" type="sibTrans" cxnId="{C487E658-E1BF-4B60-8954-8931197C65FC}">
      <dgm:prSet/>
      <dgm:spPr/>
      <dgm:t>
        <a:bodyPr/>
        <a:lstStyle/>
        <a:p>
          <a:endParaRPr lang="zh-TW" altLang="en-US"/>
        </a:p>
      </dgm:t>
    </dgm:pt>
    <dgm:pt modelId="{7264260B-9017-40A9-BF22-13A63D0781A2}" type="pres">
      <dgm:prSet presAssocID="{91652195-B128-45DF-A605-FCB5FFC530E6}" presName="compositeShape" presStyleCnt="0">
        <dgm:presLayoutVars>
          <dgm:chMax val="7"/>
          <dgm:dir/>
          <dgm:resizeHandles val="exact"/>
        </dgm:presLayoutVars>
      </dgm:prSet>
      <dgm:spPr/>
    </dgm:pt>
    <dgm:pt modelId="{70FDE4DD-80F7-465E-937B-1BEB9B37B78D}" type="pres">
      <dgm:prSet presAssocID="{91652195-B128-45DF-A605-FCB5FFC530E6}" presName="wedge1" presStyleLbl="node1" presStyleIdx="0" presStyleCnt="4"/>
      <dgm:spPr/>
    </dgm:pt>
    <dgm:pt modelId="{AB1224CD-0A7A-48DF-B038-A694C1C48BDF}" type="pres">
      <dgm:prSet presAssocID="{91652195-B128-45DF-A605-FCB5FFC530E6}" presName="dummy1a" presStyleCnt="0"/>
      <dgm:spPr/>
    </dgm:pt>
    <dgm:pt modelId="{75C9EDFF-2535-4D68-8EA5-7B7A578C0954}" type="pres">
      <dgm:prSet presAssocID="{91652195-B128-45DF-A605-FCB5FFC530E6}" presName="dummy1b" presStyleCnt="0"/>
      <dgm:spPr/>
    </dgm:pt>
    <dgm:pt modelId="{62ADFEA5-4B5D-444C-B918-D965A615D5D0}" type="pres">
      <dgm:prSet presAssocID="{91652195-B128-45DF-A605-FCB5FFC530E6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6C88139-55F6-433B-ADEC-B3ED95577CBB}" type="pres">
      <dgm:prSet presAssocID="{91652195-B128-45DF-A605-FCB5FFC530E6}" presName="wedge2" presStyleLbl="node1" presStyleIdx="1" presStyleCnt="4"/>
      <dgm:spPr/>
    </dgm:pt>
    <dgm:pt modelId="{026723C1-3C2E-4242-8AB5-E9BC6AE4E999}" type="pres">
      <dgm:prSet presAssocID="{91652195-B128-45DF-A605-FCB5FFC530E6}" presName="dummy2a" presStyleCnt="0"/>
      <dgm:spPr/>
    </dgm:pt>
    <dgm:pt modelId="{3804B80F-F98A-40FC-88BB-6DC5AD26488F}" type="pres">
      <dgm:prSet presAssocID="{91652195-B128-45DF-A605-FCB5FFC530E6}" presName="dummy2b" presStyleCnt="0"/>
      <dgm:spPr/>
    </dgm:pt>
    <dgm:pt modelId="{DB02DCAC-1031-49E4-8307-DC3D0C1A2BBF}" type="pres">
      <dgm:prSet presAssocID="{91652195-B128-45DF-A605-FCB5FFC530E6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E2AED7E-AEE5-4F22-90B7-7F88E2CFE2D9}" type="pres">
      <dgm:prSet presAssocID="{91652195-B128-45DF-A605-FCB5FFC530E6}" presName="wedge3" presStyleLbl="node1" presStyleIdx="2" presStyleCnt="4"/>
      <dgm:spPr/>
    </dgm:pt>
    <dgm:pt modelId="{A9AE38E9-05D4-4D6D-AAFA-7A0C63F5B570}" type="pres">
      <dgm:prSet presAssocID="{91652195-B128-45DF-A605-FCB5FFC530E6}" presName="dummy3a" presStyleCnt="0"/>
      <dgm:spPr/>
    </dgm:pt>
    <dgm:pt modelId="{DD5C4A8A-A42B-41AD-B9AD-EE75D20465E9}" type="pres">
      <dgm:prSet presAssocID="{91652195-B128-45DF-A605-FCB5FFC530E6}" presName="dummy3b" presStyleCnt="0"/>
      <dgm:spPr/>
    </dgm:pt>
    <dgm:pt modelId="{E4EEC7D8-17E1-4657-A770-77E89B4B5A7C}" type="pres">
      <dgm:prSet presAssocID="{91652195-B128-45DF-A605-FCB5FFC530E6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2DACC1D-B781-4637-BAFC-57252338E590}" type="pres">
      <dgm:prSet presAssocID="{91652195-B128-45DF-A605-FCB5FFC530E6}" presName="wedge4" presStyleLbl="node1" presStyleIdx="3" presStyleCnt="4"/>
      <dgm:spPr/>
    </dgm:pt>
    <dgm:pt modelId="{D66D4C49-6869-434F-8FF5-A827CFCA1F2A}" type="pres">
      <dgm:prSet presAssocID="{91652195-B128-45DF-A605-FCB5FFC530E6}" presName="dummy4a" presStyleCnt="0"/>
      <dgm:spPr/>
    </dgm:pt>
    <dgm:pt modelId="{D057DC6E-421C-4F11-916F-1777FC619E9C}" type="pres">
      <dgm:prSet presAssocID="{91652195-B128-45DF-A605-FCB5FFC530E6}" presName="dummy4b" presStyleCnt="0"/>
      <dgm:spPr/>
    </dgm:pt>
    <dgm:pt modelId="{799269E0-F162-4622-9708-66C849064F07}" type="pres">
      <dgm:prSet presAssocID="{91652195-B128-45DF-A605-FCB5FFC530E6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F7D7391D-AF7B-4283-9CD3-43585647DBE4}" type="pres">
      <dgm:prSet presAssocID="{2E7FB947-E18A-49BF-AAD6-96B79313AD96}" presName="arrowWedge1" presStyleLbl="fgSibTrans2D1" presStyleIdx="0" presStyleCnt="4"/>
      <dgm:spPr/>
    </dgm:pt>
    <dgm:pt modelId="{83FD6B92-493F-4435-AFE6-D759C3610DD3}" type="pres">
      <dgm:prSet presAssocID="{D7DFF9DC-DDEC-4465-AE61-0A2EF4A2BAB0}" presName="arrowWedge2" presStyleLbl="fgSibTrans2D1" presStyleIdx="1" presStyleCnt="4"/>
      <dgm:spPr/>
    </dgm:pt>
    <dgm:pt modelId="{39090BAF-35B8-4A5A-AD0C-387A7C3C369F}" type="pres">
      <dgm:prSet presAssocID="{2CE3C00F-0D40-4059-A4C1-0CFA77D32BD7}" presName="arrowWedge3" presStyleLbl="fgSibTrans2D1" presStyleIdx="2" presStyleCnt="4"/>
      <dgm:spPr/>
    </dgm:pt>
    <dgm:pt modelId="{CB68EE4E-925A-4699-BE69-09A3E2E87C3C}" type="pres">
      <dgm:prSet presAssocID="{C085A103-199E-4B72-AD89-543F3DD4CA72}" presName="arrowWedge4" presStyleLbl="fgSibTrans2D1" presStyleIdx="3" presStyleCnt="4"/>
      <dgm:spPr/>
    </dgm:pt>
  </dgm:ptLst>
  <dgm:cxnLst>
    <dgm:cxn modelId="{B8EA1F07-662C-4275-8B9D-F02FAAA78879}" type="presOf" srcId="{94E15207-24DE-4708-8B3C-583E5994FE3F}" destId="{70FDE4DD-80F7-465E-937B-1BEB9B37B78D}" srcOrd="0" destOrd="0" presId="urn:microsoft.com/office/officeart/2005/8/layout/cycle8"/>
    <dgm:cxn modelId="{B2467E07-AA05-4937-977C-25CD7E7A93D9}" type="presOf" srcId="{BCC5EE7C-0F87-4CA9-B9FD-784AFEA21CA8}" destId="{799269E0-F162-4622-9708-66C849064F07}" srcOrd="1" destOrd="0" presId="urn:microsoft.com/office/officeart/2005/8/layout/cycle8"/>
    <dgm:cxn modelId="{8D84C51B-61FB-4B7A-9E9E-84A7C7CE7292}" srcId="{91652195-B128-45DF-A605-FCB5FFC530E6}" destId="{E296AEC2-3B5E-4602-9F0A-54A69E50D5F2}" srcOrd="2" destOrd="0" parTransId="{003C7269-58B7-4213-9FC0-E36F3F074842}" sibTransId="{2CE3C00F-0D40-4059-A4C1-0CFA77D32BD7}"/>
    <dgm:cxn modelId="{C7F6C825-33F2-4820-A7FF-24F9416DD314}" type="presOf" srcId="{404DE81C-1B09-4CD8-B9F4-4327AD4FB9D8}" destId="{36C88139-55F6-433B-ADEC-B3ED95577CBB}" srcOrd="0" destOrd="0" presId="urn:microsoft.com/office/officeart/2005/8/layout/cycle8"/>
    <dgm:cxn modelId="{C487E658-E1BF-4B60-8954-8931197C65FC}" srcId="{91652195-B128-45DF-A605-FCB5FFC530E6}" destId="{BCC5EE7C-0F87-4CA9-B9FD-784AFEA21CA8}" srcOrd="3" destOrd="0" parTransId="{5ED4BF53-6690-47E9-A755-50492740C3D0}" sibTransId="{C085A103-199E-4B72-AD89-543F3DD4CA72}"/>
    <dgm:cxn modelId="{B0F27B83-54CE-4A41-9FB3-1CE3212FD685}" type="presOf" srcId="{91652195-B128-45DF-A605-FCB5FFC530E6}" destId="{7264260B-9017-40A9-BF22-13A63D0781A2}" srcOrd="0" destOrd="0" presId="urn:microsoft.com/office/officeart/2005/8/layout/cycle8"/>
    <dgm:cxn modelId="{ECA57D93-3F67-4448-972C-74B0049537BC}" type="presOf" srcId="{404DE81C-1B09-4CD8-B9F4-4327AD4FB9D8}" destId="{DB02DCAC-1031-49E4-8307-DC3D0C1A2BBF}" srcOrd="1" destOrd="0" presId="urn:microsoft.com/office/officeart/2005/8/layout/cycle8"/>
    <dgm:cxn modelId="{4E1159B8-1BB8-4394-872D-A019E9610CF5}" type="presOf" srcId="{E296AEC2-3B5E-4602-9F0A-54A69E50D5F2}" destId="{E4EEC7D8-17E1-4657-A770-77E89B4B5A7C}" srcOrd="1" destOrd="0" presId="urn:microsoft.com/office/officeart/2005/8/layout/cycle8"/>
    <dgm:cxn modelId="{C03880CB-5308-4398-A83F-0687D34E5996}" type="presOf" srcId="{94E15207-24DE-4708-8B3C-583E5994FE3F}" destId="{62ADFEA5-4B5D-444C-B918-D965A615D5D0}" srcOrd="1" destOrd="0" presId="urn:microsoft.com/office/officeart/2005/8/layout/cycle8"/>
    <dgm:cxn modelId="{DB02FED2-AF33-40AB-9FC6-8093104D10C2}" srcId="{91652195-B128-45DF-A605-FCB5FFC530E6}" destId="{404DE81C-1B09-4CD8-B9F4-4327AD4FB9D8}" srcOrd="1" destOrd="0" parTransId="{35DAC82B-9E13-4FB8-ACCC-B0943BD3F048}" sibTransId="{D7DFF9DC-DDEC-4465-AE61-0A2EF4A2BAB0}"/>
    <dgm:cxn modelId="{9EBD34E0-A966-4D91-BA21-EA90DC6AB209}" type="presOf" srcId="{BCC5EE7C-0F87-4CA9-B9FD-784AFEA21CA8}" destId="{F2DACC1D-B781-4637-BAFC-57252338E590}" srcOrd="0" destOrd="0" presId="urn:microsoft.com/office/officeart/2005/8/layout/cycle8"/>
    <dgm:cxn modelId="{EA25E0E2-B884-4823-BA81-42A37EBBBCFC}" srcId="{91652195-B128-45DF-A605-FCB5FFC530E6}" destId="{94E15207-24DE-4708-8B3C-583E5994FE3F}" srcOrd="0" destOrd="0" parTransId="{2229A841-A830-42F3-B18E-0302BABA6992}" sibTransId="{2E7FB947-E18A-49BF-AAD6-96B79313AD96}"/>
    <dgm:cxn modelId="{F49845F5-67A3-4867-B319-967E0F6D5F0D}" type="presOf" srcId="{E296AEC2-3B5E-4602-9F0A-54A69E50D5F2}" destId="{BE2AED7E-AEE5-4F22-90B7-7F88E2CFE2D9}" srcOrd="0" destOrd="0" presId="urn:microsoft.com/office/officeart/2005/8/layout/cycle8"/>
    <dgm:cxn modelId="{3CC54C9D-0126-4995-B621-EA098A3C5269}" type="presParOf" srcId="{7264260B-9017-40A9-BF22-13A63D0781A2}" destId="{70FDE4DD-80F7-465E-937B-1BEB9B37B78D}" srcOrd="0" destOrd="0" presId="urn:microsoft.com/office/officeart/2005/8/layout/cycle8"/>
    <dgm:cxn modelId="{3D54BEBB-EC3D-4BC6-9159-6D4411326E50}" type="presParOf" srcId="{7264260B-9017-40A9-BF22-13A63D0781A2}" destId="{AB1224CD-0A7A-48DF-B038-A694C1C48BDF}" srcOrd="1" destOrd="0" presId="urn:microsoft.com/office/officeart/2005/8/layout/cycle8"/>
    <dgm:cxn modelId="{5B66F418-8D52-439F-8FEA-C29B1A0A817A}" type="presParOf" srcId="{7264260B-9017-40A9-BF22-13A63D0781A2}" destId="{75C9EDFF-2535-4D68-8EA5-7B7A578C0954}" srcOrd="2" destOrd="0" presId="urn:microsoft.com/office/officeart/2005/8/layout/cycle8"/>
    <dgm:cxn modelId="{72E40845-70EC-489F-8900-28CFABF9F378}" type="presParOf" srcId="{7264260B-9017-40A9-BF22-13A63D0781A2}" destId="{62ADFEA5-4B5D-444C-B918-D965A615D5D0}" srcOrd="3" destOrd="0" presId="urn:microsoft.com/office/officeart/2005/8/layout/cycle8"/>
    <dgm:cxn modelId="{973DA382-3C6A-4841-BF7F-777773CFD0A8}" type="presParOf" srcId="{7264260B-9017-40A9-BF22-13A63D0781A2}" destId="{36C88139-55F6-433B-ADEC-B3ED95577CBB}" srcOrd="4" destOrd="0" presId="urn:microsoft.com/office/officeart/2005/8/layout/cycle8"/>
    <dgm:cxn modelId="{CF425D95-716E-4D33-B710-4DBED7BEF9FF}" type="presParOf" srcId="{7264260B-9017-40A9-BF22-13A63D0781A2}" destId="{026723C1-3C2E-4242-8AB5-E9BC6AE4E999}" srcOrd="5" destOrd="0" presId="urn:microsoft.com/office/officeart/2005/8/layout/cycle8"/>
    <dgm:cxn modelId="{B2A3312D-1197-4475-9789-D29B5238636B}" type="presParOf" srcId="{7264260B-9017-40A9-BF22-13A63D0781A2}" destId="{3804B80F-F98A-40FC-88BB-6DC5AD26488F}" srcOrd="6" destOrd="0" presId="urn:microsoft.com/office/officeart/2005/8/layout/cycle8"/>
    <dgm:cxn modelId="{B072C678-205F-4BD3-9936-49A55016759D}" type="presParOf" srcId="{7264260B-9017-40A9-BF22-13A63D0781A2}" destId="{DB02DCAC-1031-49E4-8307-DC3D0C1A2BBF}" srcOrd="7" destOrd="0" presId="urn:microsoft.com/office/officeart/2005/8/layout/cycle8"/>
    <dgm:cxn modelId="{61FC6992-EAD3-4426-B215-F3BAFA564B85}" type="presParOf" srcId="{7264260B-9017-40A9-BF22-13A63D0781A2}" destId="{BE2AED7E-AEE5-4F22-90B7-7F88E2CFE2D9}" srcOrd="8" destOrd="0" presId="urn:microsoft.com/office/officeart/2005/8/layout/cycle8"/>
    <dgm:cxn modelId="{0C55649D-F40B-4D0F-82DE-DF3686262700}" type="presParOf" srcId="{7264260B-9017-40A9-BF22-13A63D0781A2}" destId="{A9AE38E9-05D4-4D6D-AAFA-7A0C63F5B570}" srcOrd="9" destOrd="0" presId="urn:microsoft.com/office/officeart/2005/8/layout/cycle8"/>
    <dgm:cxn modelId="{EA20E9B2-6DAB-44F1-9C65-9ADA7CC7F8DA}" type="presParOf" srcId="{7264260B-9017-40A9-BF22-13A63D0781A2}" destId="{DD5C4A8A-A42B-41AD-B9AD-EE75D20465E9}" srcOrd="10" destOrd="0" presId="urn:microsoft.com/office/officeart/2005/8/layout/cycle8"/>
    <dgm:cxn modelId="{9467A53F-EAC0-49C4-BC64-5A0BFD20B1E9}" type="presParOf" srcId="{7264260B-9017-40A9-BF22-13A63D0781A2}" destId="{E4EEC7D8-17E1-4657-A770-77E89B4B5A7C}" srcOrd="11" destOrd="0" presId="urn:microsoft.com/office/officeart/2005/8/layout/cycle8"/>
    <dgm:cxn modelId="{1352D6DB-3950-4F21-A575-69EB89A1145D}" type="presParOf" srcId="{7264260B-9017-40A9-BF22-13A63D0781A2}" destId="{F2DACC1D-B781-4637-BAFC-57252338E590}" srcOrd="12" destOrd="0" presId="urn:microsoft.com/office/officeart/2005/8/layout/cycle8"/>
    <dgm:cxn modelId="{B75AE3D4-84C1-41A9-B2FB-C59415EF74B2}" type="presParOf" srcId="{7264260B-9017-40A9-BF22-13A63D0781A2}" destId="{D66D4C49-6869-434F-8FF5-A827CFCA1F2A}" srcOrd="13" destOrd="0" presId="urn:microsoft.com/office/officeart/2005/8/layout/cycle8"/>
    <dgm:cxn modelId="{A4924E74-7E06-4CA5-8C73-879F25F36BFE}" type="presParOf" srcId="{7264260B-9017-40A9-BF22-13A63D0781A2}" destId="{D057DC6E-421C-4F11-916F-1777FC619E9C}" srcOrd="14" destOrd="0" presId="urn:microsoft.com/office/officeart/2005/8/layout/cycle8"/>
    <dgm:cxn modelId="{D3A6694E-0A53-4B9E-8BB0-32EEA55CBB49}" type="presParOf" srcId="{7264260B-9017-40A9-BF22-13A63D0781A2}" destId="{799269E0-F162-4622-9708-66C849064F07}" srcOrd="15" destOrd="0" presId="urn:microsoft.com/office/officeart/2005/8/layout/cycle8"/>
    <dgm:cxn modelId="{D0AF2C1F-172A-4F21-B47C-8D8940CEC840}" type="presParOf" srcId="{7264260B-9017-40A9-BF22-13A63D0781A2}" destId="{F7D7391D-AF7B-4283-9CD3-43585647DBE4}" srcOrd="16" destOrd="0" presId="urn:microsoft.com/office/officeart/2005/8/layout/cycle8"/>
    <dgm:cxn modelId="{A345150B-7572-4669-ADAD-6C96CDC52599}" type="presParOf" srcId="{7264260B-9017-40A9-BF22-13A63D0781A2}" destId="{83FD6B92-493F-4435-AFE6-D759C3610DD3}" srcOrd="17" destOrd="0" presId="urn:microsoft.com/office/officeart/2005/8/layout/cycle8"/>
    <dgm:cxn modelId="{C940C3E3-84C7-441A-BDCB-E0E72C07F3FC}" type="presParOf" srcId="{7264260B-9017-40A9-BF22-13A63D0781A2}" destId="{39090BAF-35B8-4A5A-AD0C-387A7C3C369F}" srcOrd="18" destOrd="0" presId="urn:microsoft.com/office/officeart/2005/8/layout/cycle8"/>
    <dgm:cxn modelId="{B1A3E969-74E3-4416-9604-F62E1D6EECE2}" type="presParOf" srcId="{7264260B-9017-40A9-BF22-13A63D0781A2}" destId="{CB68EE4E-925A-4699-BE69-09A3E2E87C3C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FDE4DD-80F7-465E-937B-1BEB9B37B78D}">
      <dsp:nvSpPr>
        <dsp:cNvPr id="0" name=""/>
        <dsp:cNvSpPr/>
      </dsp:nvSpPr>
      <dsp:spPr>
        <a:xfrm>
          <a:off x="2493957" y="326876"/>
          <a:ext cx="4395998" cy="4395998"/>
        </a:xfrm>
        <a:prstGeom prst="pie">
          <a:avLst>
            <a:gd name="adj1" fmla="val 162000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 dirty="0"/>
            <a:t>定義目標</a:t>
          </a:r>
          <a:r>
            <a:rPr lang="en-US" altLang="en-US" sz="1600" b="1" kern="1200" dirty="0"/>
            <a:t>/</a:t>
          </a:r>
          <a:r>
            <a:rPr lang="zh-TW" altLang="en-US" sz="1600" b="1" kern="1200" dirty="0"/>
            <a:t>限制</a:t>
          </a:r>
          <a:r>
            <a:rPr lang="en-US" altLang="en-US" sz="1600" b="1" kern="1200" dirty="0"/>
            <a:t>/</a:t>
          </a:r>
          <a:r>
            <a:rPr lang="zh-TW" altLang="en-US" sz="1600" b="1" kern="1200" dirty="0"/>
            <a:t>驗收條件</a:t>
          </a:r>
          <a:r>
            <a:rPr lang="zh-TW" altLang="en-US" sz="1600" kern="1200" dirty="0"/>
            <a:t>（含例外情境）</a:t>
          </a:r>
        </a:p>
      </dsp:txBody>
      <dsp:txXfrm>
        <a:off x="4827500" y="1237999"/>
        <a:ext cx="1622332" cy="1203666"/>
      </dsp:txXfrm>
    </dsp:sp>
    <dsp:sp modelId="{36C88139-55F6-433B-ADEC-B3ED95577CBB}">
      <dsp:nvSpPr>
        <dsp:cNvPr id="0" name=""/>
        <dsp:cNvSpPr/>
      </dsp:nvSpPr>
      <dsp:spPr>
        <a:xfrm>
          <a:off x="2493957" y="474456"/>
          <a:ext cx="4395998" cy="4395998"/>
        </a:xfrm>
        <a:prstGeom prst="pie">
          <a:avLst>
            <a:gd name="adj1" fmla="val 0"/>
            <a:gd name="adj2" fmla="val 54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1" kern="1200" dirty="0"/>
            <a:t>AI </a:t>
          </a:r>
          <a:r>
            <a:rPr lang="zh-TW" altLang="en-US" sz="1600" b="1" kern="1200" dirty="0"/>
            <a:t>產出候選</a:t>
          </a:r>
          <a:r>
            <a:rPr lang="zh-TW" altLang="en-US" sz="1600" kern="1200" dirty="0"/>
            <a:t>（程式</a:t>
          </a:r>
          <a:r>
            <a:rPr lang="en-US" altLang="en-US" sz="1600" kern="1200" dirty="0"/>
            <a:t>/</a:t>
          </a:r>
          <a:r>
            <a:rPr lang="zh-TW" altLang="en-US" sz="1600" kern="1200" dirty="0"/>
            <a:t>測試</a:t>
          </a:r>
          <a:r>
            <a:rPr lang="en-US" altLang="en-US" sz="1600" kern="1200" dirty="0"/>
            <a:t>/</a:t>
          </a:r>
          <a:r>
            <a:rPr lang="zh-TW" altLang="en-US" sz="1600" kern="1200" dirty="0"/>
            <a:t>文件）</a:t>
          </a:r>
        </a:p>
      </dsp:txBody>
      <dsp:txXfrm>
        <a:off x="4827500" y="2755665"/>
        <a:ext cx="1622332" cy="1203666"/>
      </dsp:txXfrm>
    </dsp:sp>
    <dsp:sp modelId="{BE2AED7E-AEE5-4F22-90B7-7F88E2CFE2D9}">
      <dsp:nvSpPr>
        <dsp:cNvPr id="0" name=""/>
        <dsp:cNvSpPr/>
      </dsp:nvSpPr>
      <dsp:spPr>
        <a:xfrm>
          <a:off x="2346377" y="474456"/>
          <a:ext cx="4395998" cy="4395998"/>
        </a:xfrm>
        <a:prstGeom prst="pie">
          <a:avLst>
            <a:gd name="adj1" fmla="val 5400000"/>
            <a:gd name="adj2" fmla="val 108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 dirty="0"/>
            <a:t>人審查、修正、整合</a:t>
          </a:r>
          <a:r>
            <a:rPr lang="zh-TW" altLang="en-US" sz="1600" kern="1200" dirty="0"/>
            <a:t>（審查＋測試把關）</a:t>
          </a:r>
        </a:p>
      </dsp:txBody>
      <dsp:txXfrm>
        <a:off x="2786500" y="2755665"/>
        <a:ext cx="1622332" cy="1203666"/>
      </dsp:txXfrm>
    </dsp:sp>
    <dsp:sp modelId="{F2DACC1D-B781-4637-BAFC-57252338E590}">
      <dsp:nvSpPr>
        <dsp:cNvPr id="0" name=""/>
        <dsp:cNvSpPr/>
      </dsp:nvSpPr>
      <dsp:spPr>
        <a:xfrm>
          <a:off x="2346377" y="326876"/>
          <a:ext cx="4395998" cy="4395998"/>
        </a:xfrm>
        <a:prstGeom prst="pie">
          <a:avLst>
            <a:gd name="adj1" fmla="val 108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 dirty="0"/>
            <a:t>回饋再迭代</a:t>
          </a:r>
          <a:r>
            <a:rPr lang="zh-TW" altLang="en-US" sz="1600" kern="1200" dirty="0"/>
            <a:t>（補 </a:t>
          </a:r>
          <a:r>
            <a:rPr lang="en-US" altLang="en-US" sz="1600" kern="1200" dirty="0"/>
            <a:t>edge cases</a:t>
          </a:r>
          <a:r>
            <a:rPr lang="zh-TW" altLang="en-US" sz="1600" kern="1200" dirty="0"/>
            <a:t>、補資安、補文件）</a:t>
          </a:r>
        </a:p>
      </dsp:txBody>
      <dsp:txXfrm>
        <a:off x="2786500" y="1237999"/>
        <a:ext cx="1622332" cy="1203666"/>
      </dsp:txXfrm>
    </dsp:sp>
    <dsp:sp modelId="{F7D7391D-AF7B-4283-9CD3-43585647DBE4}">
      <dsp:nvSpPr>
        <dsp:cNvPr id="0" name=""/>
        <dsp:cNvSpPr/>
      </dsp:nvSpPr>
      <dsp:spPr>
        <a:xfrm>
          <a:off x="2221824" y="54743"/>
          <a:ext cx="4940265" cy="4940265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FD6B92-493F-4435-AFE6-D759C3610DD3}">
      <dsp:nvSpPr>
        <dsp:cNvPr id="0" name=""/>
        <dsp:cNvSpPr/>
      </dsp:nvSpPr>
      <dsp:spPr>
        <a:xfrm>
          <a:off x="2221824" y="202323"/>
          <a:ext cx="4940265" cy="4940265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90BAF-35B8-4A5A-AD0C-387A7C3C369F}">
      <dsp:nvSpPr>
        <dsp:cNvPr id="0" name=""/>
        <dsp:cNvSpPr/>
      </dsp:nvSpPr>
      <dsp:spPr>
        <a:xfrm>
          <a:off x="2074244" y="202323"/>
          <a:ext cx="4940265" cy="4940265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8EE4E-925A-4699-BE69-09A3E2E87C3C}">
      <dsp:nvSpPr>
        <dsp:cNvPr id="0" name=""/>
        <dsp:cNvSpPr/>
      </dsp:nvSpPr>
      <dsp:spPr>
        <a:xfrm>
          <a:off x="2074244" y="54743"/>
          <a:ext cx="4940265" cy="4940265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4A342E-3BC2-4506-95CA-27A3A2E0F2E8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FB969D-C169-473E-9A63-3A56F17FE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648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B969D-C169-473E-9A63-3A56F17FEFC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575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87843-68B8-BB9B-D761-95509427D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16A1098-19BD-46B9-6595-CE8E6D4C1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939082-9DE0-CA87-F62B-26EF283BA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Fig.3 </a:t>
            </a:r>
            <a:r>
              <a:rPr lang="zh-TW" altLang="en-US" dirty="0"/>
              <a:t>展示 </a:t>
            </a:r>
            <a:r>
              <a:rPr lang="en-US" altLang="zh-TW" dirty="0"/>
              <a:t>IoT </a:t>
            </a:r>
            <a:r>
              <a:rPr lang="zh-TW" altLang="en-US" dirty="0"/>
              <a:t>監測節點內部的邏輯架構：</a:t>
            </a:r>
          </a:p>
          <a:p>
            <a:r>
              <a:rPr lang="en-US" altLang="zh-TW" dirty="0"/>
              <a:t>1.</a:t>
            </a:r>
            <a:r>
              <a:rPr lang="zh-TW" altLang="en-US" dirty="0"/>
              <a:t>多種氣體感測器負責量測不同的污染物。</a:t>
            </a:r>
          </a:p>
          <a:p>
            <a:r>
              <a:rPr lang="en-US" altLang="zh-TW" dirty="0"/>
              <a:t>2.PM </a:t>
            </a:r>
            <a:r>
              <a:rPr lang="zh-TW" altLang="en-US" dirty="0"/>
              <a:t>感測器監測細懸浮微粒。</a:t>
            </a:r>
          </a:p>
          <a:p>
            <a:r>
              <a:rPr lang="en-US" altLang="zh-TW" dirty="0"/>
              <a:t>3.Arduino Mega </a:t>
            </a:r>
            <a:r>
              <a:rPr lang="zh-TW" altLang="en-US" dirty="0"/>
              <a:t>作為中央控制器。</a:t>
            </a:r>
          </a:p>
          <a:p>
            <a:r>
              <a:rPr lang="en-US" altLang="zh-TW" dirty="0"/>
              <a:t>4.NB-IoT </a:t>
            </a:r>
            <a:r>
              <a:rPr lang="zh-TW" altLang="en-US" dirty="0"/>
              <a:t>模組負責把資料上傳到雲端。</a:t>
            </a:r>
          </a:p>
          <a:p>
            <a:r>
              <a:rPr lang="en-US" altLang="zh-TW" dirty="0"/>
              <a:t>5.</a:t>
            </a:r>
            <a:r>
              <a:rPr lang="zh-TW" altLang="en-US" dirty="0"/>
              <a:t>空氣由幫浦吸入，測量後由風扇排出。</a:t>
            </a:r>
          </a:p>
          <a:p>
            <a:r>
              <a:rPr lang="zh-TW" altLang="en-US" dirty="0"/>
              <a:t>這個設計的重點是：</a:t>
            </a:r>
            <a:r>
              <a:rPr lang="zh-TW" altLang="en-US" b="1" dirty="0"/>
              <a:t>成本低、易維修、可大量部署。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08C173-7874-247A-677C-00B772EE5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B969D-C169-473E-9A63-3A56F17FEFC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394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9BE96-D39B-0655-DED6-067CDD52D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BD3DB1E-135C-5F74-181A-B07C60939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6C147C3-2D66-9EC9-31E0-5703F95F3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Fig.3 </a:t>
            </a:r>
            <a:r>
              <a:rPr lang="zh-TW" altLang="en-US" dirty="0"/>
              <a:t>展示 </a:t>
            </a:r>
            <a:r>
              <a:rPr lang="en-US" altLang="zh-TW" dirty="0"/>
              <a:t>IoT </a:t>
            </a:r>
            <a:r>
              <a:rPr lang="zh-TW" altLang="en-US" dirty="0"/>
              <a:t>監測節點內部的邏輯架構：</a:t>
            </a:r>
          </a:p>
          <a:p>
            <a:r>
              <a:rPr lang="en-US" altLang="zh-TW" dirty="0"/>
              <a:t>1.</a:t>
            </a:r>
            <a:r>
              <a:rPr lang="zh-TW" altLang="en-US" dirty="0"/>
              <a:t>多種氣體感測器負責量測不同的污染物。</a:t>
            </a:r>
          </a:p>
          <a:p>
            <a:r>
              <a:rPr lang="en-US" altLang="zh-TW" dirty="0"/>
              <a:t>2.PM </a:t>
            </a:r>
            <a:r>
              <a:rPr lang="zh-TW" altLang="en-US" dirty="0"/>
              <a:t>感測器監測細懸浮微粒。</a:t>
            </a:r>
          </a:p>
          <a:p>
            <a:r>
              <a:rPr lang="en-US" altLang="zh-TW" dirty="0"/>
              <a:t>3.Arduino Mega </a:t>
            </a:r>
            <a:r>
              <a:rPr lang="zh-TW" altLang="en-US" dirty="0"/>
              <a:t>作為中央控制器。</a:t>
            </a:r>
          </a:p>
          <a:p>
            <a:r>
              <a:rPr lang="en-US" altLang="zh-TW" dirty="0"/>
              <a:t>4.NB-IoT </a:t>
            </a:r>
            <a:r>
              <a:rPr lang="zh-TW" altLang="en-US" dirty="0"/>
              <a:t>模組負責把資料上傳到雲端。</a:t>
            </a:r>
          </a:p>
          <a:p>
            <a:r>
              <a:rPr lang="en-US" altLang="zh-TW" dirty="0"/>
              <a:t>5.</a:t>
            </a:r>
            <a:r>
              <a:rPr lang="zh-TW" altLang="en-US" dirty="0"/>
              <a:t>空氣由幫浦吸入，測量後由風扇排出。</a:t>
            </a:r>
          </a:p>
          <a:p>
            <a:r>
              <a:rPr lang="zh-TW" altLang="en-US" dirty="0"/>
              <a:t>這個設計的重點是：</a:t>
            </a:r>
            <a:r>
              <a:rPr lang="zh-TW" altLang="en-US" b="1" dirty="0"/>
              <a:t>成本低、易維修、可大量部署。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4F9DA-A961-07A8-0065-1503B789C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B969D-C169-473E-9A63-3A56F17FEFC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5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EB3EF-D991-DCEC-AAA6-F0E637B9A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D87ECE1-A063-B1A4-49F8-73AB05704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80C582F-E530-EF7F-32D5-8DFA0C0A6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Fig.3 </a:t>
            </a:r>
            <a:r>
              <a:rPr lang="zh-TW" altLang="en-US" dirty="0"/>
              <a:t>展示 </a:t>
            </a:r>
            <a:r>
              <a:rPr lang="en-US" altLang="zh-TW" dirty="0"/>
              <a:t>IoT </a:t>
            </a:r>
            <a:r>
              <a:rPr lang="zh-TW" altLang="en-US" dirty="0"/>
              <a:t>監測節點內部的邏輯架構：</a:t>
            </a:r>
          </a:p>
          <a:p>
            <a:r>
              <a:rPr lang="en-US" altLang="zh-TW" dirty="0"/>
              <a:t>1.</a:t>
            </a:r>
            <a:r>
              <a:rPr lang="zh-TW" altLang="en-US" dirty="0"/>
              <a:t>多種氣體感測器負責量測不同的污染物。</a:t>
            </a:r>
          </a:p>
          <a:p>
            <a:r>
              <a:rPr lang="en-US" altLang="zh-TW" dirty="0"/>
              <a:t>2.PM </a:t>
            </a:r>
            <a:r>
              <a:rPr lang="zh-TW" altLang="en-US" dirty="0"/>
              <a:t>感測器監測細懸浮微粒。</a:t>
            </a:r>
          </a:p>
          <a:p>
            <a:r>
              <a:rPr lang="en-US" altLang="zh-TW" dirty="0"/>
              <a:t>3.Arduino Mega </a:t>
            </a:r>
            <a:r>
              <a:rPr lang="zh-TW" altLang="en-US" dirty="0"/>
              <a:t>作為中央控制器。</a:t>
            </a:r>
          </a:p>
          <a:p>
            <a:r>
              <a:rPr lang="en-US" altLang="zh-TW" dirty="0"/>
              <a:t>4.NB-IoT </a:t>
            </a:r>
            <a:r>
              <a:rPr lang="zh-TW" altLang="en-US" dirty="0"/>
              <a:t>模組負責把資料上傳到雲端。</a:t>
            </a:r>
          </a:p>
          <a:p>
            <a:r>
              <a:rPr lang="en-US" altLang="zh-TW" dirty="0"/>
              <a:t>5.</a:t>
            </a:r>
            <a:r>
              <a:rPr lang="zh-TW" altLang="en-US" dirty="0"/>
              <a:t>空氣由幫浦吸入，測量後由風扇排出。</a:t>
            </a:r>
          </a:p>
          <a:p>
            <a:r>
              <a:rPr lang="zh-TW" altLang="en-US" dirty="0"/>
              <a:t>這個設計的重點是：</a:t>
            </a:r>
            <a:r>
              <a:rPr lang="zh-TW" altLang="en-US" b="1" dirty="0"/>
              <a:t>成本低、易維修、可大量部署。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F78506-98F6-574E-4A7B-4C2325480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B969D-C169-473E-9A63-3A56F17FEFC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764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FE9F-6AC7-6D28-0CB3-DDF59791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2660469-F240-667D-31CE-8350DEC7A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BAA6842-08A5-543B-8A70-0FAFAB3AF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Fig.3 </a:t>
            </a:r>
            <a:r>
              <a:rPr lang="zh-TW" altLang="en-US" dirty="0"/>
              <a:t>展示 </a:t>
            </a:r>
            <a:r>
              <a:rPr lang="en-US" altLang="zh-TW" dirty="0"/>
              <a:t>IoT </a:t>
            </a:r>
            <a:r>
              <a:rPr lang="zh-TW" altLang="en-US" dirty="0"/>
              <a:t>監測節點內部的邏輯架構：</a:t>
            </a:r>
          </a:p>
          <a:p>
            <a:r>
              <a:rPr lang="en-US" altLang="zh-TW" dirty="0"/>
              <a:t>1.</a:t>
            </a:r>
            <a:r>
              <a:rPr lang="zh-TW" altLang="en-US" dirty="0"/>
              <a:t>多種氣體感測器負責量測不同的污染物。</a:t>
            </a:r>
          </a:p>
          <a:p>
            <a:r>
              <a:rPr lang="en-US" altLang="zh-TW" dirty="0"/>
              <a:t>2.PM </a:t>
            </a:r>
            <a:r>
              <a:rPr lang="zh-TW" altLang="en-US" dirty="0"/>
              <a:t>感測器監測細懸浮微粒。</a:t>
            </a:r>
          </a:p>
          <a:p>
            <a:r>
              <a:rPr lang="en-US" altLang="zh-TW" dirty="0"/>
              <a:t>3.Arduino Mega </a:t>
            </a:r>
            <a:r>
              <a:rPr lang="zh-TW" altLang="en-US" dirty="0"/>
              <a:t>作為中央控制器。</a:t>
            </a:r>
          </a:p>
          <a:p>
            <a:r>
              <a:rPr lang="en-US" altLang="zh-TW" dirty="0"/>
              <a:t>4.NB-IoT </a:t>
            </a:r>
            <a:r>
              <a:rPr lang="zh-TW" altLang="en-US" dirty="0"/>
              <a:t>模組負責把資料上傳到雲端。</a:t>
            </a:r>
          </a:p>
          <a:p>
            <a:r>
              <a:rPr lang="en-US" altLang="zh-TW" dirty="0"/>
              <a:t>5.</a:t>
            </a:r>
            <a:r>
              <a:rPr lang="zh-TW" altLang="en-US" dirty="0"/>
              <a:t>空氣由幫浦吸入，測量後由風扇排出。</a:t>
            </a:r>
          </a:p>
          <a:p>
            <a:r>
              <a:rPr lang="zh-TW" altLang="en-US" dirty="0"/>
              <a:t>這個設計的重點是：</a:t>
            </a:r>
            <a:r>
              <a:rPr lang="zh-TW" altLang="en-US" b="1" dirty="0"/>
              <a:t>成本低、易維修、可大量部署。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B9A786-A5B6-D825-55BC-F2661C0DF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B969D-C169-473E-9A63-3A56F17FEFC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06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1F2E0-50F0-1F81-BEF8-ACBFBF18C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E3EAB0A-E17B-D6F5-D0ED-F4444A992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8169820-67B4-DE16-C4DE-A5B978732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Fig.3 </a:t>
            </a:r>
            <a:r>
              <a:rPr lang="zh-TW" altLang="en-US" dirty="0"/>
              <a:t>展示 </a:t>
            </a:r>
            <a:r>
              <a:rPr lang="en-US" altLang="zh-TW" dirty="0"/>
              <a:t>IoT </a:t>
            </a:r>
            <a:r>
              <a:rPr lang="zh-TW" altLang="en-US" dirty="0"/>
              <a:t>監測節點內部的邏輯架構：</a:t>
            </a:r>
          </a:p>
          <a:p>
            <a:r>
              <a:rPr lang="en-US" altLang="zh-TW" dirty="0"/>
              <a:t>1.</a:t>
            </a:r>
            <a:r>
              <a:rPr lang="zh-TW" altLang="en-US" dirty="0"/>
              <a:t>多種氣體感測器負責量測不同的污染物。</a:t>
            </a:r>
          </a:p>
          <a:p>
            <a:r>
              <a:rPr lang="en-US" altLang="zh-TW" dirty="0"/>
              <a:t>2.PM </a:t>
            </a:r>
            <a:r>
              <a:rPr lang="zh-TW" altLang="en-US" dirty="0"/>
              <a:t>感測器監測細懸浮微粒。</a:t>
            </a:r>
          </a:p>
          <a:p>
            <a:r>
              <a:rPr lang="en-US" altLang="zh-TW" dirty="0"/>
              <a:t>3.Arduino Mega </a:t>
            </a:r>
            <a:r>
              <a:rPr lang="zh-TW" altLang="en-US" dirty="0"/>
              <a:t>作為中央控制器。</a:t>
            </a:r>
          </a:p>
          <a:p>
            <a:r>
              <a:rPr lang="en-US" altLang="zh-TW" dirty="0"/>
              <a:t>4.NB-IoT </a:t>
            </a:r>
            <a:r>
              <a:rPr lang="zh-TW" altLang="en-US" dirty="0"/>
              <a:t>模組負責把資料上傳到雲端。</a:t>
            </a:r>
          </a:p>
          <a:p>
            <a:r>
              <a:rPr lang="en-US" altLang="zh-TW" dirty="0"/>
              <a:t>5.</a:t>
            </a:r>
            <a:r>
              <a:rPr lang="zh-TW" altLang="en-US" dirty="0"/>
              <a:t>空氣由幫浦吸入，測量後由風扇排出。</a:t>
            </a:r>
          </a:p>
          <a:p>
            <a:r>
              <a:rPr lang="zh-TW" altLang="en-US" dirty="0"/>
              <a:t>這個設計的重點是：</a:t>
            </a:r>
            <a:r>
              <a:rPr lang="zh-TW" altLang="en-US" b="1" dirty="0"/>
              <a:t>成本低、易維修、可大量部署。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E541B5-9093-1BDB-A5D9-6964C5456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B969D-C169-473E-9A63-3A56F17FEFC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593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67187-26A0-4CBD-A10C-2DE1DE41E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6EEA7E-2AB6-4BE8-A345-7B87B94EC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1637EB-A44B-45EC-96AA-153D8EC98E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38385A2-C556-42B4-A024-34CF23296D1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9B829B-AAEE-4234-B428-FF0801309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48EE30-3075-4927-B018-623194DE4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232B33E-6CBB-4C23-BFFD-4D7045B4FE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38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0BACB-3881-496E-99A3-D6EDA2CF8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C2E6C1-65B5-434C-9EDE-598DB4F1C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95A2AB-4BE0-477C-943C-BC12F6D339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38385A2-C556-42B4-A024-34CF23296D1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62BA71-0AF6-4452-9F87-D7415162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0B1EED-DEDF-4B26-B266-140E76B7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232B33E-6CBB-4C23-BFFD-4D7045B4FE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7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7B05EB-5A8A-4240-86FC-2303F2DA0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E79EC7-AF42-493A-826F-7B354E288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9A03C4-6307-4920-8E7E-3A94FDD6B1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38385A2-C556-42B4-A024-34CF23296D1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0487A7-EA63-4A71-87D3-AEFA4D8CE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6E58A6-C64C-474A-990D-B3A5B8F35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232B33E-6CBB-4C23-BFFD-4D7045B4FE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49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5E114-2FB9-48C1-B866-EFD0BCAD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49253-0BAD-4170-931E-EA106E692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638B3C-C922-4A0D-8137-88F6A21CD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CE125E-C9EA-4B5A-8D81-E4E37134BB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38385A2-C556-42B4-A024-34CF23296D1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0428E1-46FD-48E1-BC86-B3A71CBF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59266A-14C7-4DE5-A04B-31D8FBC84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232B33E-6CBB-4C23-BFFD-4D7045B4FE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4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C49D5-E48B-4C7A-8FEE-7D5862BB3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61AD89-9D0C-4799-A302-9637414B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F202FC-F61C-45F6-9E2E-6AFA37581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8702156-F9C3-450A-B894-485F38144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780E5C1-E12B-41AB-A7DB-FEDC0E5ABE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4086F41-F76A-4695-9595-D9FA75174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38385A2-C556-42B4-A024-34CF23296D1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453AADE-096F-4186-B040-C907E10BF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4ECDDB-BB5C-4B51-9E1E-E27D2AC6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232B33E-6CBB-4C23-BFFD-4D7045B4FE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136305" y="6431420"/>
            <a:ext cx="180020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5517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51667B-BAE5-480C-A68B-73C9A563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1623138-D28F-4C77-BFEB-E05B3C7A1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38385A2-C556-42B4-A024-34CF23296D1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68F5B3-D563-4114-AB3B-7BCD072B5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C7141C-DD11-4C6C-9058-BB46313C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232B33E-6CBB-4C23-BFFD-4D7045B4FE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835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2171D5-85DB-4BE5-9192-21CFE2E089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38385A2-C556-42B4-A024-34CF23296D1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728D10-4206-4AC3-99A2-9AE216401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38C269-82D3-43D4-9BD9-7D05364A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232B33E-6CBB-4C23-BFFD-4D7045B4FE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70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A2BAD5-1016-48E8-82EB-F74A8ABBF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1B1831-427D-4EB3-ABF5-F2040CFD3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8BD00D-E082-4717-BA8B-97E2B7F73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71A2CB-57F0-4321-840B-E6957FD10C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38385A2-C556-42B4-A024-34CF23296D1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1EEDFF-22D8-418E-8002-427500B32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73591A-73A5-4062-AD26-7B05DE1F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232B33E-6CBB-4C23-BFFD-4D7045B4FE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96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6A380-BE6E-42B4-85CA-B74A93E94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FBC3BF-3902-4C68-ADE7-DB8A030983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287630-EAD5-4119-B076-11901C3FE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2AB513-A53B-4670-B5EA-1AC8FE8E2D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38385A2-C556-42B4-A024-34CF23296D1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6D43B6-6420-4F6C-B2AF-BC696A299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1C1F89-AE2F-49D5-904C-9F5201C1C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232B33E-6CBB-4C23-BFFD-4D7045B4FE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273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C0313-287C-48B7-AB5C-AACE0A5B5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942371-BA73-4FCB-9AEF-F3D67E66C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0312F4-365F-4368-8D2C-C16B974B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38385A2-C556-42B4-A024-34CF23296D1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425F38-AD11-48C7-9910-BFDB4FDAD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9BBE80-AF79-452E-9830-CED5C25B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232B33E-6CBB-4C23-BFFD-4D7045B4FE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80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57ED591-E1F3-4263-B9A2-10D951839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0E7C37-3718-4BD2-B74F-269D8D6D1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66622C-59D1-45D2-B917-07981018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38385A2-C556-42B4-A024-34CF23296D1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CB819A-74E7-422F-A15F-19F80B8F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A4F183-AD35-4C8B-809B-F8FA052E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232B33E-6CBB-4C23-BFFD-4D7045B4FE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568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2025/12/8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906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2025/12/8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2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60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08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320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hyperlink" Target="https://arthvhanesa.hashnode.dev/the-6-stages-of-the-software-development-life-cycle-sdlc-explained" TargetMode="Externa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28592-41FE-DF89-EA9C-D76B1835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 51">
            <a:extLst>
              <a:ext uri="{FF2B5EF4-FFF2-40B4-BE49-F238E27FC236}">
                <a16:creationId xmlns:a16="http://schemas.microsoft.com/office/drawing/2014/main" id="{F1E7C6F1-7D9A-77EB-BFA4-288285DC265F}"/>
              </a:ext>
            </a:extLst>
          </p:cNvPr>
          <p:cNvSpPr txBox="1"/>
          <p:nvPr/>
        </p:nvSpPr>
        <p:spPr>
          <a:xfrm>
            <a:off x="784667" y="1555454"/>
            <a:ext cx="84017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AI </a:t>
            </a:r>
            <a:r>
              <a:rPr lang="zh-TW" altLang="en-US" sz="6000" dirty="0"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與軟體工程整體趨勢</a:t>
            </a:r>
            <a:endParaRPr lang="zh-CN" altLang="en-US" sz="6000" dirty="0">
              <a:latin typeface="方正正黑简体" panose="02000000000000000000" pitchFamily="2" charset="-122"/>
              <a:ea typeface="方正正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FA825F1-5653-8EBB-208B-7D96C78273BF}"/>
              </a:ext>
            </a:extLst>
          </p:cNvPr>
          <p:cNvSpPr txBox="1"/>
          <p:nvPr/>
        </p:nvSpPr>
        <p:spPr>
          <a:xfrm>
            <a:off x="964325" y="2789129"/>
            <a:ext cx="6238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cs typeface="+mn-ea"/>
                <a:sym typeface="+mn-lt"/>
              </a:rPr>
              <a:t>— AI </a:t>
            </a:r>
            <a:r>
              <a:rPr lang="zh-TW" altLang="en-US" sz="2000" dirty="0">
                <a:cs typeface="+mn-ea"/>
                <a:sym typeface="+mn-lt"/>
              </a:rPr>
              <a:t>如何改變開發流程與工程實踐（全局整理） </a:t>
            </a:r>
            <a:r>
              <a:rPr lang="en-US" altLang="zh-TW" sz="2000" dirty="0">
                <a:cs typeface="+mn-ea"/>
                <a:sym typeface="+mn-lt"/>
              </a:rPr>
              <a:t>—</a:t>
            </a:r>
            <a:endParaRPr lang="zh-CN" altLang="en-US" sz="2000" dirty="0">
              <a:cs typeface="+mn-ea"/>
              <a:sym typeface="+mn-lt"/>
            </a:endParaRP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9C09782A-EE11-D2F6-1FDF-73D335F49D5C}"/>
              </a:ext>
            </a:extLst>
          </p:cNvPr>
          <p:cNvCxnSpPr>
            <a:cxnSpLocks/>
          </p:cNvCxnSpPr>
          <p:nvPr/>
        </p:nvCxnSpPr>
        <p:spPr>
          <a:xfrm>
            <a:off x="1066152" y="3682538"/>
            <a:ext cx="7837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00F8310E-2285-7CA6-4B66-937FCBC6DFC6}"/>
              </a:ext>
            </a:extLst>
          </p:cNvPr>
          <p:cNvSpPr txBox="1"/>
          <p:nvPr/>
        </p:nvSpPr>
        <p:spPr>
          <a:xfrm>
            <a:off x="964325" y="3868467"/>
            <a:ext cx="9900691" cy="199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報告學生 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: 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蔡明憲 資訊碩一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參考論文 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: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Generative Artificial Intelligence for Software Engineering—A Research Agenda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(2025)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AI-Driven Innovations in Software Engineering A Review of Current Practices and Future Directions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(2025)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Navigating the Complexity of Generative AI Adoption in Software Engineering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(2024)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E92E1C04-28FE-DBD9-2BB4-FD2913314B6E}"/>
              </a:ext>
            </a:extLst>
          </p:cNvPr>
          <p:cNvGrpSpPr/>
          <p:nvPr/>
        </p:nvGrpSpPr>
        <p:grpSpPr>
          <a:xfrm>
            <a:off x="9753600" y="2195097"/>
            <a:ext cx="1111416" cy="2434055"/>
            <a:chOff x="9448800" y="2089837"/>
            <a:chExt cx="1428750" cy="2731515"/>
          </a:xfrm>
        </p:grpSpPr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CD2FDF83-7FAA-ABE7-DF8E-05D5BBB99184}"/>
                </a:ext>
              </a:extLst>
            </p:cNvPr>
            <p:cNvCxnSpPr/>
            <p:nvPr/>
          </p:nvCxnSpPr>
          <p:spPr>
            <a:xfrm>
              <a:off x="9448800" y="2089837"/>
              <a:ext cx="1428750" cy="1249448"/>
            </a:xfrm>
            <a:prstGeom prst="line">
              <a:avLst/>
            </a:prstGeom>
            <a:ln w="130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EEE8557B-676E-74F5-62A6-79638EADAB1F}"/>
                </a:ext>
              </a:extLst>
            </p:cNvPr>
            <p:cNvCxnSpPr/>
            <p:nvPr/>
          </p:nvCxnSpPr>
          <p:spPr>
            <a:xfrm flipH="1">
              <a:off x="9467850" y="3237868"/>
              <a:ext cx="1409700" cy="1583484"/>
            </a:xfrm>
            <a:prstGeom prst="line">
              <a:avLst/>
            </a:prstGeom>
            <a:ln w="130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B8DBDEC1-A32C-89EB-C8F3-F176E0892761}"/>
              </a:ext>
            </a:extLst>
          </p:cNvPr>
          <p:cNvGrpSpPr/>
          <p:nvPr/>
        </p:nvGrpSpPr>
        <p:grpSpPr>
          <a:xfrm>
            <a:off x="0" y="530275"/>
            <a:ext cx="12192000" cy="381000"/>
            <a:chOff x="0" y="530275"/>
            <a:chExt cx="12192000" cy="381000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EBC157CB-4EBD-FA56-CFF9-8543314E7B03}"/>
                </a:ext>
              </a:extLst>
            </p:cNvPr>
            <p:cNvCxnSpPr/>
            <p:nvPr/>
          </p:nvCxnSpPr>
          <p:spPr>
            <a:xfrm>
              <a:off x="0" y="718840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0E48DACD-5E73-5824-67AB-8FD024A19266}"/>
                </a:ext>
              </a:extLst>
            </p:cNvPr>
            <p:cNvSpPr/>
            <p:nvPr/>
          </p:nvSpPr>
          <p:spPr>
            <a:xfrm rot="5400000">
              <a:off x="281152" y="556551"/>
              <a:ext cx="381000" cy="328448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95D21AA6-ACEC-53B0-95CD-851BE98B9B45}"/>
                </a:ext>
              </a:extLst>
            </p:cNvPr>
            <p:cNvSpPr/>
            <p:nvPr/>
          </p:nvSpPr>
          <p:spPr>
            <a:xfrm rot="5400000">
              <a:off x="609600" y="556551"/>
              <a:ext cx="381000" cy="328448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8990A1B1-615B-174F-570A-0775EE22C92F}"/>
              </a:ext>
            </a:extLst>
          </p:cNvPr>
          <p:cNvGrpSpPr/>
          <p:nvPr/>
        </p:nvGrpSpPr>
        <p:grpSpPr>
          <a:xfrm>
            <a:off x="0" y="6229350"/>
            <a:ext cx="12192000" cy="381000"/>
            <a:chOff x="0" y="6229350"/>
            <a:chExt cx="12192000" cy="381000"/>
          </a:xfrm>
        </p:grpSpPr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5AC29F08-554A-9227-9BF7-24CB4A6226F0}"/>
                </a:ext>
              </a:extLst>
            </p:cNvPr>
            <p:cNvCxnSpPr/>
            <p:nvPr/>
          </p:nvCxnSpPr>
          <p:spPr>
            <a:xfrm>
              <a:off x="0" y="6400800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1B556041-43A8-A89F-EE45-6794F6A71CFD}"/>
                </a:ext>
              </a:extLst>
            </p:cNvPr>
            <p:cNvGrpSpPr/>
            <p:nvPr/>
          </p:nvGrpSpPr>
          <p:grpSpPr>
            <a:xfrm rot="10800000">
              <a:off x="10865016" y="6229350"/>
              <a:ext cx="656896" cy="381000"/>
              <a:chOff x="10536568" y="6381752"/>
              <a:chExt cx="656896" cy="381000"/>
            </a:xfrm>
          </p:grpSpPr>
          <p:sp>
            <p:nvSpPr>
              <p:cNvPr id="71" name="等腰三角形 70">
                <a:extLst>
                  <a:ext uri="{FF2B5EF4-FFF2-40B4-BE49-F238E27FC236}">
                    <a16:creationId xmlns:a16="http://schemas.microsoft.com/office/drawing/2014/main" id="{A2FA1D41-41CB-EF1D-3F58-BAF59CCB4835}"/>
                  </a:ext>
                </a:extLst>
              </p:cNvPr>
              <p:cNvSpPr/>
              <p:nvPr/>
            </p:nvSpPr>
            <p:spPr>
              <a:xfrm rot="5400000">
                <a:off x="10510292" y="6408028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2" name="等腰三角形 71">
                <a:extLst>
                  <a:ext uri="{FF2B5EF4-FFF2-40B4-BE49-F238E27FC236}">
                    <a16:creationId xmlns:a16="http://schemas.microsoft.com/office/drawing/2014/main" id="{466431B8-6439-6DD8-BE0B-369C386CCD13}"/>
                  </a:ext>
                </a:extLst>
              </p:cNvPr>
              <p:cNvSpPr/>
              <p:nvPr/>
            </p:nvSpPr>
            <p:spPr>
              <a:xfrm rot="5400000">
                <a:off x="10838740" y="6408028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文本框 18">
            <a:extLst>
              <a:ext uri="{FF2B5EF4-FFF2-40B4-BE49-F238E27FC236}">
                <a16:creationId xmlns:a16="http://schemas.microsoft.com/office/drawing/2014/main" id="{57FA5A50-D987-50FF-DC51-859856DCC06C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1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5934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383">
        <p:fade/>
      </p:transition>
    </mc:Choice>
    <mc:Fallback xmlns="">
      <p:transition spd="med" advTm="7383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CF5EB-9483-AF2E-4C78-3934EEA12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664030EA-38E4-9800-7316-A136A83B86CA}"/>
              </a:ext>
            </a:extLst>
          </p:cNvPr>
          <p:cNvGrpSpPr/>
          <p:nvPr/>
        </p:nvGrpSpPr>
        <p:grpSpPr>
          <a:xfrm>
            <a:off x="0" y="391286"/>
            <a:ext cx="12192000" cy="381000"/>
            <a:chOff x="0" y="391286"/>
            <a:chExt cx="12192000" cy="3810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743E472-B089-17CE-4B4F-CF4E101BF944}"/>
                </a:ext>
              </a:extLst>
            </p:cNvPr>
            <p:cNvCxnSpPr/>
            <p:nvPr/>
          </p:nvCxnSpPr>
          <p:spPr>
            <a:xfrm>
              <a:off x="0" y="581786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C297F39-5494-BBDE-E995-B1B2152CC4E5}"/>
                </a:ext>
              </a:extLst>
            </p:cNvPr>
            <p:cNvGrpSpPr/>
            <p:nvPr/>
          </p:nvGrpSpPr>
          <p:grpSpPr>
            <a:xfrm rot="10800000">
              <a:off x="11060824" y="391286"/>
              <a:ext cx="656896" cy="381000"/>
              <a:chOff x="307428" y="393221"/>
              <a:chExt cx="656896" cy="381000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BE33CB2C-5A8C-CBFC-5DED-3C05481D4EDF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7D054DA0-D399-3442-D076-B1907F83E0AD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D08B2B13-B764-50EE-CB88-143E2E722598}"/>
              </a:ext>
            </a:extLst>
          </p:cNvPr>
          <p:cNvGrpSpPr/>
          <p:nvPr/>
        </p:nvGrpSpPr>
        <p:grpSpPr>
          <a:xfrm>
            <a:off x="470413" y="2571456"/>
            <a:ext cx="2461848" cy="3108960"/>
            <a:chOff x="470413" y="2571456"/>
            <a:chExt cx="2461848" cy="3108960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A9B6D46-F6C6-ADE7-A487-FC328C26D366}"/>
                </a:ext>
              </a:extLst>
            </p:cNvPr>
            <p:cNvGrpSpPr/>
            <p:nvPr/>
          </p:nvGrpSpPr>
          <p:grpSpPr>
            <a:xfrm>
              <a:off x="470413" y="2571456"/>
              <a:ext cx="2461847" cy="3108960"/>
              <a:chOff x="1427738" y="2571457"/>
              <a:chExt cx="2461847" cy="3108960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C9F3A93-72B0-58BC-4551-6AEA22E67F1E}"/>
                  </a:ext>
                </a:extLst>
              </p:cNvPr>
              <p:cNvSpPr/>
              <p:nvPr/>
            </p:nvSpPr>
            <p:spPr>
              <a:xfrm>
                <a:off x="1427738" y="2571457"/>
                <a:ext cx="2461847" cy="31089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等腰三角形 10">
                <a:extLst>
                  <a:ext uri="{FF2B5EF4-FFF2-40B4-BE49-F238E27FC236}">
                    <a16:creationId xmlns:a16="http://schemas.microsoft.com/office/drawing/2014/main" id="{22A831AA-2AC4-BE48-E599-45609143D460}"/>
                  </a:ext>
                </a:extLst>
              </p:cNvPr>
              <p:cNvSpPr/>
              <p:nvPr/>
            </p:nvSpPr>
            <p:spPr>
              <a:xfrm rot="10800000">
                <a:off x="2312477" y="2571457"/>
                <a:ext cx="688927" cy="40011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274A59C-F61F-5E4E-5CE1-20C515BE1E3C}"/>
                </a:ext>
              </a:extLst>
            </p:cNvPr>
            <p:cNvSpPr txBox="1"/>
            <p:nvPr/>
          </p:nvSpPr>
          <p:spPr>
            <a:xfrm>
              <a:off x="486941" y="3181225"/>
              <a:ext cx="24453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cs typeface="+mn-ea"/>
                  <a:sym typeface="+mn-lt"/>
                </a:rPr>
                <a:t>影響範圍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D537221-FC0F-CAFE-E510-B1DD23DA755D}"/>
                </a:ext>
              </a:extLst>
            </p:cNvPr>
            <p:cNvSpPr txBox="1"/>
            <p:nvPr/>
          </p:nvSpPr>
          <p:spPr>
            <a:xfrm>
              <a:off x="697723" y="3894653"/>
              <a:ext cx="2003785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600" dirty="0">
                  <a:cs typeface="+mn-ea"/>
                  <a:sym typeface="+mn-lt"/>
                </a:rPr>
                <a:t>AI </a:t>
              </a:r>
              <a:r>
                <a:rPr lang="zh-CN" altLang="en-US" sz="1600" dirty="0">
                  <a:cs typeface="+mn-ea"/>
                  <a:sym typeface="+mn-lt"/>
                </a:rPr>
                <a:t>介入軟體工程哪些活動？</a:t>
              </a:r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1BA1CF-2732-E5C2-1B47-97EC3A211AA6}"/>
              </a:ext>
            </a:extLst>
          </p:cNvPr>
          <p:cNvGrpSpPr/>
          <p:nvPr/>
        </p:nvGrpSpPr>
        <p:grpSpPr>
          <a:xfrm>
            <a:off x="6329963" y="2571456"/>
            <a:ext cx="2461848" cy="3108960"/>
            <a:chOff x="4847615" y="2571456"/>
            <a:chExt cx="2461848" cy="310896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3449F73-0FA2-ACF6-F28A-B3FED0D123A3}"/>
                </a:ext>
              </a:extLst>
            </p:cNvPr>
            <p:cNvGrpSpPr/>
            <p:nvPr/>
          </p:nvGrpSpPr>
          <p:grpSpPr>
            <a:xfrm>
              <a:off x="4847615" y="2571456"/>
              <a:ext cx="2461847" cy="3108960"/>
              <a:chOff x="4847614" y="2571456"/>
              <a:chExt cx="2461847" cy="3108960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6263079-F238-BDD5-1088-97D4822458E1}"/>
                  </a:ext>
                </a:extLst>
              </p:cNvPr>
              <p:cNvSpPr/>
              <p:nvPr/>
            </p:nvSpPr>
            <p:spPr>
              <a:xfrm>
                <a:off x="4847614" y="2571456"/>
                <a:ext cx="2461847" cy="31089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等腰三角形 13">
                <a:extLst>
                  <a:ext uri="{FF2B5EF4-FFF2-40B4-BE49-F238E27FC236}">
                    <a16:creationId xmlns:a16="http://schemas.microsoft.com/office/drawing/2014/main" id="{7E0B555F-B691-46D0-C41B-D73DDFEF2C29}"/>
                  </a:ext>
                </a:extLst>
              </p:cNvPr>
              <p:cNvSpPr/>
              <p:nvPr/>
            </p:nvSpPr>
            <p:spPr>
              <a:xfrm rot="10800000">
                <a:off x="5734073" y="2571456"/>
                <a:ext cx="688927" cy="40011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FFF5BC0-48C6-2A08-11A3-D8D9C332CC3F}"/>
                </a:ext>
              </a:extLst>
            </p:cNvPr>
            <p:cNvSpPr txBox="1"/>
            <p:nvPr/>
          </p:nvSpPr>
          <p:spPr>
            <a:xfrm>
              <a:off x="4867589" y="3181224"/>
              <a:ext cx="24418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cs typeface="+mn-ea"/>
                  <a:sym typeface="+mn-lt"/>
                </a:rPr>
                <a:t>效益與風險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09D493B8-FF49-5583-3A84-F05B1C55392C}"/>
                </a:ext>
              </a:extLst>
            </p:cNvPr>
            <p:cNvSpPr txBox="1"/>
            <p:nvPr/>
          </p:nvSpPr>
          <p:spPr>
            <a:xfrm>
              <a:off x="5076646" y="3894653"/>
              <a:ext cx="2003785" cy="115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TW" altLang="en-US" sz="1600" dirty="0">
                  <a:cs typeface="+mn-ea"/>
                  <a:sym typeface="+mn-lt"/>
                </a:rPr>
                <a:t>效率提升之外，品質</a:t>
              </a:r>
              <a:r>
                <a:rPr lang="en-US" altLang="zh-TW" sz="1600" dirty="0">
                  <a:cs typeface="+mn-ea"/>
                  <a:sym typeface="+mn-lt"/>
                </a:rPr>
                <a:t>/</a:t>
              </a:r>
              <a:r>
                <a:rPr lang="zh-TW" altLang="en-US" sz="1600" dirty="0">
                  <a:cs typeface="+mn-ea"/>
                  <a:sym typeface="+mn-lt"/>
                </a:rPr>
                <a:t>資安</a:t>
              </a:r>
              <a:r>
                <a:rPr lang="en-US" altLang="zh-TW" sz="1600" dirty="0">
                  <a:cs typeface="+mn-ea"/>
                  <a:sym typeface="+mn-lt"/>
                </a:rPr>
                <a:t>/</a:t>
              </a:r>
              <a:r>
                <a:rPr lang="zh-TW" altLang="en-US" sz="1600" dirty="0">
                  <a:cs typeface="+mn-ea"/>
                  <a:sym typeface="+mn-lt"/>
                </a:rPr>
                <a:t>合規的影響是什麼？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A967C7FB-5FC8-BA06-F47D-2DCF78F576AC}"/>
              </a:ext>
            </a:extLst>
          </p:cNvPr>
          <p:cNvGrpSpPr/>
          <p:nvPr/>
        </p:nvGrpSpPr>
        <p:grpSpPr>
          <a:xfrm>
            <a:off x="9259738" y="2571456"/>
            <a:ext cx="2461849" cy="3108960"/>
            <a:chOff x="9259738" y="2571456"/>
            <a:chExt cx="2461849" cy="3108960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F17EC194-509C-C9BA-940A-9E043BEAF9A2}"/>
                </a:ext>
              </a:extLst>
            </p:cNvPr>
            <p:cNvGrpSpPr/>
            <p:nvPr/>
          </p:nvGrpSpPr>
          <p:grpSpPr>
            <a:xfrm>
              <a:off x="9259740" y="2571456"/>
              <a:ext cx="2461847" cy="3108960"/>
              <a:chOff x="8340515" y="2571456"/>
              <a:chExt cx="2461847" cy="3108960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73D3B034-7215-A523-E70C-904152BAA63F}"/>
                  </a:ext>
                </a:extLst>
              </p:cNvPr>
              <p:cNvSpPr/>
              <p:nvPr/>
            </p:nvSpPr>
            <p:spPr>
              <a:xfrm>
                <a:off x="8340515" y="2571456"/>
                <a:ext cx="2461847" cy="31089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等腰三角形 16">
                <a:extLst>
                  <a:ext uri="{FF2B5EF4-FFF2-40B4-BE49-F238E27FC236}">
                    <a16:creationId xmlns:a16="http://schemas.microsoft.com/office/drawing/2014/main" id="{1931D49F-3913-B4EA-F477-ED8D9B26AF18}"/>
                  </a:ext>
                </a:extLst>
              </p:cNvPr>
              <p:cNvSpPr/>
              <p:nvPr/>
            </p:nvSpPr>
            <p:spPr>
              <a:xfrm rot="10800000">
                <a:off x="9226974" y="2571456"/>
                <a:ext cx="688927" cy="40011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973F49A-410D-A03D-B394-C98683D1011D}"/>
                </a:ext>
              </a:extLst>
            </p:cNvPr>
            <p:cNvSpPr txBox="1"/>
            <p:nvPr/>
          </p:nvSpPr>
          <p:spPr>
            <a:xfrm>
              <a:off x="9259738" y="3181224"/>
              <a:ext cx="24618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cs typeface="+mn-ea"/>
                  <a:sym typeface="+mn-lt"/>
                </a:rPr>
                <a:t>落地關鍵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26B9D97-B51D-3559-58E2-6F76164D235B}"/>
                </a:ext>
              </a:extLst>
            </p:cNvPr>
            <p:cNvSpPr txBox="1"/>
            <p:nvPr/>
          </p:nvSpPr>
          <p:spPr>
            <a:xfrm>
              <a:off x="9470123" y="3894653"/>
              <a:ext cx="2003785" cy="115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TW" sz="1600" dirty="0">
                  <a:cs typeface="+mn-ea"/>
                  <a:sym typeface="+mn-lt"/>
                </a:rPr>
                <a:t>AI </a:t>
              </a:r>
              <a:r>
                <a:rPr lang="zh-TW" altLang="en-US" sz="1600" dirty="0">
                  <a:cs typeface="+mn-ea"/>
                  <a:sym typeface="+mn-lt"/>
                </a:rPr>
                <a:t>要變成團隊能力，流程上需要補哪些機制？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2030765F-8F2D-3811-6FB0-16F3FA9947A1}"/>
              </a:ext>
            </a:extLst>
          </p:cNvPr>
          <p:cNvSpPr txBox="1"/>
          <p:nvPr/>
        </p:nvSpPr>
        <p:spPr>
          <a:xfrm>
            <a:off x="4002192" y="1191555"/>
            <a:ext cx="4187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cs typeface="+mn-ea"/>
                <a:sym typeface="+mn-lt"/>
              </a:rPr>
              <a:t>重點架構</a:t>
            </a:r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C07FF258-7447-B56E-ECF1-F314807330E0}"/>
              </a:ext>
            </a:extLst>
          </p:cNvPr>
          <p:cNvGrpSpPr/>
          <p:nvPr/>
        </p:nvGrpSpPr>
        <p:grpSpPr>
          <a:xfrm>
            <a:off x="3400188" y="2557485"/>
            <a:ext cx="2461848" cy="3108960"/>
            <a:chOff x="2355322" y="2557485"/>
            <a:chExt cx="2461848" cy="3108960"/>
          </a:xfrm>
        </p:grpSpPr>
        <p:grpSp>
          <p:nvGrpSpPr>
            <p:cNvPr id="25" name="组合 8">
              <a:extLst>
                <a:ext uri="{FF2B5EF4-FFF2-40B4-BE49-F238E27FC236}">
                  <a16:creationId xmlns:a16="http://schemas.microsoft.com/office/drawing/2014/main" id="{9D07A18E-7C5E-D6A7-F9F2-3799169B87F5}"/>
                </a:ext>
              </a:extLst>
            </p:cNvPr>
            <p:cNvGrpSpPr/>
            <p:nvPr/>
          </p:nvGrpSpPr>
          <p:grpSpPr>
            <a:xfrm>
              <a:off x="2355322" y="2557485"/>
              <a:ext cx="2461847" cy="3108960"/>
              <a:chOff x="1427738" y="2571457"/>
              <a:chExt cx="2461847" cy="3108960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47790FA9-E940-D96A-64A7-C4170FC6E0BC}"/>
                  </a:ext>
                </a:extLst>
              </p:cNvPr>
              <p:cNvSpPr/>
              <p:nvPr/>
            </p:nvSpPr>
            <p:spPr>
              <a:xfrm>
                <a:off x="1427738" y="2571457"/>
                <a:ext cx="2461847" cy="31089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等腰三角形 27">
                <a:extLst>
                  <a:ext uri="{FF2B5EF4-FFF2-40B4-BE49-F238E27FC236}">
                    <a16:creationId xmlns:a16="http://schemas.microsoft.com/office/drawing/2014/main" id="{61878183-3095-7EA6-7003-52F25859F610}"/>
                  </a:ext>
                </a:extLst>
              </p:cNvPr>
              <p:cNvSpPr/>
              <p:nvPr/>
            </p:nvSpPr>
            <p:spPr>
              <a:xfrm rot="10800000">
                <a:off x="2312477" y="2571457"/>
                <a:ext cx="688927" cy="40011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9" name="文本框 17">
              <a:extLst>
                <a:ext uri="{FF2B5EF4-FFF2-40B4-BE49-F238E27FC236}">
                  <a16:creationId xmlns:a16="http://schemas.microsoft.com/office/drawing/2014/main" id="{A78CEB04-4A0C-E14A-2FF8-A1C6EC82E3DD}"/>
                </a:ext>
              </a:extLst>
            </p:cNvPr>
            <p:cNvSpPr txBox="1"/>
            <p:nvPr/>
          </p:nvSpPr>
          <p:spPr>
            <a:xfrm>
              <a:off x="2371850" y="3167254"/>
              <a:ext cx="24453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cs typeface="+mn-ea"/>
                  <a:sym typeface="+mn-lt"/>
                </a:rPr>
                <a:t>現況證據</a:t>
              </a:r>
            </a:p>
          </p:txBody>
        </p:sp>
        <p:sp>
          <p:nvSpPr>
            <p:cNvPr id="30" name="文本框 18">
              <a:extLst>
                <a:ext uri="{FF2B5EF4-FFF2-40B4-BE49-F238E27FC236}">
                  <a16:creationId xmlns:a16="http://schemas.microsoft.com/office/drawing/2014/main" id="{6D6BBA6A-F7E1-E435-1538-83A4AFEA7EFC}"/>
                </a:ext>
              </a:extLst>
            </p:cNvPr>
            <p:cNvSpPr txBox="1"/>
            <p:nvPr/>
          </p:nvSpPr>
          <p:spPr>
            <a:xfrm>
              <a:off x="2582632" y="3880682"/>
              <a:ext cx="2003785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TW" altLang="en-US" sz="1600" dirty="0">
                  <a:cs typeface="+mn-ea"/>
                  <a:sym typeface="+mn-lt"/>
                </a:rPr>
                <a:t>實務上主要用在哪、好在哪、卡在哪？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35" name="文本框 18">
            <a:extLst>
              <a:ext uri="{FF2B5EF4-FFF2-40B4-BE49-F238E27FC236}">
                <a16:creationId xmlns:a16="http://schemas.microsoft.com/office/drawing/2014/main" id="{0340FAFE-C9EB-03F5-0DFE-E9E66C7AAEC5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2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5701591"/>
      </p:ext>
    </p:extLst>
  </p:cSld>
  <p:clrMapOvr>
    <a:masterClrMapping/>
  </p:clrMapOvr>
  <p:transition spd="slow" advTm="5442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BFEFD-A802-6944-F051-84284027E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圓形, 文字, 光碟, 標誌 的圖片&#10;&#10;AI 產生的內容可能不正確。">
            <a:extLst>
              <a:ext uri="{FF2B5EF4-FFF2-40B4-BE49-F238E27FC236}">
                <a16:creationId xmlns:a16="http://schemas.microsoft.com/office/drawing/2014/main" id="{250EB6F6-6CA0-51D2-38D4-A7FFF8AB6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75" t="23735" r="35375" b="23260"/>
          <a:stretch>
            <a:fillRect/>
          </a:stretch>
        </p:blipFill>
        <p:spPr>
          <a:xfrm>
            <a:off x="653737" y="1933961"/>
            <a:ext cx="4108215" cy="4187545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8A377D76-1ED7-D1C6-830D-21EB11705FF2}"/>
              </a:ext>
            </a:extLst>
          </p:cNvPr>
          <p:cNvGrpSpPr/>
          <p:nvPr/>
        </p:nvGrpSpPr>
        <p:grpSpPr>
          <a:xfrm>
            <a:off x="0" y="542592"/>
            <a:ext cx="12192000" cy="381000"/>
            <a:chOff x="0" y="391286"/>
            <a:chExt cx="12192000" cy="3810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F72743D5-D614-FD1D-3DD5-75093E16CBE4}"/>
                </a:ext>
              </a:extLst>
            </p:cNvPr>
            <p:cNvCxnSpPr/>
            <p:nvPr/>
          </p:nvCxnSpPr>
          <p:spPr>
            <a:xfrm>
              <a:off x="0" y="581786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AA3AC27-DACA-D59E-D6EB-F695E84C635A}"/>
                </a:ext>
              </a:extLst>
            </p:cNvPr>
            <p:cNvGrpSpPr/>
            <p:nvPr/>
          </p:nvGrpSpPr>
          <p:grpSpPr>
            <a:xfrm rot="10800000">
              <a:off x="11060824" y="391286"/>
              <a:ext cx="656896" cy="381000"/>
              <a:chOff x="307428" y="393221"/>
              <a:chExt cx="656896" cy="381000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A0D24542-AAA2-9AF0-5E24-8654667AAA4F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DF989C6D-4F9F-F24E-5C66-5DE40C3AD998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47EB399-A72C-105A-40FE-67D2FEF22F45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>
            <a:off x="5418456" y="2506198"/>
            <a:ext cx="0" cy="3260048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9DE4328-13DC-D38B-D18A-4B1496C485EA}"/>
              </a:ext>
            </a:extLst>
          </p:cNvPr>
          <p:cNvGrpSpPr/>
          <p:nvPr/>
        </p:nvGrpSpPr>
        <p:grpSpPr>
          <a:xfrm>
            <a:off x="5077369" y="1824025"/>
            <a:ext cx="682173" cy="682173"/>
            <a:chOff x="5950860" y="1911571"/>
            <a:chExt cx="682173" cy="682173"/>
          </a:xfrm>
          <a:solidFill>
            <a:schemeClr val="tx1"/>
          </a:solidFill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13CDB21-BA4B-DC9C-2F44-EB483100AFA8}"/>
                </a:ext>
              </a:extLst>
            </p:cNvPr>
            <p:cNvSpPr/>
            <p:nvPr/>
          </p:nvSpPr>
          <p:spPr>
            <a:xfrm>
              <a:off x="5950860" y="1911571"/>
              <a:ext cx="682173" cy="682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DB843570-DC49-24E8-735D-1C0DAC595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4754" y="2105460"/>
              <a:ext cx="294384" cy="294392"/>
            </a:xfrm>
            <a:prstGeom prst="rect">
              <a:avLst/>
            </a:prstGeom>
            <a:grpFill/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739801E-8523-2ABD-42C4-E273478D53E8}"/>
              </a:ext>
            </a:extLst>
          </p:cNvPr>
          <p:cNvGrpSpPr/>
          <p:nvPr/>
        </p:nvGrpSpPr>
        <p:grpSpPr>
          <a:xfrm>
            <a:off x="5077369" y="3795136"/>
            <a:ext cx="682173" cy="682173"/>
            <a:chOff x="5950860" y="3565689"/>
            <a:chExt cx="682173" cy="682173"/>
          </a:xfrm>
          <a:solidFill>
            <a:schemeClr val="tx1"/>
          </a:solidFill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78FE62F2-014E-3DF0-330F-F5A9CE2D96EC}"/>
                </a:ext>
              </a:extLst>
            </p:cNvPr>
            <p:cNvSpPr/>
            <p:nvPr/>
          </p:nvSpPr>
          <p:spPr>
            <a:xfrm>
              <a:off x="5950860" y="3565689"/>
              <a:ext cx="682173" cy="682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91A4FC44-B120-7E52-6B15-8AE13B19A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4754" y="3763859"/>
              <a:ext cx="294384" cy="294392"/>
            </a:xfrm>
            <a:prstGeom prst="rect">
              <a:avLst/>
            </a:prstGeom>
            <a:grpFill/>
          </p:spPr>
        </p:pic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F9624EA-BB71-446D-75BA-A08A70DBED2E}"/>
              </a:ext>
            </a:extLst>
          </p:cNvPr>
          <p:cNvGrpSpPr/>
          <p:nvPr/>
        </p:nvGrpSpPr>
        <p:grpSpPr>
          <a:xfrm>
            <a:off x="5077369" y="5766246"/>
            <a:ext cx="682173" cy="682173"/>
            <a:chOff x="5950860" y="5219807"/>
            <a:chExt cx="682173" cy="682173"/>
          </a:xfrm>
          <a:solidFill>
            <a:schemeClr val="tx1"/>
          </a:solidFill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56D7634E-3933-5691-B8E0-EF7798E061EB}"/>
                </a:ext>
              </a:extLst>
            </p:cNvPr>
            <p:cNvSpPr/>
            <p:nvPr/>
          </p:nvSpPr>
          <p:spPr>
            <a:xfrm>
              <a:off x="5950860" y="5219807"/>
              <a:ext cx="682173" cy="682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4028A92C-461D-56F4-2C8B-CE1C075F7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4754" y="5417975"/>
              <a:ext cx="294384" cy="294392"/>
            </a:xfrm>
            <a:prstGeom prst="rect">
              <a:avLst/>
            </a:prstGeom>
            <a:grpFill/>
          </p:spPr>
        </p:pic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27DC264A-AB69-67D5-9979-815F1D198D08}"/>
              </a:ext>
            </a:extLst>
          </p:cNvPr>
          <p:cNvSpPr txBox="1"/>
          <p:nvPr/>
        </p:nvSpPr>
        <p:spPr>
          <a:xfrm>
            <a:off x="5901223" y="1956016"/>
            <a:ext cx="629077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highlight>
                  <a:srgbClr val="EEB713"/>
                </a:highlight>
                <a:cs typeface="+mn-ea"/>
                <a:sym typeface="+mn-lt"/>
              </a:rPr>
              <a:t>需求</a:t>
            </a:r>
            <a:r>
              <a:rPr lang="zh-TW" altLang="en-US" sz="1600" dirty="0">
                <a:cs typeface="+mn-ea"/>
                <a:sym typeface="+mn-lt"/>
              </a:rPr>
              <a:t>：整理訪談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回饋、生成 </a:t>
            </a:r>
            <a:r>
              <a:rPr lang="en-US" altLang="zh-TW" sz="1600" dirty="0">
                <a:cs typeface="+mn-ea"/>
                <a:sym typeface="+mn-lt"/>
              </a:rPr>
              <a:t>user story/SRS </a:t>
            </a:r>
            <a:r>
              <a:rPr lang="zh-TW" altLang="en-US" sz="1600" dirty="0">
                <a:cs typeface="+mn-ea"/>
                <a:sym typeface="+mn-lt"/>
              </a:rPr>
              <a:t>草稿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FA5C04-5C3D-6906-A998-1B510D427DDC}"/>
              </a:ext>
            </a:extLst>
          </p:cNvPr>
          <p:cNvSpPr txBox="1"/>
          <p:nvPr/>
        </p:nvSpPr>
        <p:spPr>
          <a:xfrm>
            <a:off x="5901224" y="3530908"/>
            <a:ext cx="6290774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highlight>
                  <a:srgbClr val="B2252F"/>
                </a:highlight>
                <a:cs typeface="+mn-ea"/>
                <a:sym typeface="+mn-lt"/>
              </a:rPr>
              <a:t>實作</a:t>
            </a:r>
            <a:r>
              <a:rPr lang="zh-TW" altLang="en-US" sz="1600" dirty="0">
                <a:cs typeface="+mn-ea"/>
                <a:sym typeface="+mn-lt"/>
              </a:rPr>
              <a:t>：程式碼生成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補全、</a:t>
            </a:r>
            <a:r>
              <a:rPr lang="en-US" altLang="zh-TW" sz="1600" dirty="0">
                <a:cs typeface="+mn-ea"/>
                <a:sym typeface="+mn-lt"/>
              </a:rPr>
              <a:t>API </a:t>
            </a:r>
            <a:r>
              <a:rPr lang="zh-TW" altLang="en-US" sz="1600" dirty="0">
                <a:cs typeface="+mn-ea"/>
                <a:sym typeface="+mn-lt"/>
              </a:rPr>
              <a:t>推薦、註解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摘要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78784D5-B2B1-836D-356C-6909DDEC5821}"/>
              </a:ext>
            </a:extLst>
          </p:cNvPr>
          <p:cNvSpPr txBox="1"/>
          <p:nvPr/>
        </p:nvSpPr>
        <p:spPr>
          <a:xfrm>
            <a:off x="5901216" y="5893244"/>
            <a:ext cx="6290777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highlight>
                  <a:srgbClr val="099F8B"/>
                </a:highlight>
                <a:cs typeface="+mn-ea"/>
                <a:sym typeface="+mn-lt"/>
              </a:rPr>
              <a:t>維護</a:t>
            </a:r>
            <a:r>
              <a:rPr lang="zh-TW" altLang="en-US" sz="1600" dirty="0">
                <a:cs typeface="+mn-ea"/>
                <a:sym typeface="+mn-lt"/>
              </a:rPr>
              <a:t>：異常偵測（預警）、修補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重構建議、文件同步更新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" name="文本框 23">
            <a:extLst>
              <a:ext uri="{FF2B5EF4-FFF2-40B4-BE49-F238E27FC236}">
                <a16:creationId xmlns:a16="http://schemas.microsoft.com/office/drawing/2014/main" id="{B9AD44C3-6ED7-5F09-517E-C87A6EC9C0DF}"/>
              </a:ext>
            </a:extLst>
          </p:cNvPr>
          <p:cNvSpPr txBox="1"/>
          <p:nvPr/>
        </p:nvSpPr>
        <p:spPr>
          <a:xfrm>
            <a:off x="163117" y="1042993"/>
            <a:ext cx="6469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cs typeface="+mn-ea"/>
                <a:sym typeface="+mn-lt"/>
              </a:rPr>
              <a:t>AI </a:t>
            </a:r>
            <a:r>
              <a:rPr lang="zh-TW" altLang="en-US" sz="3200" dirty="0">
                <a:cs typeface="+mn-ea"/>
                <a:sym typeface="+mn-lt"/>
              </a:rPr>
              <a:t>介入軟體工程生命週期各階段</a:t>
            </a:r>
            <a:endParaRPr lang="zh-CN" altLang="en-US" sz="3200" dirty="0">
              <a:cs typeface="+mn-ea"/>
              <a:sym typeface="+mn-lt"/>
            </a:endParaRPr>
          </a:p>
        </p:txBody>
      </p:sp>
      <p:sp>
        <p:nvSpPr>
          <p:cNvPr id="3" name="文本框 21">
            <a:extLst>
              <a:ext uri="{FF2B5EF4-FFF2-40B4-BE49-F238E27FC236}">
                <a16:creationId xmlns:a16="http://schemas.microsoft.com/office/drawing/2014/main" id="{115123F3-BEC3-E7B6-387F-0B84FE998C90}"/>
              </a:ext>
            </a:extLst>
          </p:cNvPr>
          <p:cNvSpPr txBox="1"/>
          <p:nvPr/>
        </p:nvSpPr>
        <p:spPr>
          <a:xfrm>
            <a:off x="624559" y="6107333"/>
            <a:ext cx="4166572" cy="526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圖片來源</a:t>
            </a:r>
            <a:r>
              <a:rPr lang="en-US" altLang="zh-TW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:</a:t>
            </a:r>
            <a:r>
              <a:rPr lang="zh-TW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TW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https://arthvhanesa.hashnode.dev/the-6-stages-of-the-software-development-life-cycle-sdlc-explained</a:t>
            </a:r>
            <a:endParaRPr lang="en-US" altLang="zh-TW" sz="10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21">
            <a:extLst>
              <a:ext uri="{FF2B5EF4-FFF2-40B4-BE49-F238E27FC236}">
                <a16:creationId xmlns:a16="http://schemas.microsoft.com/office/drawing/2014/main" id="{B9A59D20-4AC0-2D32-AF87-0FB96FE76A0B}"/>
              </a:ext>
            </a:extLst>
          </p:cNvPr>
          <p:cNvSpPr txBox="1"/>
          <p:nvPr/>
        </p:nvSpPr>
        <p:spPr>
          <a:xfrm>
            <a:off x="5901223" y="2743462"/>
            <a:ext cx="629077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highlight>
                  <a:srgbClr val="F38200"/>
                </a:highlight>
                <a:cs typeface="+mn-ea"/>
                <a:sym typeface="+mn-lt"/>
              </a:rPr>
              <a:t>設計</a:t>
            </a:r>
            <a:r>
              <a:rPr lang="zh-TW" altLang="en-US" sz="1600" dirty="0">
                <a:cs typeface="+mn-ea"/>
                <a:sym typeface="+mn-lt"/>
              </a:rPr>
              <a:t>：</a:t>
            </a:r>
            <a:r>
              <a:rPr lang="en-US" altLang="zh-TW" sz="1600" dirty="0">
                <a:cs typeface="+mn-ea"/>
                <a:sym typeface="+mn-lt"/>
              </a:rPr>
              <a:t>UML/</a:t>
            </a:r>
            <a:r>
              <a:rPr lang="zh-TW" altLang="en-US" sz="1600" dirty="0">
                <a:cs typeface="+mn-ea"/>
                <a:sym typeface="+mn-lt"/>
              </a:rPr>
              <a:t>架構草圖生成、權衡分析（效能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擴展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安全）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7" name="文本框 22">
            <a:extLst>
              <a:ext uri="{FF2B5EF4-FFF2-40B4-BE49-F238E27FC236}">
                <a16:creationId xmlns:a16="http://schemas.microsoft.com/office/drawing/2014/main" id="{447D81E8-7972-473D-4845-8BBB21CBEBA6}"/>
              </a:ext>
            </a:extLst>
          </p:cNvPr>
          <p:cNvSpPr txBox="1"/>
          <p:nvPr/>
        </p:nvSpPr>
        <p:spPr>
          <a:xfrm>
            <a:off x="5901223" y="4318354"/>
            <a:ext cx="629077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highlight>
                  <a:srgbClr val="273E6F"/>
                </a:highlight>
                <a:cs typeface="+mn-ea"/>
                <a:sym typeface="+mn-lt"/>
              </a:rPr>
              <a:t>測試</a:t>
            </a:r>
            <a:r>
              <a:rPr lang="zh-TW" altLang="en-US" sz="1600" dirty="0">
                <a:cs typeface="+mn-ea"/>
                <a:sym typeface="+mn-lt"/>
              </a:rPr>
              <a:t>：測試案例生成、覆蓋補強、缺陷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高風險模組預測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5" name="文本框 23">
            <a:extLst>
              <a:ext uri="{FF2B5EF4-FFF2-40B4-BE49-F238E27FC236}">
                <a16:creationId xmlns:a16="http://schemas.microsoft.com/office/drawing/2014/main" id="{BAA037BD-18A3-8472-AA74-694C141A79D0}"/>
              </a:ext>
            </a:extLst>
          </p:cNvPr>
          <p:cNvSpPr txBox="1"/>
          <p:nvPr/>
        </p:nvSpPr>
        <p:spPr>
          <a:xfrm>
            <a:off x="5901223" y="5105800"/>
            <a:ext cx="6290777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highlight>
                  <a:srgbClr val="0094DA"/>
                </a:highlight>
                <a:cs typeface="+mn-ea"/>
                <a:sym typeface="+mn-lt"/>
              </a:rPr>
              <a:t>部屬</a:t>
            </a:r>
            <a:r>
              <a:rPr lang="zh-TW" altLang="en-US" sz="1600" dirty="0">
                <a:cs typeface="+mn-ea"/>
                <a:sym typeface="+mn-lt"/>
              </a:rPr>
              <a:t>：部署腳本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設定檔輔助、部署前檢查清單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風險提示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8" name="文本框 18">
            <a:extLst>
              <a:ext uri="{FF2B5EF4-FFF2-40B4-BE49-F238E27FC236}">
                <a16:creationId xmlns:a16="http://schemas.microsoft.com/office/drawing/2014/main" id="{311AE327-E233-E4F5-7E8F-1C0392D1FD15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3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396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6379"/>
    </mc:Choice>
    <mc:Fallback xmlns="">
      <p:transition advTm="637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E2CC4-34ED-D7DA-B089-28A945C62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4CAAA000-7BBC-BE60-1A66-31C6D392DDA5}"/>
              </a:ext>
            </a:extLst>
          </p:cNvPr>
          <p:cNvGrpSpPr/>
          <p:nvPr/>
        </p:nvGrpSpPr>
        <p:grpSpPr>
          <a:xfrm>
            <a:off x="0" y="542592"/>
            <a:ext cx="12192000" cy="381000"/>
            <a:chOff x="0" y="391286"/>
            <a:chExt cx="12192000" cy="3810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796D528D-FBF1-86C6-A464-48742283BF38}"/>
                </a:ext>
              </a:extLst>
            </p:cNvPr>
            <p:cNvCxnSpPr/>
            <p:nvPr/>
          </p:nvCxnSpPr>
          <p:spPr>
            <a:xfrm>
              <a:off x="0" y="581786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76B31E0-DE28-BE5B-27D7-06984FD3D75C}"/>
                </a:ext>
              </a:extLst>
            </p:cNvPr>
            <p:cNvGrpSpPr/>
            <p:nvPr/>
          </p:nvGrpSpPr>
          <p:grpSpPr>
            <a:xfrm rot="10800000">
              <a:off x="11060824" y="391286"/>
              <a:ext cx="656896" cy="381000"/>
              <a:chOff x="307428" y="393221"/>
              <a:chExt cx="656896" cy="381000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1C0EAAD7-1E83-0FEC-D779-4F9C51A2C13C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65BE83EA-D5D4-5AD8-6FE4-CE416E1E518D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文本框 23">
            <a:extLst>
              <a:ext uri="{FF2B5EF4-FFF2-40B4-BE49-F238E27FC236}">
                <a16:creationId xmlns:a16="http://schemas.microsoft.com/office/drawing/2014/main" id="{2CF7E52E-D602-59C4-D406-ADBF28B464A5}"/>
              </a:ext>
            </a:extLst>
          </p:cNvPr>
          <p:cNvSpPr txBox="1"/>
          <p:nvPr/>
        </p:nvSpPr>
        <p:spPr>
          <a:xfrm>
            <a:off x="4532785" y="1042993"/>
            <a:ext cx="6659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cs typeface="+mn-ea"/>
                <a:sym typeface="+mn-lt"/>
              </a:rPr>
              <a:t>AI </a:t>
            </a:r>
            <a:r>
              <a:rPr lang="zh-TW" altLang="en-US" sz="3200" dirty="0">
                <a:cs typeface="+mn-ea"/>
                <a:sym typeface="+mn-lt"/>
              </a:rPr>
              <a:t>在 </a:t>
            </a:r>
            <a:r>
              <a:rPr lang="en-US" altLang="zh-TW" sz="3200" dirty="0">
                <a:cs typeface="+mn-ea"/>
                <a:sym typeface="+mn-lt"/>
              </a:rPr>
              <a:t>SDLC </a:t>
            </a:r>
            <a:r>
              <a:rPr lang="zh-TW" altLang="en-US" sz="3200" dirty="0">
                <a:cs typeface="+mn-ea"/>
                <a:sym typeface="+mn-lt"/>
              </a:rPr>
              <a:t>的實務現況</a:t>
            </a:r>
            <a:endParaRPr lang="zh-CN" altLang="en-US" sz="3200" dirty="0">
              <a:cs typeface="+mn-ea"/>
              <a:sym typeface="+mn-lt"/>
            </a:endParaRPr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85AB7471-CA9F-3250-ECB2-4F3389809257}"/>
              </a:ext>
            </a:extLst>
          </p:cNvPr>
          <p:cNvGrpSpPr/>
          <p:nvPr/>
        </p:nvGrpSpPr>
        <p:grpSpPr>
          <a:xfrm>
            <a:off x="474280" y="803242"/>
            <a:ext cx="3667572" cy="5909289"/>
            <a:chOff x="618541" y="762083"/>
            <a:chExt cx="3667572" cy="5909289"/>
          </a:xfrm>
        </p:grpSpPr>
        <p:sp>
          <p:nvSpPr>
            <p:cNvPr id="10" name="文本框 17">
              <a:extLst>
                <a:ext uri="{FF2B5EF4-FFF2-40B4-BE49-F238E27FC236}">
                  <a16:creationId xmlns:a16="http://schemas.microsoft.com/office/drawing/2014/main" id="{5C8EF179-5F1E-6769-23D8-476F583708D2}"/>
                </a:ext>
              </a:extLst>
            </p:cNvPr>
            <p:cNvSpPr txBox="1"/>
            <p:nvPr/>
          </p:nvSpPr>
          <p:spPr>
            <a:xfrm>
              <a:off x="618541" y="6394373"/>
              <a:ext cx="36675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cs typeface="+mn-ea"/>
                  <a:sym typeface="+mn-lt"/>
                </a:rPr>
                <a:t>Figure 1. Analysis.</a:t>
              </a:r>
              <a:r>
                <a:rPr lang="zh-TW" altLang="en-US" sz="1200" dirty="0">
                  <a:cs typeface="+mn-ea"/>
                  <a:sym typeface="+mn-lt"/>
                </a:rPr>
                <a:t> </a:t>
              </a:r>
              <a:r>
                <a:rPr lang="en-US" altLang="zh-TW" sz="1200" dirty="0">
                  <a:solidFill>
                    <a:schemeClr val="bg1">
                      <a:lumMod val="65000"/>
                    </a:schemeClr>
                  </a:solidFill>
                  <a:cs typeface="+mn-ea"/>
                  <a:sym typeface="+mn-lt"/>
                </a:rPr>
                <a:t>(Paper B)</a:t>
              </a:r>
              <a:endParaRPr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2B665FE5-E613-FAAD-C08A-74ABCAAA9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8541" y="762083"/>
              <a:ext cx="3667572" cy="5557214"/>
            </a:xfrm>
            <a:prstGeom prst="rect">
              <a:avLst/>
            </a:prstGeom>
          </p:spPr>
        </p:pic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6804E3BB-8AD6-5F3C-54BF-031197E2AF7F}"/>
              </a:ext>
            </a:extLst>
          </p:cNvPr>
          <p:cNvSpPr/>
          <p:nvPr/>
        </p:nvSpPr>
        <p:spPr>
          <a:xfrm>
            <a:off x="6657974" y="1958342"/>
            <a:ext cx="4838701" cy="8953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5" name="文本框 10">
            <a:extLst>
              <a:ext uri="{FF2B5EF4-FFF2-40B4-BE49-F238E27FC236}">
                <a16:creationId xmlns:a16="http://schemas.microsoft.com/office/drawing/2014/main" id="{62053998-490C-8321-DAED-29AA646EB0B7}"/>
              </a:ext>
            </a:extLst>
          </p:cNvPr>
          <p:cNvSpPr txBox="1"/>
          <p:nvPr/>
        </p:nvSpPr>
        <p:spPr>
          <a:xfrm>
            <a:off x="7017511" y="2012256"/>
            <a:ext cx="4119627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Coding </a:t>
            </a:r>
            <a:r>
              <a:rPr lang="zh-TW" altLang="en-US" sz="1600" dirty="0">
                <a:cs typeface="+mn-ea"/>
                <a:sym typeface="+mn-lt"/>
              </a:rPr>
              <a:t>最高，其次 </a:t>
            </a:r>
            <a:r>
              <a:rPr lang="en-US" altLang="zh-TW" sz="1600" dirty="0">
                <a:cs typeface="+mn-ea"/>
                <a:sym typeface="+mn-lt"/>
              </a:rPr>
              <a:t>Testing</a:t>
            </a:r>
            <a:r>
              <a:rPr lang="zh-TW" altLang="en-US" sz="1600" dirty="0">
                <a:cs typeface="+mn-ea"/>
                <a:sym typeface="+mn-lt"/>
              </a:rPr>
              <a:t>；</a:t>
            </a:r>
            <a:br>
              <a:rPr lang="en-US" altLang="zh-TW" sz="1600" dirty="0">
                <a:cs typeface="+mn-ea"/>
                <a:sym typeface="+mn-lt"/>
              </a:rPr>
            </a:br>
            <a:r>
              <a:rPr lang="zh-TW" altLang="en-US" sz="1600" dirty="0">
                <a:cs typeface="+mn-ea"/>
                <a:sym typeface="+mn-lt"/>
              </a:rPr>
              <a:t>需求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設計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維護較低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51C29EA5-8E4D-AAD1-C0A3-81FB04083833}"/>
              </a:ext>
            </a:extLst>
          </p:cNvPr>
          <p:cNvSpPr/>
          <p:nvPr/>
        </p:nvSpPr>
        <p:spPr>
          <a:xfrm>
            <a:off x="4837583" y="2029862"/>
            <a:ext cx="1508760" cy="70485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cs typeface="+mn-ea"/>
              </a:rPr>
              <a:t>用 在 哪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DFE649E-66C0-72B1-9545-B26BF1575076}"/>
              </a:ext>
            </a:extLst>
          </p:cNvPr>
          <p:cNvSpPr/>
          <p:nvPr/>
        </p:nvSpPr>
        <p:spPr>
          <a:xfrm>
            <a:off x="6657974" y="3380885"/>
            <a:ext cx="4838701" cy="8953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文本框 14">
            <a:extLst>
              <a:ext uri="{FF2B5EF4-FFF2-40B4-BE49-F238E27FC236}">
                <a16:creationId xmlns:a16="http://schemas.microsoft.com/office/drawing/2014/main" id="{AB4CB55D-A777-9C9A-3143-C6A28863102A}"/>
              </a:ext>
            </a:extLst>
          </p:cNvPr>
          <p:cNvSpPr txBox="1"/>
          <p:nvPr/>
        </p:nvSpPr>
        <p:spPr>
          <a:xfrm>
            <a:off x="7017511" y="3434799"/>
            <a:ext cx="4119627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dirty="0">
                <a:cs typeface="+mn-ea"/>
                <a:sym typeface="+mn-lt"/>
              </a:rPr>
              <a:t>效率最明顯，其次程式碼品質；</a:t>
            </a:r>
            <a:br>
              <a:rPr lang="en-US" altLang="zh-TW" sz="1600" dirty="0">
                <a:cs typeface="+mn-ea"/>
                <a:sym typeface="+mn-lt"/>
              </a:rPr>
            </a:br>
            <a:r>
              <a:rPr lang="zh-TW" altLang="en-US" sz="1600" dirty="0">
                <a:cs typeface="+mn-ea"/>
                <a:sym typeface="+mn-lt"/>
              </a:rPr>
              <a:t>團隊協作相對有限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58D6CF09-F57D-D2BF-B746-C7D3B975D9C2}"/>
              </a:ext>
            </a:extLst>
          </p:cNvPr>
          <p:cNvSpPr/>
          <p:nvPr/>
        </p:nvSpPr>
        <p:spPr>
          <a:xfrm>
            <a:off x="4837583" y="3434799"/>
            <a:ext cx="1508760" cy="70485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cs typeface="+mn-ea"/>
              </a:rPr>
              <a:t>好 在 哪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B240836-FCB7-9CAA-78F5-675E4B93E00C}"/>
              </a:ext>
            </a:extLst>
          </p:cNvPr>
          <p:cNvSpPr/>
          <p:nvPr/>
        </p:nvSpPr>
        <p:spPr>
          <a:xfrm>
            <a:off x="6657974" y="4785823"/>
            <a:ext cx="4838701" cy="8953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文本框 18">
            <a:extLst>
              <a:ext uri="{FF2B5EF4-FFF2-40B4-BE49-F238E27FC236}">
                <a16:creationId xmlns:a16="http://schemas.microsoft.com/office/drawing/2014/main" id="{5354FD45-5C68-A64E-7DA3-BC5CC575AA9A}"/>
              </a:ext>
            </a:extLst>
          </p:cNvPr>
          <p:cNvSpPr txBox="1"/>
          <p:nvPr/>
        </p:nvSpPr>
        <p:spPr>
          <a:xfrm>
            <a:off x="7017511" y="4839737"/>
            <a:ext cx="4119627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dirty="0">
                <a:cs typeface="+mn-ea"/>
                <a:sym typeface="+mn-lt"/>
              </a:rPr>
              <a:t>缺乏培訓最常見，其次成本與整合問題；</a:t>
            </a:r>
            <a:br>
              <a:rPr lang="en-US" altLang="zh-TW" sz="1600" dirty="0">
                <a:cs typeface="+mn-ea"/>
                <a:sym typeface="+mn-lt"/>
              </a:rPr>
            </a:br>
            <a:r>
              <a:rPr lang="zh-TW" altLang="en-US" sz="1600" dirty="0">
                <a:cs typeface="+mn-ea"/>
                <a:sym typeface="+mn-lt"/>
              </a:rPr>
              <a:t>信任仍是門檻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745D5ADC-DF52-158D-0B76-751555EC12AB}"/>
              </a:ext>
            </a:extLst>
          </p:cNvPr>
          <p:cNvSpPr/>
          <p:nvPr/>
        </p:nvSpPr>
        <p:spPr>
          <a:xfrm>
            <a:off x="4837583" y="4857343"/>
            <a:ext cx="1508760" cy="70485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cs typeface="+mn-ea"/>
              </a:rPr>
              <a:t>卡 在 哪</a:t>
            </a:r>
          </a:p>
        </p:txBody>
      </p:sp>
      <p:sp>
        <p:nvSpPr>
          <p:cNvPr id="54" name="文本框 24">
            <a:extLst>
              <a:ext uri="{FF2B5EF4-FFF2-40B4-BE49-F238E27FC236}">
                <a16:creationId xmlns:a16="http://schemas.microsoft.com/office/drawing/2014/main" id="{E20755C6-7677-4F55-11F7-7C3F6DB71F1D}"/>
              </a:ext>
            </a:extLst>
          </p:cNvPr>
          <p:cNvSpPr txBox="1"/>
          <p:nvPr/>
        </p:nvSpPr>
        <p:spPr>
          <a:xfrm>
            <a:off x="4532785" y="6096978"/>
            <a:ext cx="7352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en-US" sz="1600" b="1" dirty="0">
                <a:cs typeface="+mn-ea"/>
                <a:sym typeface="+mn-lt"/>
              </a:rPr>
              <a:t>整體結論</a:t>
            </a:r>
            <a:r>
              <a:rPr lang="zh-TW" altLang="en-US" sz="1600" dirty="0">
                <a:cs typeface="+mn-ea"/>
                <a:sym typeface="+mn-lt"/>
              </a:rPr>
              <a:t>：工具能提升個人效率，但要擴散到全流程仍需訓練與整合機制。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55" name="文本框 18">
            <a:extLst>
              <a:ext uri="{FF2B5EF4-FFF2-40B4-BE49-F238E27FC236}">
                <a16:creationId xmlns:a16="http://schemas.microsoft.com/office/drawing/2014/main" id="{415E6CEE-DADE-6C2C-7289-237196F3599E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4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557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6379"/>
    </mc:Choice>
    <mc:Fallback xmlns="">
      <p:transition advTm="637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4AEC4-6F98-F3C6-4E30-D763A457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D6E23F21-9808-CFF2-06D7-E5C8AE40EF22}"/>
              </a:ext>
            </a:extLst>
          </p:cNvPr>
          <p:cNvGrpSpPr/>
          <p:nvPr/>
        </p:nvGrpSpPr>
        <p:grpSpPr>
          <a:xfrm>
            <a:off x="0" y="391286"/>
            <a:ext cx="12192000" cy="381000"/>
            <a:chOff x="0" y="391286"/>
            <a:chExt cx="12192000" cy="3810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CEA7C9D-D14D-57FF-04E8-CE790EA6A470}"/>
                </a:ext>
              </a:extLst>
            </p:cNvPr>
            <p:cNvCxnSpPr/>
            <p:nvPr/>
          </p:nvCxnSpPr>
          <p:spPr>
            <a:xfrm>
              <a:off x="0" y="581786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18CD836-B3B6-90A3-E588-27F44C241162}"/>
                </a:ext>
              </a:extLst>
            </p:cNvPr>
            <p:cNvGrpSpPr/>
            <p:nvPr/>
          </p:nvGrpSpPr>
          <p:grpSpPr>
            <a:xfrm rot="10800000">
              <a:off x="11060824" y="391286"/>
              <a:ext cx="656896" cy="381000"/>
              <a:chOff x="307428" y="393221"/>
              <a:chExt cx="656896" cy="381000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E6CECAE1-5A0F-A4F0-2CB3-0F61497A14AF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7F366379-0928-C467-2829-68E958EB6202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C679A137-6427-958C-BA0D-935CACDD9E00}"/>
              </a:ext>
            </a:extLst>
          </p:cNvPr>
          <p:cNvSpPr txBox="1"/>
          <p:nvPr/>
        </p:nvSpPr>
        <p:spPr>
          <a:xfrm>
            <a:off x="486587" y="998332"/>
            <a:ext cx="9972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cs typeface="+mn-ea"/>
                <a:sym typeface="+mn-lt"/>
              </a:rPr>
              <a:t>生成式 </a:t>
            </a:r>
            <a:r>
              <a:rPr lang="en-US" altLang="zh-TW" sz="3200" dirty="0">
                <a:cs typeface="+mn-ea"/>
                <a:sym typeface="+mn-lt"/>
              </a:rPr>
              <a:t>AI × </a:t>
            </a:r>
            <a:r>
              <a:rPr lang="zh-TW" altLang="en-US" sz="3200" dirty="0">
                <a:cs typeface="+mn-ea"/>
                <a:sym typeface="+mn-lt"/>
              </a:rPr>
              <a:t>軟體工程：研究議題全景</a:t>
            </a:r>
            <a:endParaRPr lang="zh-CN" altLang="en-US" sz="3200" dirty="0"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3B677AE-F2CB-F752-94B1-A922A5D6CBBE}"/>
              </a:ext>
            </a:extLst>
          </p:cNvPr>
          <p:cNvSpPr txBox="1"/>
          <p:nvPr/>
        </p:nvSpPr>
        <p:spPr>
          <a:xfrm>
            <a:off x="340742" y="2427805"/>
            <a:ext cx="4984046" cy="2972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cs typeface="+mn-ea"/>
                <a:sym typeface="+mn-lt"/>
              </a:rPr>
              <a:t>研究整理出 </a:t>
            </a:r>
            <a:r>
              <a:rPr lang="en-US" altLang="zh-TW" sz="1600" b="1" dirty="0">
                <a:cs typeface="+mn-ea"/>
                <a:sym typeface="+mn-lt"/>
              </a:rPr>
              <a:t>78 </a:t>
            </a:r>
            <a:r>
              <a:rPr lang="zh-TW" altLang="en-US" sz="1600" b="1" dirty="0">
                <a:cs typeface="+mn-ea"/>
                <a:sym typeface="+mn-lt"/>
              </a:rPr>
              <a:t>個開放研究問題</a:t>
            </a:r>
            <a:r>
              <a:rPr lang="zh-TW" altLang="en-US" sz="1600" dirty="0">
                <a:cs typeface="+mn-ea"/>
                <a:sym typeface="+mn-lt"/>
              </a:rPr>
              <a:t>，歸納成</a:t>
            </a:r>
            <a:r>
              <a:rPr lang="zh-TW" altLang="en-US" sz="1600" b="1" dirty="0">
                <a:cs typeface="+mn-ea"/>
                <a:sym typeface="+mn-lt"/>
              </a:rPr>
              <a:t> </a:t>
            </a:r>
            <a:r>
              <a:rPr lang="en-US" altLang="zh-TW" sz="1600" b="1" dirty="0">
                <a:cs typeface="+mn-ea"/>
                <a:sym typeface="+mn-lt"/>
              </a:rPr>
              <a:t>11 </a:t>
            </a:r>
            <a:r>
              <a:rPr lang="zh-TW" altLang="en-US" sz="1600" b="1" dirty="0">
                <a:cs typeface="+mn-ea"/>
                <a:sym typeface="+mn-lt"/>
              </a:rPr>
              <a:t>個議題領域（</a:t>
            </a:r>
            <a:r>
              <a:rPr lang="en-US" altLang="zh-TW" sz="1600" b="1" dirty="0">
                <a:cs typeface="+mn-ea"/>
                <a:sym typeface="+mn-lt"/>
              </a:rPr>
              <a:t>tracks</a:t>
            </a:r>
            <a:r>
              <a:rPr lang="zh-TW" altLang="en-US" sz="1600" b="1" dirty="0">
                <a:cs typeface="+mn-ea"/>
                <a:sym typeface="+mn-lt"/>
              </a:rPr>
              <a:t>）</a:t>
            </a:r>
            <a:endParaRPr lang="en-US" altLang="zh-TW" sz="1600" b="1" dirty="0"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cs typeface="+mn-ea"/>
                <a:sym typeface="+mn-lt"/>
              </a:rPr>
              <a:t>這 </a:t>
            </a:r>
            <a:r>
              <a:rPr lang="en-US" altLang="zh-TW" sz="1600" dirty="0">
                <a:cs typeface="+mn-ea"/>
                <a:sym typeface="+mn-lt"/>
              </a:rPr>
              <a:t>11 </a:t>
            </a:r>
            <a:r>
              <a:rPr lang="zh-TW" altLang="en-US" sz="1600" dirty="0">
                <a:cs typeface="+mn-ea"/>
                <a:sym typeface="+mn-lt"/>
              </a:rPr>
              <a:t>個領域</a:t>
            </a:r>
            <a:r>
              <a:rPr lang="zh-TW" altLang="en-US" sz="1600" b="1" dirty="0">
                <a:cs typeface="+mn-ea"/>
                <a:sym typeface="+mn-lt"/>
              </a:rPr>
              <a:t>涵蓋生命週期各階段</a:t>
            </a:r>
            <a:r>
              <a:rPr lang="zh-TW" altLang="en-US" sz="1600" dirty="0">
                <a:cs typeface="+mn-ea"/>
                <a:sym typeface="+mn-lt"/>
              </a:rPr>
              <a:t>，也包含流程、管理、能力、教育、法律倫理等面向</a:t>
            </a:r>
            <a:endParaRPr lang="en-US" altLang="zh-TW" sz="1600" dirty="0"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cs typeface="+mn-ea"/>
                <a:sym typeface="+mn-lt"/>
              </a:rPr>
              <a:t>含意：</a:t>
            </a:r>
            <a:r>
              <a:rPr lang="en-US" altLang="zh-TW" sz="1600" dirty="0">
                <a:cs typeface="+mn-ea"/>
                <a:sym typeface="+mn-lt"/>
              </a:rPr>
              <a:t>AI </a:t>
            </a:r>
            <a:r>
              <a:rPr lang="zh-TW" altLang="en-US" sz="1600" dirty="0">
                <a:cs typeface="+mn-ea"/>
                <a:sym typeface="+mn-lt"/>
              </a:rPr>
              <a:t>對軟體工程的影響是「跨階段、跨角色、跨治理」的長期變化</a:t>
            </a:r>
            <a:endParaRPr lang="en-US" altLang="zh-CN" sz="1600" dirty="0">
              <a:cs typeface="+mn-ea"/>
              <a:sym typeface="+mn-lt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A074C567-DA19-CA98-729E-3F85DFA44192}"/>
              </a:ext>
            </a:extLst>
          </p:cNvPr>
          <p:cNvGrpSpPr/>
          <p:nvPr/>
        </p:nvGrpSpPr>
        <p:grpSpPr>
          <a:xfrm>
            <a:off x="5643502" y="2427805"/>
            <a:ext cx="6207756" cy="3734109"/>
            <a:chOff x="5675586" y="2526063"/>
            <a:chExt cx="6207756" cy="3734109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373DA14-5B71-7371-5A45-AD01ED227A5A}"/>
                </a:ext>
              </a:extLst>
            </p:cNvPr>
            <p:cNvSpPr txBox="1"/>
            <p:nvPr/>
          </p:nvSpPr>
          <p:spPr>
            <a:xfrm>
              <a:off x="6069423" y="5983173"/>
              <a:ext cx="54200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cs typeface="+mn-ea"/>
                  <a:sym typeface="+mn-lt"/>
                </a:rPr>
                <a:t>Figure 4: Research Agenda on GenAI for Software Engineering</a:t>
              </a:r>
              <a:r>
                <a:rPr lang="zh-TW" altLang="en-US" sz="1200" dirty="0">
                  <a:cs typeface="+mn-ea"/>
                  <a:sym typeface="+mn-lt"/>
                </a:rPr>
                <a:t> </a:t>
              </a:r>
              <a:r>
                <a:rPr lang="en-US" altLang="zh-TW" sz="1200" dirty="0">
                  <a:solidFill>
                    <a:schemeClr val="bg1">
                      <a:lumMod val="65000"/>
                    </a:schemeClr>
                  </a:solidFill>
                  <a:cs typeface="+mn-ea"/>
                  <a:sym typeface="+mn-lt"/>
                </a:rPr>
                <a:t>(Paper A)</a:t>
              </a:r>
              <a:endParaRPr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B7EF007C-9880-1192-6820-8931E15F2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75586" y="2526063"/>
              <a:ext cx="6207756" cy="3351180"/>
            </a:xfrm>
            <a:prstGeom prst="rect">
              <a:avLst/>
            </a:prstGeom>
          </p:spPr>
        </p:pic>
      </p:grpSp>
      <p:sp>
        <p:nvSpPr>
          <p:cNvPr id="2" name="文本框 18">
            <a:extLst>
              <a:ext uri="{FF2B5EF4-FFF2-40B4-BE49-F238E27FC236}">
                <a16:creationId xmlns:a16="http://schemas.microsoft.com/office/drawing/2014/main" id="{E20A4608-57DB-91F6-3EE9-7832925A5ED7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5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2770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535C5-1EE8-CEDC-79C8-97315224F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522F5F7A-5E7B-EE4B-A859-DC5DE9CFE6C9}"/>
              </a:ext>
            </a:extLst>
          </p:cNvPr>
          <p:cNvGrpSpPr/>
          <p:nvPr/>
        </p:nvGrpSpPr>
        <p:grpSpPr>
          <a:xfrm>
            <a:off x="0" y="391286"/>
            <a:ext cx="12192000" cy="381000"/>
            <a:chOff x="0" y="391286"/>
            <a:chExt cx="12192000" cy="3810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B208C2F-38DF-6BB6-461E-4FDE41033087}"/>
                </a:ext>
              </a:extLst>
            </p:cNvPr>
            <p:cNvCxnSpPr/>
            <p:nvPr/>
          </p:nvCxnSpPr>
          <p:spPr>
            <a:xfrm>
              <a:off x="0" y="581786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710A797-8EB2-CE31-A24F-E56B206C80CB}"/>
                </a:ext>
              </a:extLst>
            </p:cNvPr>
            <p:cNvGrpSpPr/>
            <p:nvPr/>
          </p:nvGrpSpPr>
          <p:grpSpPr>
            <a:xfrm rot="10800000">
              <a:off x="11060824" y="391286"/>
              <a:ext cx="656896" cy="381000"/>
              <a:chOff x="307428" y="393221"/>
              <a:chExt cx="656896" cy="381000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A257732D-EBFF-11DD-2BC8-08F0B95E72B2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87985E72-D8BB-14FC-27B5-AAA4C183F091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879D2429-4085-2F20-D48A-0DEA2FDE0F5A}"/>
              </a:ext>
            </a:extLst>
          </p:cNvPr>
          <p:cNvSpPr txBox="1"/>
          <p:nvPr/>
        </p:nvSpPr>
        <p:spPr>
          <a:xfrm>
            <a:off x="1087959" y="998331"/>
            <a:ext cx="9972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cs typeface="+mn-ea"/>
                <a:sym typeface="+mn-lt"/>
              </a:rPr>
              <a:t>軟體工程實踐的演變</a:t>
            </a:r>
            <a:endParaRPr lang="zh-CN" altLang="en-US" sz="3200" dirty="0"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BCDFBAA-EE72-35C5-4E7F-DFF87D83C6C8}"/>
              </a:ext>
            </a:extLst>
          </p:cNvPr>
          <p:cNvSpPr txBox="1"/>
          <p:nvPr/>
        </p:nvSpPr>
        <p:spPr>
          <a:xfrm>
            <a:off x="357679" y="2471706"/>
            <a:ext cx="4985427" cy="3603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cs typeface="+mn-ea"/>
                <a:sym typeface="+mn-lt"/>
              </a:rPr>
              <a:t>流程導向 → 智慧導向</a:t>
            </a:r>
            <a:r>
              <a:rPr lang="zh-TW" altLang="en-US" sz="1600" dirty="0">
                <a:cs typeface="+mn-ea"/>
                <a:sym typeface="+mn-lt"/>
              </a:rPr>
              <a:t>：</a:t>
            </a:r>
            <a:br>
              <a:rPr lang="en-US" altLang="zh-TW" sz="1600" dirty="0">
                <a:cs typeface="+mn-ea"/>
                <a:sym typeface="+mn-lt"/>
              </a:rPr>
            </a:br>
            <a:r>
              <a:rPr lang="zh-TW" altLang="en-US" sz="1600" dirty="0">
                <a:cs typeface="+mn-ea"/>
                <a:sym typeface="+mn-lt"/>
              </a:rPr>
              <a:t>從管理流程 → </a:t>
            </a:r>
            <a:r>
              <a:rPr lang="en-US" altLang="zh-TW" sz="1600" dirty="0">
                <a:cs typeface="+mn-ea"/>
                <a:sym typeface="+mn-lt"/>
              </a:rPr>
              <a:t>AI </a:t>
            </a:r>
            <a:r>
              <a:rPr lang="zh-TW" altLang="en-US" sz="1600" dirty="0">
                <a:cs typeface="+mn-ea"/>
                <a:sym typeface="+mn-lt"/>
              </a:rPr>
              <a:t>參與決策與產出</a:t>
            </a:r>
            <a:endParaRPr lang="en-US" altLang="zh-TW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cs typeface="+mn-ea"/>
                <a:sym typeface="+mn-lt"/>
              </a:rPr>
              <a:t>自動化升級</a:t>
            </a:r>
            <a:r>
              <a:rPr lang="zh-TW" altLang="en-US" sz="1600" dirty="0">
                <a:cs typeface="+mn-ea"/>
                <a:sym typeface="+mn-lt"/>
              </a:rPr>
              <a:t>：</a:t>
            </a:r>
            <a:br>
              <a:rPr lang="en-US" altLang="zh-TW" sz="1600" dirty="0">
                <a:cs typeface="+mn-ea"/>
                <a:sym typeface="+mn-lt"/>
              </a:rPr>
            </a:br>
            <a:r>
              <a:rPr lang="zh-TW" altLang="en-US" sz="1600" dirty="0">
                <a:cs typeface="+mn-ea"/>
                <a:sym typeface="+mn-lt"/>
              </a:rPr>
              <a:t>從 </a:t>
            </a:r>
            <a:r>
              <a:rPr lang="en-US" altLang="zh-TW" sz="1600" dirty="0">
                <a:cs typeface="+mn-ea"/>
                <a:sym typeface="+mn-lt"/>
              </a:rPr>
              <a:t>CI/CD</a:t>
            </a:r>
            <a:r>
              <a:rPr lang="zh-TW" altLang="en-US" sz="1600" dirty="0">
                <a:cs typeface="+mn-ea"/>
                <a:sym typeface="+mn-lt"/>
              </a:rPr>
              <a:t> 的測試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部署自動化 → 延伸到程式生成與維護</a:t>
            </a:r>
            <a:endParaRPr lang="en-US" altLang="zh-TW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cs typeface="+mn-ea"/>
                <a:sym typeface="+mn-lt"/>
              </a:rPr>
              <a:t>角色轉變</a:t>
            </a:r>
            <a:r>
              <a:rPr lang="zh-TW" altLang="en-US" sz="1600" dirty="0">
                <a:cs typeface="+mn-ea"/>
                <a:sym typeface="+mn-lt"/>
              </a:rPr>
              <a:t>：</a:t>
            </a:r>
            <a:br>
              <a:rPr lang="en-US" altLang="zh-TW" sz="1600" dirty="0">
                <a:cs typeface="+mn-ea"/>
                <a:sym typeface="+mn-lt"/>
              </a:rPr>
            </a:br>
            <a:r>
              <a:rPr lang="zh-TW" altLang="en-US" sz="1600" dirty="0">
                <a:cs typeface="+mn-ea"/>
                <a:sym typeface="+mn-lt"/>
              </a:rPr>
              <a:t>工程師從「編碼者」→ 更重視審查、整合與把關</a:t>
            </a:r>
            <a:endParaRPr lang="en-US" altLang="zh-TW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cs typeface="+mn-ea"/>
                <a:sym typeface="+mn-lt"/>
              </a:rPr>
              <a:t>維護進化</a:t>
            </a:r>
            <a:r>
              <a:rPr lang="zh-TW" altLang="en-US" sz="1600" dirty="0">
                <a:cs typeface="+mn-ea"/>
                <a:sym typeface="+mn-lt"/>
              </a:rPr>
              <a:t>：</a:t>
            </a:r>
            <a:br>
              <a:rPr lang="en-US" altLang="zh-TW" sz="1600" dirty="0">
                <a:cs typeface="+mn-ea"/>
                <a:sym typeface="+mn-lt"/>
              </a:rPr>
            </a:br>
            <a:r>
              <a:rPr lang="zh-TW" altLang="en-US" sz="1600" dirty="0">
                <a:cs typeface="+mn-ea"/>
                <a:sym typeface="+mn-lt"/>
              </a:rPr>
              <a:t>從被動修補 → 更預測、更多自適應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2" name="文本框 54">
            <a:extLst>
              <a:ext uri="{FF2B5EF4-FFF2-40B4-BE49-F238E27FC236}">
                <a16:creationId xmlns:a16="http://schemas.microsoft.com/office/drawing/2014/main" id="{993C198D-DE46-75DC-4446-D06B1B5F28D0}"/>
              </a:ext>
            </a:extLst>
          </p:cNvPr>
          <p:cNvSpPr txBox="1"/>
          <p:nvPr/>
        </p:nvSpPr>
        <p:spPr>
          <a:xfrm>
            <a:off x="2976710" y="1646564"/>
            <a:ext cx="6238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cs typeface="+mn-ea"/>
                <a:sym typeface="+mn-lt"/>
              </a:rPr>
              <a:t>軟體工程一路在追求 </a:t>
            </a:r>
            <a:r>
              <a:rPr lang="zh-TW" altLang="en-US" sz="2000" b="1" dirty="0">
                <a:cs typeface="+mn-ea"/>
                <a:sym typeface="+mn-lt"/>
              </a:rPr>
              <a:t>更快交付</a:t>
            </a:r>
            <a:r>
              <a:rPr lang="zh-TW" altLang="en-US" sz="2000" dirty="0">
                <a:cs typeface="+mn-ea"/>
                <a:sym typeface="+mn-lt"/>
              </a:rPr>
              <a:t> 與 </a:t>
            </a:r>
            <a:r>
              <a:rPr lang="zh-TW" altLang="en-US" sz="2000" b="1" dirty="0">
                <a:cs typeface="+mn-ea"/>
                <a:sym typeface="+mn-lt"/>
              </a:rPr>
              <a:t>更多自動化</a:t>
            </a:r>
            <a:endParaRPr lang="zh-CN" altLang="en-US" sz="2000" b="1" dirty="0">
              <a:cs typeface="+mn-ea"/>
              <a:sym typeface="+mn-lt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AB1A1DC-B527-89C0-CE6B-900C922EF4EA}"/>
              </a:ext>
            </a:extLst>
          </p:cNvPr>
          <p:cNvGrpSpPr/>
          <p:nvPr/>
        </p:nvGrpSpPr>
        <p:grpSpPr>
          <a:xfrm>
            <a:off x="5236426" y="2436601"/>
            <a:ext cx="6786389" cy="3592216"/>
            <a:chOff x="5550418" y="3851519"/>
            <a:chExt cx="6786389" cy="3592216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74CC4F8-29E1-E698-8C42-09F24E9C387D}"/>
                </a:ext>
              </a:extLst>
            </p:cNvPr>
            <p:cNvSpPr txBox="1"/>
            <p:nvPr/>
          </p:nvSpPr>
          <p:spPr>
            <a:xfrm>
              <a:off x="5550419" y="3851519"/>
              <a:ext cx="54200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Table 1. Evolution of Software Engineering Practices.</a:t>
              </a:r>
              <a:r>
                <a:rPr lang="zh-TW" altLang="en-US" sz="1200" dirty="0">
                  <a:cs typeface="+mn-ea"/>
                  <a:sym typeface="+mn-lt"/>
                </a:rPr>
                <a:t> </a:t>
              </a:r>
              <a:r>
                <a:rPr lang="en-US" altLang="zh-TW" sz="1200" dirty="0">
                  <a:solidFill>
                    <a:schemeClr val="bg1">
                      <a:lumMod val="65000"/>
                    </a:schemeClr>
                  </a:solidFill>
                  <a:cs typeface="+mn-ea"/>
                  <a:sym typeface="+mn-lt"/>
                </a:rPr>
                <a:t>(Paper B)</a:t>
              </a:r>
              <a:endParaRPr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B67EDA8B-C496-A4B4-E290-8865482A7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1847"/>
            <a:stretch>
              <a:fillRect/>
            </a:stretch>
          </p:blipFill>
          <p:spPr>
            <a:xfrm>
              <a:off x="5550418" y="4128516"/>
              <a:ext cx="6786389" cy="3315219"/>
            </a:xfrm>
            <a:prstGeom prst="rect">
              <a:avLst/>
            </a:prstGeom>
          </p:spPr>
        </p:pic>
      </p:grpSp>
      <p:sp>
        <p:nvSpPr>
          <p:cNvPr id="3" name="文本框 18">
            <a:extLst>
              <a:ext uri="{FF2B5EF4-FFF2-40B4-BE49-F238E27FC236}">
                <a16:creationId xmlns:a16="http://schemas.microsoft.com/office/drawing/2014/main" id="{C9F10555-8C16-2EC2-2B03-6321D4AF8908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6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2194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C907F-BB7C-1651-681C-CEFC50F4E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9ECFDD7-3DDB-55DF-857B-34F0694F1D43}"/>
              </a:ext>
            </a:extLst>
          </p:cNvPr>
          <p:cNvSpPr txBox="1"/>
          <p:nvPr/>
        </p:nvSpPr>
        <p:spPr>
          <a:xfrm>
            <a:off x="7357615" y="2693671"/>
            <a:ext cx="4141360" cy="3234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減少編碼時間</a:t>
            </a:r>
            <a:r>
              <a:rPr lang="zh-TW" altLang="en-US" sz="16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：</a:t>
            </a:r>
            <a:br>
              <a:rPr lang="en-US" altLang="zh-TW" sz="16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</a:br>
            <a:r>
              <a:rPr lang="zh-TW" altLang="en-US" sz="16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共識最高 → 個人效率提升最明顯</a:t>
            </a:r>
            <a:endParaRPr lang="en-US" altLang="zh-TW" sz="1600" dirty="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程式碼品質提升</a:t>
            </a:r>
            <a:r>
              <a:rPr lang="zh-TW" altLang="en-US" sz="16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：</a:t>
            </a:r>
            <a:br>
              <a:rPr lang="en-US" altLang="zh-TW" sz="16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</a:br>
            <a:r>
              <a:rPr lang="zh-TW" altLang="en-US" sz="16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多數認同有幫助，但略低於速度</a:t>
            </a:r>
            <a:endParaRPr lang="en-US" altLang="zh-TW" sz="1600" dirty="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團隊協作提升</a:t>
            </a:r>
            <a:r>
              <a:rPr lang="zh-TW" altLang="en-US" sz="16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：</a:t>
            </a:r>
            <a:br>
              <a:rPr lang="en-US" altLang="zh-TW" sz="16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</a:br>
            <a:r>
              <a:rPr lang="zh-TW" altLang="en-US" sz="16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相對有限 → 仍偏個人生產力工具</a:t>
            </a:r>
            <a:endParaRPr lang="en-US" altLang="zh-TW" sz="1600" dirty="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技能發展挑戰</a:t>
            </a:r>
            <a:r>
              <a:rPr lang="zh-TW" altLang="en-US" sz="16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：</a:t>
            </a:r>
            <a:br>
              <a:rPr lang="en-US" altLang="zh-TW" sz="16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</a:br>
            <a:r>
              <a:rPr lang="zh-TW" altLang="en-US" sz="16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負向指標偏高 → 訓練與落地仍是瓶頸</a:t>
            </a:r>
            <a:endParaRPr lang="zh-CN" altLang="en-US" sz="1600" dirty="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B73D1B-D0A4-3AE5-7F54-9404BAC89EA5}"/>
              </a:ext>
            </a:extLst>
          </p:cNvPr>
          <p:cNvSpPr txBox="1"/>
          <p:nvPr/>
        </p:nvSpPr>
        <p:spPr>
          <a:xfrm>
            <a:off x="7224006" y="1560975"/>
            <a:ext cx="44085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rPr>
              <a:t>AI </a:t>
            </a:r>
            <a:r>
              <a:rPr lang="zh-CN" altLang="en-US" sz="3200" dirty="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rPr>
              <a:t>工具影響的四個指標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6DC1AA0-523B-6DF7-3CE3-2ED9949EBE46}"/>
              </a:ext>
            </a:extLst>
          </p:cNvPr>
          <p:cNvCxnSpPr/>
          <p:nvPr/>
        </p:nvCxnSpPr>
        <p:spPr>
          <a:xfrm>
            <a:off x="7467556" y="2419710"/>
            <a:ext cx="3077029" cy="0"/>
          </a:xfrm>
          <a:prstGeom prst="line">
            <a:avLst/>
          </a:prstGeom>
          <a:ln w="793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F0ABFEA-5E1A-3B35-72EF-D6E497FF4655}"/>
              </a:ext>
            </a:extLst>
          </p:cNvPr>
          <p:cNvGrpSpPr/>
          <p:nvPr/>
        </p:nvGrpSpPr>
        <p:grpSpPr>
          <a:xfrm>
            <a:off x="0" y="550926"/>
            <a:ext cx="12192000" cy="381000"/>
            <a:chOff x="0" y="391286"/>
            <a:chExt cx="12192000" cy="381000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D162E3CB-2C24-977C-9734-55F74E15CAD3}"/>
                </a:ext>
              </a:extLst>
            </p:cNvPr>
            <p:cNvCxnSpPr/>
            <p:nvPr/>
          </p:nvCxnSpPr>
          <p:spPr>
            <a:xfrm>
              <a:off x="0" y="581786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0ACB7F5-6DF2-6BA5-8518-0B1286C934A0}"/>
                </a:ext>
              </a:extLst>
            </p:cNvPr>
            <p:cNvGrpSpPr/>
            <p:nvPr/>
          </p:nvGrpSpPr>
          <p:grpSpPr>
            <a:xfrm rot="10800000">
              <a:off x="11060824" y="391286"/>
              <a:ext cx="656896" cy="381000"/>
              <a:chOff x="307428" y="393221"/>
              <a:chExt cx="656896" cy="381000"/>
            </a:xfrm>
          </p:grpSpPr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92E55F1A-330A-9DDD-D111-23CD7DBFEC50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等腰三角形 10">
                <a:extLst>
                  <a:ext uri="{FF2B5EF4-FFF2-40B4-BE49-F238E27FC236}">
                    <a16:creationId xmlns:a16="http://schemas.microsoft.com/office/drawing/2014/main" id="{122919D7-BF97-F9D2-52B2-F7EB16446214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9D4DFA20-A045-AA37-5FF3-9B3E2B28F585}"/>
              </a:ext>
            </a:extLst>
          </p:cNvPr>
          <p:cNvGrpSpPr/>
          <p:nvPr/>
        </p:nvGrpSpPr>
        <p:grpSpPr>
          <a:xfrm>
            <a:off x="180228" y="1560975"/>
            <a:ext cx="6903067" cy="4153208"/>
            <a:chOff x="225948" y="1352696"/>
            <a:chExt cx="6903067" cy="4153208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8D228720-70AF-E1BE-968A-3AEC323EF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5948" y="1352696"/>
              <a:ext cx="6903067" cy="3809710"/>
            </a:xfrm>
            <a:prstGeom prst="rect">
              <a:avLst/>
            </a:prstGeom>
          </p:spPr>
        </p:pic>
        <p:sp>
          <p:nvSpPr>
            <p:cNvPr id="15" name="文本框 17">
              <a:extLst>
                <a:ext uri="{FF2B5EF4-FFF2-40B4-BE49-F238E27FC236}">
                  <a16:creationId xmlns:a16="http://schemas.microsoft.com/office/drawing/2014/main" id="{0A8F7425-54C1-664E-71F8-68A1E350AB48}"/>
                </a:ext>
              </a:extLst>
            </p:cNvPr>
            <p:cNvSpPr txBox="1"/>
            <p:nvPr/>
          </p:nvSpPr>
          <p:spPr>
            <a:xfrm>
              <a:off x="225948" y="5228905"/>
              <a:ext cx="69030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cs typeface="+mn-ea"/>
                  <a:sym typeface="+mn-lt"/>
                </a:rPr>
                <a:t>Figure 2. Key metrics evaluated in this study.</a:t>
              </a:r>
              <a:r>
                <a:rPr lang="zh-TW" altLang="en-US" sz="1200" dirty="0">
                  <a:cs typeface="+mn-ea"/>
                  <a:sym typeface="+mn-lt"/>
                </a:rPr>
                <a:t> </a:t>
              </a:r>
              <a:r>
                <a:rPr lang="en-US" altLang="zh-TW" sz="1200" dirty="0">
                  <a:solidFill>
                    <a:schemeClr val="bg1">
                      <a:lumMod val="65000"/>
                    </a:schemeClr>
                  </a:solidFill>
                  <a:cs typeface="+mn-ea"/>
                  <a:sym typeface="+mn-lt"/>
                </a:rPr>
                <a:t>(Paper B)</a:t>
              </a:r>
              <a:endParaRPr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8" name="文本框 18">
            <a:extLst>
              <a:ext uri="{FF2B5EF4-FFF2-40B4-BE49-F238E27FC236}">
                <a16:creationId xmlns:a16="http://schemas.microsoft.com/office/drawing/2014/main" id="{57AE22CD-6C8E-5D7D-D771-4AB7CA6CEA33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7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640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222"/>
    </mc:Choice>
    <mc:Fallback xmlns="">
      <p:transition advTm="422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680A8-73D6-999F-A1BC-8E40C244B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DCFACC26-A8EF-B07C-498C-DAC479D3EF3E}"/>
              </a:ext>
            </a:extLst>
          </p:cNvPr>
          <p:cNvGrpSpPr/>
          <p:nvPr/>
        </p:nvGrpSpPr>
        <p:grpSpPr>
          <a:xfrm>
            <a:off x="0" y="542592"/>
            <a:ext cx="12192000" cy="381000"/>
            <a:chOff x="0" y="391286"/>
            <a:chExt cx="12192000" cy="3810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210D709-ACBA-E5FF-333D-D0DC0D4E6297}"/>
                </a:ext>
              </a:extLst>
            </p:cNvPr>
            <p:cNvCxnSpPr/>
            <p:nvPr/>
          </p:nvCxnSpPr>
          <p:spPr>
            <a:xfrm>
              <a:off x="0" y="581786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12FD7B0-5116-AB88-CF07-5E73FC3C9250}"/>
                </a:ext>
              </a:extLst>
            </p:cNvPr>
            <p:cNvGrpSpPr/>
            <p:nvPr/>
          </p:nvGrpSpPr>
          <p:grpSpPr>
            <a:xfrm rot="10800000">
              <a:off x="11060824" y="391286"/>
              <a:ext cx="656896" cy="381000"/>
              <a:chOff x="307428" y="393221"/>
              <a:chExt cx="656896" cy="381000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0185AE06-A355-F7AA-E40D-6EF00FEE2738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F440D392-D37A-BC33-40E1-71FEDA04EABA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文本框 23">
            <a:extLst>
              <a:ext uri="{FF2B5EF4-FFF2-40B4-BE49-F238E27FC236}">
                <a16:creationId xmlns:a16="http://schemas.microsoft.com/office/drawing/2014/main" id="{D629C142-5FE6-6FAE-DFCF-87C2B7D7C933}"/>
              </a:ext>
            </a:extLst>
          </p:cNvPr>
          <p:cNvSpPr txBox="1"/>
          <p:nvPr/>
        </p:nvSpPr>
        <p:spPr>
          <a:xfrm>
            <a:off x="2766455" y="1042993"/>
            <a:ext cx="6659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AI </a:t>
            </a:r>
            <a:r>
              <a:rPr lang="zh-TW" altLang="en-US" sz="3200" dirty="0"/>
              <a:t>整合到軟體工程：三大挑戰</a:t>
            </a:r>
            <a:endParaRPr lang="zh-CN" altLang="en-US" sz="3200" dirty="0">
              <a:cs typeface="+mn-ea"/>
              <a:sym typeface="+mn-lt"/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8BBE27A7-ED59-0EC0-9474-6A3E1F8FA936}"/>
              </a:ext>
            </a:extLst>
          </p:cNvPr>
          <p:cNvGrpSpPr/>
          <p:nvPr/>
        </p:nvGrpSpPr>
        <p:grpSpPr>
          <a:xfrm>
            <a:off x="265584" y="1974093"/>
            <a:ext cx="7345359" cy="3705225"/>
            <a:chOff x="4532784" y="1984302"/>
            <a:chExt cx="7345359" cy="3705225"/>
          </a:xfrm>
        </p:grpSpPr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335D4866-40A0-F6A3-4E47-0D5296B1D2C7}"/>
                </a:ext>
              </a:extLst>
            </p:cNvPr>
            <p:cNvGrpSpPr/>
            <p:nvPr/>
          </p:nvGrpSpPr>
          <p:grpSpPr>
            <a:xfrm>
              <a:off x="4532785" y="1984302"/>
              <a:ext cx="7345355" cy="895350"/>
              <a:chOff x="4532785" y="1984302"/>
              <a:chExt cx="7345355" cy="895350"/>
            </a:xfrm>
          </p:grpSpPr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21B6DDB6-0672-CDD0-51AB-CE0C261EFCC0}"/>
                  </a:ext>
                </a:extLst>
              </p:cNvPr>
              <p:cNvGrpSpPr/>
              <p:nvPr/>
            </p:nvGrpSpPr>
            <p:grpSpPr>
              <a:xfrm>
                <a:off x="6513596" y="1984302"/>
                <a:ext cx="5364544" cy="895350"/>
                <a:chOff x="6353176" y="1984302"/>
                <a:chExt cx="5364544" cy="895350"/>
              </a:xfrm>
            </p:grpSpPr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A93678AB-41EA-8D70-2836-4B7E308C4489}"/>
                    </a:ext>
                  </a:extLst>
                </p:cNvPr>
                <p:cNvSpPr/>
                <p:nvPr/>
              </p:nvSpPr>
              <p:spPr>
                <a:xfrm>
                  <a:off x="6353176" y="1984302"/>
                  <a:ext cx="5364544" cy="89535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文本框 10">
                  <a:extLst>
                    <a:ext uri="{FF2B5EF4-FFF2-40B4-BE49-F238E27FC236}">
                      <a16:creationId xmlns:a16="http://schemas.microsoft.com/office/drawing/2014/main" id="{A080C754-3168-3709-E4D5-109C694787DB}"/>
                    </a:ext>
                  </a:extLst>
                </p:cNvPr>
                <p:cNvSpPr txBox="1"/>
                <p:nvPr/>
              </p:nvSpPr>
              <p:spPr>
                <a:xfrm>
                  <a:off x="6460752" y="2099771"/>
                  <a:ext cx="5149392" cy="664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zh-TW" altLang="en-US" sz="1600" dirty="0">
                      <a:cs typeface="+mn-ea"/>
                      <a:sym typeface="+mn-lt"/>
                    </a:rPr>
                    <a:t>資料品質</a:t>
                  </a:r>
                  <a:r>
                    <a:rPr lang="en-US" altLang="zh-TW" sz="1600" dirty="0">
                      <a:cs typeface="+mn-ea"/>
                      <a:sym typeface="+mn-lt"/>
                    </a:rPr>
                    <a:t>/</a:t>
                  </a:r>
                  <a:r>
                    <a:rPr lang="zh-TW" altLang="en-US" sz="1600" dirty="0">
                      <a:cs typeface="+mn-ea"/>
                      <a:sym typeface="+mn-lt"/>
                    </a:rPr>
                    <a:t>可用性不足（雜訊、不完整、隱私限制）</a:t>
                  </a:r>
                  <a:endParaRPr lang="en-US" altLang="zh-TW" sz="1600" dirty="0">
                    <a:cs typeface="+mn-ea"/>
                    <a:sym typeface="+mn-lt"/>
                  </a:endParaRP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zh-TW" altLang="en-US" sz="1600" dirty="0">
                      <a:cs typeface="+mn-ea"/>
                      <a:sym typeface="+mn-lt"/>
                    </a:rPr>
                    <a:t>與既有工具鏈</a:t>
                  </a:r>
                  <a:r>
                    <a:rPr lang="en-US" altLang="zh-TW" sz="1600" dirty="0">
                      <a:cs typeface="+mn-ea"/>
                      <a:sym typeface="+mn-lt"/>
                    </a:rPr>
                    <a:t>/</a:t>
                  </a:r>
                  <a:r>
                    <a:rPr lang="zh-TW" altLang="en-US" sz="1600" dirty="0">
                      <a:cs typeface="+mn-ea"/>
                      <a:sym typeface="+mn-lt"/>
                    </a:rPr>
                    <a:t>舊系統整合困難（相容性、流程干擾）</a:t>
                  </a:r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4" name="矩形: 圓角 43">
                <a:extLst>
                  <a:ext uri="{FF2B5EF4-FFF2-40B4-BE49-F238E27FC236}">
                    <a16:creationId xmlns:a16="http://schemas.microsoft.com/office/drawing/2014/main" id="{0FC25A21-5AF5-D150-2889-41757F28599A}"/>
                  </a:ext>
                </a:extLst>
              </p:cNvPr>
              <p:cNvSpPr/>
              <p:nvPr/>
            </p:nvSpPr>
            <p:spPr>
              <a:xfrm>
                <a:off x="4532785" y="2079552"/>
                <a:ext cx="1820390" cy="704850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b="1" dirty="0">
                    <a:cs typeface="+mn-ea"/>
                  </a:rPr>
                  <a:t>技 術 挑 戰</a:t>
                </a:r>
              </a:p>
            </p:txBody>
          </p:sp>
        </p:grp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2423CC5F-3084-AC9E-5A0E-A095E6240A3F}"/>
                </a:ext>
              </a:extLst>
            </p:cNvPr>
            <p:cNvGrpSpPr/>
            <p:nvPr/>
          </p:nvGrpSpPr>
          <p:grpSpPr>
            <a:xfrm>
              <a:off x="4532784" y="3389239"/>
              <a:ext cx="7345359" cy="895350"/>
              <a:chOff x="4532784" y="3389239"/>
              <a:chExt cx="7345359" cy="895350"/>
            </a:xfrm>
          </p:grpSpPr>
          <p:grpSp>
            <p:nvGrpSpPr>
              <p:cNvPr id="13" name="群組 12">
                <a:extLst>
                  <a:ext uri="{FF2B5EF4-FFF2-40B4-BE49-F238E27FC236}">
                    <a16:creationId xmlns:a16="http://schemas.microsoft.com/office/drawing/2014/main" id="{F27B3AE1-007D-6107-C803-84B507899EAE}"/>
                  </a:ext>
                </a:extLst>
              </p:cNvPr>
              <p:cNvGrpSpPr/>
              <p:nvPr/>
            </p:nvGrpSpPr>
            <p:grpSpPr>
              <a:xfrm>
                <a:off x="6513598" y="3389239"/>
                <a:ext cx="5364545" cy="895350"/>
                <a:chOff x="6353178" y="3389239"/>
                <a:chExt cx="5364545" cy="895350"/>
              </a:xfrm>
            </p:grpSpPr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F6277C01-81C6-181D-4203-79DD5122A646}"/>
                    </a:ext>
                  </a:extLst>
                </p:cNvPr>
                <p:cNvSpPr/>
                <p:nvPr/>
              </p:nvSpPr>
              <p:spPr>
                <a:xfrm>
                  <a:off x="6353178" y="3389239"/>
                  <a:ext cx="5364545" cy="89535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文本框 14">
                  <a:extLst>
                    <a:ext uri="{FF2B5EF4-FFF2-40B4-BE49-F238E27FC236}">
                      <a16:creationId xmlns:a16="http://schemas.microsoft.com/office/drawing/2014/main" id="{76BDB746-E578-6CB5-E546-906D2DF9450C}"/>
                    </a:ext>
                  </a:extLst>
                </p:cNvPr>
                <p:cNvSpPr txBox="1"/>
                <p:nvPr/>
              </p:nvSpPr>
              <p:spPr>
                <a:xfrm>
                  <a:off x="6461111" y="3504708"/>
                  <a:ext cx="5148678" cy="664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zh-TW" altLang="en-US" sz="1600" dirty="0">
                      <a:cs typeface="+mn-ea"/>
                      <a:sym typeface="+mn-lt"/>
                    </a:rPr>
                    <a:t>偏見風險（模型承接資料偏差）</a:t>
                  </a:r>
                  <a:endParaRPr lang="en-US" altLang="zh-TW" sz="1600" dirty="0">
                    <a:cs typeface="+mn-ea"/>
                    <a:sym typeface="+mn-lt"/>
                  </a:endParaRP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zh-TW" altLang="en-US" sz="1600" dirty="0">
                      <a:cs typeface="+mn-ea"/>
                      <a:sym typeface="+mn-lt"/>
                    </a:rPr>
                    <a:t>智財</a:t>
                  </a:r>
                  <a:r>
                    <a:rPr lang="en-US" altLang="zh-TW" sz="1600" dirty="0">
                      <a:cs typeface="+mn-ea"/>
                      <a:sym typeface="+mn-lt"/>
                    </a:rPr>
                    <a:t>/</a:t>
                  </a:r>
                  <a:r>
                    <a:rPr lang="zh-TW" altLang="en-US" sz="1600" dirty="0">
                      <a:cs typeface="+mn-ea"/>
                      <a:sym typeface="+mn-lt"/>
                    </a:rPr>
                    <a:t>授權風險（訓練資料、生成程式碼的權利歸屬）</a:t>
                  </a:r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5" name="矩形: 圓角 44">
                <a:extLst>
                  <a:ext uri="{FF2B5EF4-FFF2-40B4-BE49-F238E27FC236}">
                    <a16:creationId xmlns:a16="http://schemas.microsoft.com/office/drawing/2014/main" id="{35AEE31E-0E2F-6B5A-3F26-4D43636DCC2E}"/>
                  </a:ext>
                </a:extLst>
              </p:cNvPr>
              <p:cNvSpPr/>
              <p:nvPr/>
            </p:nvSpPr>
            <p:spPr>
              <a:xfrm>
                <a:off x="4532784" y="3484489"/>
                <a:ext cx="1820391" cy="704850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b="1" dirty="0">
                    <a:cs typeface="+mn-ea"/>
                  </a:rPr>
                  <a:t>倫 理 </a:t>
                </a:r>
                <a:r>
                  <a:rPr lang="en-US" altLang="zh-TW" b="1" dirty="0">
                    <a:cs typeface="+mn-ea"/>
                  </a:rPr>
                  <a:t>&amp;</a:t>
                </a:r>
                <a:r>
                  <a:rPr lang="zh-TW" altLang="en-US" b="1" dirty="0">
                    <a:cs typeface="+mn-ea"/>
                  </a:rPr>
                  <a:t> 法 律</a:t>
                </a:r>
              </a:p>
            </p:txBody>
          </p:sp>
        </p:grpSp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74BB098C-4665-0720-FFF2-EBE0B9454BBE}"/>
                </a:ext>
              </a:extLst>
            </p:cNvPr>
            <p:cNvGrpSpPr/>
            <p:nvPr/>
          </p:nvGrpSpPr>
          <p:grpSpPr>
            <a:xfrm>
              <a:off x="4532785" y="4794177"/>
              <a:ext cx="7345358" cy="895350"/>
              <a:chOff x="4532785" y="4794177"/>
              <a:chExt cx="7345358" cy="895350"/>
            </a:xfrm>
          </p:grpSpPr>
          <p:grpSp>
            <p:nvGrpSpPr>
              <p:cNvPr id="12" name="群組 11">
                <a:extLst>
                  <a:ext uri="{FF2B5EF4-FFF2-40B4-BE49-F238E27FC236}">
                    <a16:creationId xmlns:a16="http://schemas.microsoft.com/office/drawing/2014/main" id="{740B2218-2855-E5F0-AAAA-4C61BC1F439D}"/>
                  </a:ext>
                </a:extLst>
              </p:cNvPr>
              <p:cNvGrpSpPr/>
              <p:nvPr/>
            </p:nvGrpSpPr>
            <p:grpSpPr>
              <a:xfrm>
                <a:off x="6513598" y="4794177"/>
                <a:ext cx="5364545" cy="895350"/>
                <a:chOff x="6353178" y="4794177"/>
                <a:chExt cx="5364545" cy="895350"/>
              </a:xfrm>
            </p:grpSpPr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C776D54-8B27-4E42-94D7-4F44D0EC58B0}"/>
                    </a:ext>
                  </a:extLst>
                </p:cNvPr>
                <p:cNvSpPr/>
                <p:nvPr/>
              </p:nvSpPr>
              <p:spPr>
                <a:xfrm>
                  <a:off x="6353178" y="4794177"/>
                  <a:ext cx="5364545" cy="89535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文本框 18">
                  <a:extLst>
                    <a:ext uri="{FF2B5EF4-FFF2-40B4-BE49-F238E27FC236}">
                      <a16:creationId xmlns:a16="http://schemas.microsoft.com/office/drawing/2014/main" id="{E000000E-3C85-E5BD-AB98-0A7EC26A38C3}"/>
                    </a:ext>
                  </a:extLst>
                </p:cNvPr>
                <p:cNvSpPr txBox="1"/>
                <p:nvPr/>
              </p:nvSpPr>
              <p:spPr>
                <a:xfrm>
                  <a:off x="6460932" y="4909646"/>
                  <a:ext cx="5149037" cy="664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zh-TW" altLang="en-US" sz="1600" dirty="0">
                      <a:cs typeface="+mn-ea"/>
                      <a:sym typeface="+mn-lt"/>
                    </a:rPr>
                    <a:t>技能落差（</a:t>
                  </a:r>
                  <a:r>
                    <a:rPr lang="en-US" altLang="zh-TW" sz="1600" dirty="0">
                      <a:cs typeface="+mn-ea"/>
                      <a:sym typeface="+mn-lt"/>
                    </a:rPr>
                    <a:t>AI </a:t>
                  </a:r>
                  <a:r>
                    <a:rPr lang="zh-TW" altLang="en-US" sz="1600" dirty="0">
                      <a:cs typeface="+mn-ea"/>
                      <a:sym typeface="+mn-lt"/>
                    </a:rPr>
                    <a:t>素養、評估與驗證能力不足）</a:t>
                  </a:r>
                  <a:endParaRPr lang="en-US" altLang="zh-TW" sz="1600" dirty="0">
                    <a:cs typeface="+mn-ea"/>
                    <a:sym typeface="+mn-lt"/>
                  </a:endParaRP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zh-TW" altLang="en-US" sz="1600" dirty="0">
                      <a:cs typeface="+mn-ea"/>
                      <a:sym typeface="+mn-lt"/>
                    </a:rPr>
                    <a:t>抗拒改變（信任不足、工作焦慮、習慣既有流程）</a:t>
                  </a:r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6" name="矩形: 圓角 45">
                <a:extLst>
                  <a:ext uri="{FF2B5EF4-FFF2-40B4-BE49-F238E27FC236}">
                    <a16:creationId xmlns:a16="http://schemas.microsoft.com/office/drawing/2014/main" id="{91888375-1A9E-297F-1A7D-0F1C686E46A9}"/>
                  </a:ext>
                </a:extLst>
              </p:cNvPr>
              <p:cNvSpPr/>
              <p:nvPr/>
            </p:nvSpPr>
            <p:spPr>
              <a:xfrm>
                <a:off x="4532785" y="4889427"/>
                <a:ext cx="1820390" cy="704850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b="1" dirty="0">
                    <a:cs typeface="+mn-ea"/>
                  </a:rPr>
                  <a:t>勞 動 力 影 響</a:t>
                </a:r>
              </a:p>
            </p:txBody>
          </p:sp>
        </p:grpSp>
      </p:grpSp>
      <p:sp>
        <p:nvSpPr>
          <p:cNvPr id="54" name="文本框 24">
            <a:extLst>
              <a:ext uri="{FF2B5EF4-FFF2-40B4-BE49-F238E27FC236}">
                <a16:creationId xmlns:a16="http://schemas.microsoft.com/office/drawing/2014/main" id="{FBE0FB13-B913-C844-6A75-E931E6C6C309}"/>
              </a:ext>
            </a:extLst>
          </p:cNvPr>
          <p:cNvSpPr txBox="1"/>
          <p:nvPr/>
        </p:nvSpPr>
        <p:spPr>
          <a:xfrm>
            <a:off x="265585" y="6114879"/>
            <a:ext cx="117802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en-US" sz="1600" b="1" dirty="0">
                <a:cs typeface="+mn-ea"/>
                <a:sym typeface="+mn-lt"/>
              </a:rPr>
              <a:t>結論</a:t>
            </a:r>
            <a:r>
              <a:rPr lang="zh-TW" altLang="en-US" sz="1600" dirty="0">
                <a:cs typeface="+mn-ea"/>
                <a:sym typeface="+mn-lt"/>
              </a:rPr>
              <a:t>：不能只「導入工具」，還要同時處理合規、訓練與把關。</a:t>
            </a:r>
            <a:endParaRPr lang="en-US" altLang="zh-CN" sz="1600" dirty="0">
              <a:cs typeface="+mn-ea"/>
              <a:sym typeface="+mn-lt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B66D7C8-6774-DA48-6751-70B954B7B9BB}"/>
              </a:ext>
            </a:extLst>
          </p:cNvPr>
          <p:cNvGrpSpPr/>
          <p:nvPr/>
        </p:nvGrpSpPr>
        <p:grpSpPr>
          <a:xfrm>
            <a:off x="7718516" y="2502205"/>
            <a:ext cx="4327301" cy="3270375"/>
            <a:chOff x="555560" y="3442158"/>
            <a:chExt cx="4327301" cy="3270375"/>
          </a:xfrm>
        </p:grpSpPr>
        <p:sp>
          <p:nvSpPr>
            <p:cNvPr id="10" name="文本框 17">
              <a:extLst>
                <a:ext uri="{FF2B5EF4-FFF2-40B4-BE49-F238E27FC236}">
                  <a16:creationId xmlns:a16="http://schemas.microsoft.com/office/drawing/2014/main" id="{92D8F988-79D8-A9F5-B62B-DCCC60D16262}"/>
                </a:ext>
              </a:extLst>
            </p:cNvPr>
            <p:cNvSpPr txBox="1"/>
            <p:nvPr/>
          </p:nvSpPr>
          <p:spPr>
            <a:xfrm>
              <a:off x="555560" y="6435534"/>
              <a:ext cx="4327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cs typeface="+mn-ea"/>
                  <a:sym typeface="+mn-lt"/>
                </a:rPr>
                <a:t>Figure 3. Challenges and considerations.</a:t>
              </a:r>
              <a:r>
                <a:rPr lang="zh-TW" altLang="en-US" sz="1200" dirty="0">
                  <a:cs typeface="+mn-ea"/>
                  <a:sym typeface="+mn-lt"/>
                </a:rPr>
                <a:t> </a:t>
              </a:r>
              <a:r>
                <a:rPr lang="en-US" altLang="zh-TW" sz="1200" dirty="0">
                  <a:solidFill>
                    <a:schemeClr val="bg1">
                      <a:lumMod val="65000"/>
                    </a:schemeClr>
                  </a:solidFill>
                  <a:cs typeface="+mn-ea"/>
                  <a:sym typeface="+mn-lt"/>
                </a:rPr>
                <a:t>(Paper B)</a:t>
              </a:r>
              <a:endParaRPr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7EFB008-F83D-3A6D-D92F-55E5AF1C5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5560" y="3442158"/>
              <a:ext cx="4327301" cy="2918298"/>
            </a:xfrm>
            <a:prstGeom prst="rect">
              <a:avLst/>
            </a:prstGeom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6ADA555F-9ACE-0C23-A233-775A31BEF85A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8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6565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6379"/>
    </mc:Choice>
    <mc:Fallback xmlns="">
      <p:transition advTm="637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0F625-4ABA-6F42-D938-CE87A3CC0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DE21657C-A0A5-884B-BAA7-71126764E44D}"/>
              </a:ext>
            </a:extLst>
          </p:cNvPr>
          <p:cNvGrpSpPr/>
          <p:nvPr/>
        </p:nvGrpSpPr>
        <p:grpSpPr>
          <a:xfrm>
            <a:off x="0" y="391286"/>
            <a:ext cx="12192000" cy="381000"/>
            <a:chOff x="0" y="391286"/>
            <a:chExt cx="12192000" cy="3810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34E710CF-B3DE-5BE5-7C57-89FA74B13F39}"/>
                </a:ext>
              </a:extLst>
            </p:cNvPr>
            <p:cNvCxnSpPr/>
            <p:nvPr/>
          </p:nvCxnSpPr>
          <p:spPr>
            <a:xfrm>
              <a:off x="0" y="581786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144E529-367F-7E8D-4340-730AA2938034}"/>
                </a:ext>
              </a:extLst>
            </p:cNvPr>
            <p:cNvGrpSpPr/>
            <p:nvPr/>
          </p:nvGrpSpPr>
          <p:grpSpPr>
            <a:xfrm rot="10800000">
              <a:off x="11060824" y="391286"/>
              <a:ext cx="656896" cy="381000"/>
              <a:chOff x="307428" y="393221"/>
              <a:chExt cx="656896" cy="381000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6E0CBEE4-BC97-E633-4570-AC399176304C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CEF5BADF-4C78-C2FF-7954-546C6B59BB24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F75FFFF7-AAA9-7951-9FB3-C9257FDA662B}"/>
              </a:ext>
            </a:extLst>
          </p:cNvPr>
          <p:cNvSpPr txBox="1"/>
          <p:nvPr/>
        </p:nvSpPr>
        <p:spPr>
          <a:xfrm>
            <a:off x="2573067" y="1000129"/>
            <a:ext cx="7045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cs typeface="+mn-ea"/>
                <a:sym typeface="+mn-lt"/>
              </a:rPr>
              <a:t>AI </a:t>
            </a:r>
            <a:r>
              <a:rPr lang="zh-CN" altLang="en-US" sz="3200" dirty="0">
                <a:cs typeface="+mn-ea"/>
                <a:sym typeface="+mn-lt"/>
              </a:rPr>
              <a:t>導入要補上的三件事</a:t>
            </a:r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633EAEE9-7BE4-EC26-5780-898A9D7E43F7}"/>
              </a:ext>
            </a:extLst>
          </p:cNvPr>
          <p:cNvGrpSpPr/>
          <p:nvPr/>
        </p:nvGrpSpPr>
        <p:grpSpPr>
          <a:xfrm>
            <a:off x="1878018" y="1742627"/>
            <a:ext cx="8435964" cy="4763883"/>
            <a:chOff x="1397848" y="1806795"/>
            <a:chExt cx="8435964" cy="4763883"/>
          </a:xfrm>
        </p:grpSpPr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30868B6F-9E70-180D-80C7-4E95C40DC244}"/>
                </a:ext>
              </a:extLst>
            </p:cNvPr>
            <p:cNvGrpSpPr/>
            <p:nvPr/>
          </p:nvGrpSpPr>
          <p:grpSpPr>
            <a:xfrm>
              <a:off x="1397848" y="5144924"/>
              <a:ext cx="8435964" cy="1425754"/>
              <a:chOff x="842540" y="2003246"/>
              <a:chExt cx="9396307" cy="1425754"/>
            </a:xfrm>
          </p:grpSpPr>
          <p:grpSp>
            <p:nvGrpSpPr>
              <p:cNvPr id="57" name="群組 56">
                <a:extLst>
                  <a:ext uri="{FF2B5EF4-FFF2-40B4-BE49-F238E27FC236}">
                    <a16:creationId xmlns:a16="http://schemas.microsoft.com/office/drawing/2014/main" id="{1EAF1D10-DC3F-189F-EDF8-244744FAAA48}"/>
                  </a:ext>
                </a:extLst>
              </p:cNvPr>
              <p:cNvGrpSpPr/>
              <p:nvPr/>
            </p:nvGrpSpPr>
            <p:grpSpPr>
              <a:xfrm>
                <a:off x="842540" y="2003246"/>
                <a:ext cx="9396307" cy="1425754"/>
                <a:chOff x="842540" y="2003246"/>
                <a:chExt cx="9396307" cy="1425754"/>
              </a:xfrm>
            </p:grpSpPr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ABB6570A-77A3-A703-B8B1-8CD6FA45657B}"/>
                    </a:ext>
                  </a:extLst>
                </p:cNvPr>
                <p:cNvSpPr/>
                <p:nvPr/>
              </p:nvSpPr>
              <p:spPr>
                <a:xfrm>
                  <a:off x="842540" y="2003246"/>
                  <a:ext cx="9396307" cy="142575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等腰三角形 60">
                  <a:extLst>
                    <a:ext uri="{FF2B5EF4-FFF2-40B4-BE49-F238E27FC236}">
                      <a16:creationId xmlns:a16="http://schemas.microsoft.com/office/drawing/2014/main" id="{F6792601-26CC-4B86-721D-B53F9725C9B9}"/>
                    </a:ext>
                  </a:extLst>
                </p:cNvPr>
                <p:cNvSpPr/>
                <p:nvPr/>
              </p:nvSpPr>
              <p:spPr>
                <a:xfrm rot="5400000">
                  <a:off x="715946" y="2516068"/>
                  <a:ext cx="653298" cy="400110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8" name="文本框 17">
                <a:extLst>
                  <a:ext uri="{FF2B5EF4-FFF2-40B4-BE49-F238E27FC236}">
                    <a16:creationId xmlns:a16="http://schemas.microsoft.com/office/drawing/2014/main" id="{93D63096-0ED7-0131-7A8E-AD338D94DB82}"/>
                  </a:ext>
                </a:extLst>
              </p:cNvPr>
              <p:cNvSpPr txBox="1"/>
              <p:nvPr/>
            </p:nvSpPr>
            <p:spPr>
              <a:xfrm>
                <a:off x="1521145" y="2111016"/>
                <a:ext cx="7256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TW" altLang="en-US" sz="2400" b="1" dirty="0">
                    <a:cs typeface="+mn-ea"/>
                    <a:sym typeface="+mn-lt"/>
                  </a:rPr>
                  <a:t>勞動力影響 </a:t>
                </a:r>
                <a:r>
                  <a:rPr lang="zh-TW" altLang="en-US" sz="2400" dirty="0">
                    <a:cs typeface="+mn-ea"/>
                    <a:sym typeface="+mn-lt"/>
                  </a:rPr>
                  <a:t>→ 讓團隊用得起來</a:t>
                </a:r>
              </a:p>
            </p:txBody>
          </p:sp>
          <p:sp>
            <p:nvSpPr>
              <p:cNvPr id="59" name="文本框 18">
                <a:extLst>
                  <a:ext uri="{FF2B5EF4-FFF2-40B4-BE49-F238E27FC236}">
                    <a16:creationId xmlns:a16="http://schemas.microsoft.com/office/drawing/2014/main" id="{47291E47-BCD7-4E10-7174-012D054EEF3B}"/>
                  </a:ext>
                </a:extLst>
              </p:cNvPr>
              <p:cNvSpPr txBox="1"/>
              <p:nvPr/>
            </p:nvSpPr>
            <p:spPr>
              <a:xfrm>
                <a:off x="1521146" y="2602456"/>
                <a:ext cx="8433598" cy="78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1600" dirty="0">
                    <a:cs typeface="+mn-ea"/>
                    <a:sym typeface="+mn-lt"/>
                  </a:rPr>
                  <a:t>訓練與共識：能用</a:t>
                </a:r>
                <a:r>
                  <a:rPr lang="en-US" altLang="zh-TW" sz="1600" dirty="0">
                    <a:cs typeface="+mn-ea"/>
                    <a:sym typeface="+mn-lt"/>
                  </a:rPr>
                  <a:t>/</a:t>
                </a:r>
                <a:r>
                  <a:rPr lang="zh-TW" altLang="en-US" sz="1600" dirty="0">
                    <a:cs typeface="+mn-ea"/>
                    <a:sym typeface="+mn-lt"/>
                  </a:rPr>
                  <a:t>不能用、怎麼審查</a:t>
                </a:r>
                <a:endParaRPr lang="en-US" altLang="zh-TW" sz="1600" dirty="0">
                  <a:cs typeface="+mn-ea"/>
                  <a:sym typeface="+mn-lt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1600" dirty="0">
                    <a:cs typeface="+mn-ea"/>
                    <a:sym typeface="+mn-lt"/>
                  </a:rPr>
                  <a:t>人類參與流程</a:t>
                </a:r>
                <a:r>
                  <a:rPr lang="zh-CN" altLang="en-US" sz="1600" dirty="0">
                    <a:cs typeface="+mn-ea"/>
                    <a:sym typeface="+mn-lt"/>
                  </a:rPr>
                  <a:t>（</a:t>
                </a:r>
                <a:r>
                  <a:rPr lang="en-US" altLang="zh-CN" sz="1600" dirty="0">
                    <a:cs typeface="+mn-ea"/>
                    <a:sym typeface="+mn-lt"/>
                  </a:rPr>
                  <a:t>Human-in-the-loop</a:t>
                </a:r>
                <a:r>
                  <a:rPr lang="zh-CN" altLang="en-US" sz="1600" dirty="0">
                    <a:cs typeface="+mn-ea"/>
                    <a:sym typeface="+mn-lt"/>
                  </a:rPr>
                  <a:t>）：</a:t>
                </a:r>
                <a:r>
                  <a:rPr lang="en-US" altLang="zh-CN" sz="1600" dirty="0">
                    <a:cs typeface="+mn-ea"/>
                    <a:sym typeface="+mn-lt"/>
                  </a:rPr>
                  <a:t>AI </a:t>
                </a:r>
                <a:r>
                  <a:rPr lang="zh-CN" altLang="en-US" sz="1600" dirty="0">
                    <a:cs typeface="+mn-ea"/>
                    <a:sym typeface="+mn-lt"/>
                  </a:rPr>
                  <a:t>產出 ≠ 直接上線</a:t>
                </a:r>
              </a:p>
            </p:txBody>
          </p:sp>
        </p:grp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488F17FF-F9B2-4477-DD33-3AC6F219CE15}"/>
                </a:ext>
              </a:extLst>
            </p:cNvPr>
            <p:cNvGrpSpPr/>
            <p:nvPr/>
          </p:nvGrpSpPr>
          <p:grpSpPr>
            <a:xfrm>
              <a:off x="1397848" y="1806795"/>
              <a:ext cx="8435964" cy="1425754"/>
              <a:chOff x="842540" y="2003246"/>
              <a:chExt cx="9396307" cy="1425754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C37938C6-2689-B9F7-5595-736FE4379DAA}"/>
                  </a:ext>
                </a:extLst>
              </p:cNvPr>
              <p:cNvGrpSpPr/>
              <p:nvPr/>
            </p:nvGrpSpPr>
            <p:grpSpPr>
              <a:xfrm>
                <a:off x="842540" y="2003246"/>
                <a:ext cx="9396307" cy="1425754"/>
                <a:chOff x="842540" y="2003246"/>
                <a:chExt cx="9396307" cy="1425754"/>
              </a:xfrm>
            </p:grpSpPr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F620DE2A-0514-34D9-5981-81F6D019A550}"/>
                    </a:ext>
                  </a:extLst>
                </p:cNvPr>
                <p:cNvSpPr/>
                <p:nvPr/>
              </p:nvSpPr>
              <p:spPr>
                <a:xfrm>
                  <a:off x="842540" y="2003246"/>
                  <a:ext cx="9396307" cy="142575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1" name="等腰三角形 10">
                  <a:extLst>
                    <a:ext uri="{FF2B5EF4-FFF2-40B4-BE49-F238E27FC236}">
                      <a16:creationId xmlns:a16="http://schemas.microsoft.com/office/drawing/2014/main" id="{A05F3DC3-2837-0290-2CDA-4BC9680EE347}"/>
                    </a:ext>
                  </a:extLst>
                </p:cNvPr>
                <p:cNvSpPr/>
                <p:nvPr/>
              </p:nvSpPr>
              <p:spPr>
                <a:xfrm rot="5400000">
                  <a:off x="715946" y="2516068"/>
                  <a:ext cx="653298" cy="400110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37DCBAC-F0B0-AB2D-B477-F85C98D11E5F}"/>
                  </a:ext>
                </a:extLst>
              </p:cNvPr>
              <p:cNvSpPr txBox="1"/>
              <p:nvPr/>
            </p:nvSpPr>
            <p:spPr>
              <a:xfrm>
                <a:off x="1521145" y="2111016"/>
                <a:ext cx="7256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TW" altLang="en-US" sz="2400" b="1" dirty="0">
                    <a:cs typeface="+mn-ea"/>
                    <a:sym typeface="+mn-lt"/>
                  </a:rPr>
                  <a:t>技術面</a:t>
                </a:r>
                <a:r>
                  <a:rPr lang="en-US" altLang="zh-TW" sz="2400" b="1" dirty="0">
                    <a:cs typeface="+mn-ea"/>
                    <a:sym typeface="+mn-lt"/>
                  </a:rPr>
                  <a:t> </a:t>
                </a:r>
                <a:r>
                  <a:rPr lang="zh-TW" altLang="en-US" sz="2400" dirty="0">
                    <a:cs typeface="+mn-ea"/>
                    <a:sym typeface="+mn-lt"/>
                  </a:rPr>
                  <a:t>→ 讓輸出可驗證</a:t>
                </a:r>
                <a:endParaRPr lang="zh-CN" alt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9AB60FB-688A-8979-C0D9-42628EE5A397}"/>
                  </a:ext>
                </a:extLst>
              </p:cNvPr>
              <p:cNvSpPr txBox="1"/>
              <p:nvPr/>
            </p:nvSpPr>
            <p:spPr>
              <a:xfrm>
                <a:off x="1521145" y="2602456"/>
                <a:ext cx="8433599" cy="78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1600" dirty="0">
                    <a:cs typeface="+mn-ea"/>
                    <a:sym typeface="+mn-lt"/>
                  </a:rPr>
                  <a:t>放進「審查流程」與「自動測試」</a:t>
                </a:r>
                <a:endParaRPr lang="en-US" altLang="zh-TW" sz="1600" dirty="0">
                  <a:cs typeface="+mn-ea"/>
                  <a:sym typeface="+mn-lt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1600" dirty="0">
                    <a:cs typeface="+mn-ea"/>
                    <a:sym typeface="+mn-lt"/>
                  </a:rPr>
                  <a:t>補齊上下文：規格、範例、規範、介面契約</a:t>
                </a:r>
                <a:endParaRPr lang="zh-CN" altLang="en-US" sz="16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A847191-05DD-5D4B-2D00-E1DA9859780E}"/>
                </a:ext>
              </a:extLst>
            </p:cNvPr>
            <p:cNvGrpSpPr/>
            <p:nvPr/>
          </p:nvGrpSpPr>
          <p:grpSpPr>
            <a:xfrm>
              <a:off x="1397848" y="3475859"/>
              <a:ext cx="8435964" cy="1425754"/>
              <a:chOff x="842540" y="2003246"/>
              <a:chExt cx="9396307" cy="1425754"/>
            </a:xfrm>
          </p:grpSpPr>
          <p:grpSp>
            <p:nvGrpSpPr>
              <p:cNvPr id="51" name="群組 50">
                <a:extLst>
                  <a:ext uri="{FF2B5EF4-FFF2-40B4-BE49-F238E27FC236}">
                    <a16:creationId xmlns:a16="http://schemas.microsoft.com/office/drawing/2014/main" id="{B4E32840-9C60-7C19-5946-BD85D13681C5}"/>
                  </a:ext>
                </a:extLst>
              </p:cNvPr>
              <p:cNvGrpSpPr/>
              <p:nvPr/>
            </p:nvGrpSpPr>
            <p:grpSpPr>
              <a:xfrm>
                <a:off x="842540" y="2003246"/>
                <a:ext cx="9396307" cy="1425754"/>
                <a:chOff x="842540" y="2003246"/>
                <a:chExt cx="9396307" cy="1425754"/>
              </a:xfrm>
            </p:grpSpPr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D0626A73-2E6F-4351-86AF-0E471B5C4A97}"/>
                    </a:ext>
                  </a:extLst>
                </p:cNvPr>
                <p:cNvSpPr/>
                <p:nvPr/>
              </p:nvSpPr>
              <p:spPr>
                <a:xfrm>
                  <a:off x="842540" y="2003246"/>
                  <a:ext cx="9396307" cy="142575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等腰三角形 54">
                  <a:extLst>
                    <a:ext uri="{FF2B5EF4-FFF2-40B4-BE49-F238E27FC236}">
                      <a16:creationId xmlns:a16="http://schemas.microsoft.com/office/drawing/2014/main" id="{26C392F1-BDCD-ECFF-C34A-97D5BEC677D0}"/>
                    </a:ext>
                  </a:extLst>
                </p:cNvPr>
                <p:cNvSpPr/>
                <p:nvPr/>
              </p:nvSpPr>
              <p:spPr>
                <a:xfrm rot="5400000">
                  <a:off x="715946" y="2516068"/>
                  <a:ext cx="653298" cy="400110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2" name="文本框 17">
                <a:extLst>
                  <a:ext uri="{FF2B5EF4-FFF2-40B4-BE49-F238E27FC236}">
                    <a16:creationId xmlns:a16="http://schemas.microsoft.com/office/drawing/2014/main" id="{F9713C51-5AE6-D50F-9BD0-CAF496C390E5}"/>
                  </a:ext>
                </a:extLst>
              </p:cNvPr>
              <p:cNvSpPr txBox="1"/>
              <p:nvPr/>
            </p:nvSpPr>
            <p:spPr>
              <a:xfrm>
                <a:off x="1521145" y="2111016"/>
                <a:ext cx="7256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TW" altLang="en-US" sz="2400" b="1" dirty="0">
                    <a:cs typeface="+mn-ea"/>
                    <a:sym typeface="+mn-lt"/>
                  </a:rPr>
                  <a:t>倫理法務面 </a:t>
                </a:r>
                <a:r>
                  <a:rPr lang="zh-TW" altLang="en-US" sz="2400" dirty="0">
                    <a:cs typeface="+mn-ea"/>
                    <a:sym typeface="+mn-lt"/>
                  </a:rPr>
                  <a:t>→ 讓使用可合規</a:t>
                </a:r>
              </a:p>
            </p:txBody>
          </p:sp>
          <p:sp>
            <p:nvSpPr>
              <p:cNvPr id="53" name="文本框 18">
                <a:extLst>
                  <a:ext uri="{FF2B5EF4-FFF2-40B4-BE49-F238E27FC236}">
                    <a16:creationId xmlns:a16="http://schemas.microsoft.com/office/drawing/2014/main" id="{21FCF1CD-9B4C-3D13-A52D-F9710CAFEC67}"/>
                  </a:ext>
                </a:extLst>
              </p:cNvPr>
              <p:cNvSpPr txBox="1"/>
              <p:nvPr/>
            </p:nvSpPr>
            <p:spPr>
              <a:xfrm>
                <a:off x="1521145" y="2602456"/>
                <a:ext cx="8433599" cy="78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1600" dirty="0">
                    <a:cs typeface="+mn-ea"/>
                    <a:sym typeface="+mn-lt"/>
                  </a:rPr>
                  <a:t>資料使用界線清楚（敏感資訊、外部服務、留存規則）</a:t>
                </a:r>
                <a:endParaRPr lang="en-US" altLang="zh-TW" sz="1600" dirty="0">
                  <a:cs typeface="+mn-ea"/>
                  <a:sym typeface="+mn-lt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1600" dirty="0">
                    <a:cs typeface="+mn-ea"/>
                    <a:sym typeface="+mn-lt"/>
                  </a:rPr>
                  <a:t>生成內容可追溯（來源</a:t>
                </a:r>
                <a:r>
                  <a:rPr lang="en-US" altLang="zh-TW" sz="1600" dirty="0">
                    <a:cs typeface="+mn-ea"/>
                    <a:sym typeface="+mn-lt"/>
                  </a:rPr>
                  <a:t>/</a:t>
                </a:r>
                <a:r>
                  <a:rPr lang="zh-TW" altLang="en-US" sz="1600" dirty="0">
                    <a:cs typeface="+mn-ea"/>
                    <a:sym typeface="+mn-lt"/>
                  </a:rPr>
                  <a:t>版本</a:t>
                </a:r>
                <a:r>
                  <a:rPr lang="en-US" altLang="zh-TW" sz="1600" dirty="0">
                    <a:cs typeface="+mn-ea"/>
                    <a:sym typeface="+mn-lt"/>
                  </a:rPr>
                  <a:t>/</a:t>
                </a:r>
                <a:r>
                  <a:rPr lang="zh-TW" altLang="en-US" sz="1600" dirty="0">
                    <a:cs typeface="+mn-ea"/>
                    <a:sym typeface="+mn-lt"/>
                  </a:rPr>
                  <a:t>決策紀錄）</a:t>
                </a:r>
                <a:endParaRPr lang="zh-CN" altLang="en-US" sz="1600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64" name="文本框 18">
            <a:extLst>
              <a:ext uri="{FF2B5EF4-FFF2-40B4-BE49-F238E27FC236}">
                <a16:creationId xmlns:a16="http://schemas.microsoft.com/office/drawing/2014/main" id="{B974DBD3-7AF6-43CD-8973-D0E67B0753E4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9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283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442"/>
    </mc:Choice>
    <mc:Fallback xmlns="">
      <p:transition advTm="544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07EE-4D16-618A-52BA-9F734E10C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0050DF36-C673-2271-55ED-AD2B8EF98908}"/>
              </a:ext>
            </a:extLst>
          </p:cNvPr>
          <p:cNvGrpSpPr/>
          <p:nvPr/>
        </p:nvGrpSpPr>
        <p:grpSpPr>
          <a:xfrm>
            <a:off x="0" y="542592"/>
            <a:ext cx="12192000" cy="381000"/>
            <a:chOff x="0" y="391286"/>
            <a:chExt cx="12192000" cy="3810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37FC179E-D7C3-CD6A-07E8-E5C6E88A6356}"/>
                </a:ext>
              </a:extLst>
            </p:cNvPr>
            <p:cNvCxnSpPr/>
            <p:nvPr/>
          </p:nvCxnSpPr>
          <p:spPr>
            <a:xfrm>
              <a:off x="0" y="581786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A264F87-6D76-8C48-0473-8BAF671B3878}"/>
                </a:ext>
              </a:extLst>
            </p:cNvPr>
            <p:cNvGrpSpPr/>
            <p:nvPr/>
          </p:nvGrpSpPr>
          <p:grpSpPr>
            <a:xfrm rot="10800000">
              <a:off x="11060824" y="391286"/>
              <a:ext cx="656896" cy="381000"/>
              <a:chOff x="307428" y="393221"/>
              <a:chExt cx="656896" cy="381000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DD7A4E87-63C3-D05D-624C-01E9249FF80F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4526866D-665A-43EB-ECC4-CA1A766C8757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文本框 23">
            <a:extLst>
              <a:ext uri="{FF2B5EF4-FFF2-40B4-BE49-F238E27FC236}">
                <a16:creationId xmlns:a16="http://schemas.microsoft.com/office/drawing/2014/main" id="{3B6F8F7E-7939-8A61-2D1F-2EFC67331081}"/>
              </a:ext>
            </a:extLst>
          </p:cNvPr>
          <p:cNvSpPr txBox="1"/>
          <p:nvPr/>
        </p:nvSpPr>
        <p:spPr>
          <a:xfrm>
            <a:off x="1459833" y="1042993"/>
            <a:ext cx="9272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/>
              <a:t>把 </a:t>
            </a:r>
            <a:r>
              <a:rPr lang="en-US" altLang="zh-TW" sz="3200" dirty="0"/>
              <a:t>AI </a:t>
            </a:r>
            <a:r>
              <a:rPr lang="zh-TW" altLang="en-US" sz="3200" dirty="0"/>
              <a:t>放進流程後：工作會變成「人機迭代回路」</a:t>
            </a:r>
            <a:endParaRPr lang="zh-CN" altLang="en-US" sz="3200" dirty="0">
              <a:cs typeface="+mn-ea"/>
              <a:sym typeface="+mn-lt"/>
            </a:endParaRPr>
          </a:p>
        </p:txBody>
      </p:sp>
      <p:graphicFrame>
        <p:nvGraphicFramePr>
          <p:cNvPr id="3" name="資料庫圖表 2">
            <a:extLst>
              <a:ext uri="{FF2B5EF4-FFF2-40B4-BE49-F238E27FC236}">
                <a16:creationId xmlns:a16="http://schemas.microsoft.com/office/drawing/2014/main" id="{C21CEEE5-0C3A-652E-9C66-253A74B8CE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7083055"/>
              </p:ext>
            </p:extLst>
          </p:nvPr>
        </p:nvGraphicFramePr>
        <p:xfrm>
          <a:off x="1459833" y="1627768"/>
          <a:ext cx="9272334" cy="5233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文本框 18">
            <a:extLst>
              <a:ext uri="{FF2B5EF4-FFF2-40B4-BE49-F238E27FC236}">
                <a16:creationId xmlns:a16="http://schemas.microsoft.com/office/drawing/2014/main" id="{078CCC29-11AB-A1E8-649B-2C9CA117D9E0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10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5567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6379"/>
    </mc:Choice>
    <mc:Fallback xmlns="">
      <p:transition advTm="637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9EACD-10C4-3C16-9C61-AE1509E04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0F56B76F-1CC7-A120-A5B6-C87B0811013F}"/>
              </a:ext>
            </a:extLst>
          </p:cNvPr>
          <p:cNvGrpSpPr/>
          <p:nvPr/>
        </p:nvGrpSpPr>
        <p:grpSpPr>
          <a:xfrm>
            <a:off x="0" y="517338"/>
            <a:ext cx="12192000" cy="381000"/>
            <a:chOff x="0" y="517338"/>
            <a:chExt cx="12192000" cy="3810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5405B90-C451-97A6-DAF8-3D871246F514}"/>
                </a:ext>
              </a:extLst>
            </p:cNvPr>
            <p:cNvCxnSpPr/>
            <p:nvPr/>
          </p:nvCxnSpPr>
          <p:spPr>
            <a:xfrm>
              <a:off x="0" y="707838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D848BF6-CF89-B1EE-27A9-493101B9283E}"/>
                </a:ext>
              </a:extLst>
            </p:cNvPr>
            <p:cNvGrpSpPr/>
            <p:nvPr/>
          </p:nvGrpSpPr>
          <p:grpSpPr>
            <a:xfrm rot="10800000">
              <a:off x="11060824" y="517338"/>
              <a:ext cx="656896" cy="381000"/>
              <a:chOff x="307428" y="393221"/>
              <a:chExt cx="656896" cy="381000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CA6431D0-2EF4-C60A-0345-1E17F7684AEF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1AD826DA-848D-BA56-75CA-B488324DD651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3">
            <a:extLst>
              <a:ext uri="{FF2B5EF4-FFF2-40B4-BE49-F238E27FC236}">
                <a16:creationId xmlns:a16="http://schemas.microsoft.com/office/drawing/2014/main" id="{042AB4DF-F883-6D00-EFF9-256DFEC12EEB}"/>
              </a:ext>
            </a:extLst>
          </p:cNvPr>
          <p:cNvSpPr txBox="1"/>
          <p:nvPr/>
        </p:nvSpPr>
        <p:spPr>
          <a:xfrm>
            <a:off x="802730" y="1042993"/>
            <a:ext cx="10586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/>
              <a:t>落地關鍵：</a:t>
            </a:r>
            <a:r>
              <a:rPr lang="en-US" altLang="zh-TW" sz="3200" dirty="0"/>
              <a:t>AI </a:t>
            </a:r>
            <a:r>
              <a:rPr lang="zh-TW" altLang="en-US" sz="3200" dirty="0"/>
              <a:t>要變成團隊能力，需要接進既有工作流</a:t>
            </a:r>
            <a:endParaRPr lang="zh-CN" altLang="en-US" sz="3200" dirty="0">
              <a:cs typeface="+mn-ea"/>
              <a:sym typeface="+mn-lt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1C06F04D-E3FB-82EF-4E15-9BD3D093290C}"/>
              </a:ext>
            </a:extLst>
          </p:cNvPr>
          <p:cNvGrpSpPr/>
          <p:nvPr/>
        </p:nvGrpSpPr>
        <p:grpSpPr>
          <a:xfrm>
            <a:off x="802730" y="1923937"/>
            <a:ext cx="5293270" cy="2072956"/>
            <a:chOff x="802730" y="1923937"/>
            <a:chExt cx="5293270" cy="207295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061EB54-CC63-E9FF-3AB0-A28BC567BA16}"/>
                </a:ext>
              </a:extLst>
            </p:cNvPr>
            <p:cNvSpPr/>
            <p:nvPr/>
          </p:nvSpPr>
          <p:spPr>
            <a:xfrm>
              <a:off x="802730" y="1923937"/>
              <a:ext cx="5293270" cy="20729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2362808-1C54-02A6-665E-182C38FC9E85}"/>
                </a:ext>
              </a:extLst>
            </p:cNvPr>
            <p:cNvSpPr txBox="1"/>
            <p:nvPr/>
          </p:nvSpPr>
          <p:spPr>
            <a:xfrm>
              <a:off x="1115740" y="2926025"/>
              <a:ext cx="4667251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600" dirty="0">
                  <a:cs typeface="+mn-ea"/>
                  <a:sym typeface="+mn-lt"/>
                </a:rPr>
                <a:t>AI </a:t>
              </a:r>
              <a:r>
                <a:rPr lang="zh-TW" altLang="en-US" sz="1600" dirty="0">
                  <a:cs typeface="+mn-ea"/>
                  <a:sym typeface="+mn-lt"/>
                </a:rPr>
                <a:t>產出也要走審查流程、測試門檻、回歸驗證。</a:t>
              </a:r>
              <a:endParaRPr lang="en-US" altLang="zh-TW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重點是「能快速產出」但「不能跳過把關」。</a:t>
              </a:r>
              <a:endParaRPr lang="en-US" altLang="zh-CN" sz="1600" dirty="0">
                <a:cs typeface="+mn-ea"/>
                <a:sym typeface="+mn-lt"/>
              </a:endParaRPr>
            </a:p>
          </p:txBody>
        </p:sp>
        <p:sp>
          <p:nvSpPr>
            <p:cNvPr id="8" name="文本框 17">
              <a:extLst>
                <a:ext uri="{FF2B5EF4-FFF2-40B4-BE49-F238E27FC236}">
                  <a16:creationId xmlns:a16="http://schemas.microsoft.com/office/drawing/2014/main" id="{44A6F63E-3008-1282-66B2-75F452699A83}"/>
                </a:ext>
              </a:extLst>
            </p:cNvPr>
            <p:cNvSpPr txBox="1"/>
            <p:nvPr/>
          </p:nvSpPr>
          <p:spPr>
            <a:xfrm>
              <a:off x="1964544" y="2297115"/>
              <a:ext cx="29696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TW" altLang="en-US" sz="2000" b="1" dirty="0">
                  <a:cs typeface="+mn-ea"/>
                  <a:sym typeface="+mn-lt"/>
                </a:rPr>
                <a:t>審查與測試門檻要完整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1A3A655F-5C4E-0E1F-7CB5-AAA80926ACDA}"/>
              </a:ext>
            </a:extLst>
          </p:cNvPr>
          <p:cNvGrpSpPr/>
          <p:nvPr/>
        </p:nvGrpSpPr>
        <p:grpSpPr>
          <a:xfrm>
            <a:off x="6305549" y="1931611"/>
            <a:ext cx="5293270" cy="2072956"/>
            <a:chOff x="802730" y="1923937"/>
            <a:chExt cx="5293270" cy="20729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A14AF51-920A-6993-C5E7-A769E9875580}"/>
                </a:ext>
              </a:extLst>
            </p:cNvPr>
            <p:cNvSpPr/>
            <p:nvPr/>
          </p:nvSpPr>
          <p:spPr>
            <a:xfrm>
              <a:off x="802730" y="1923937"/>
              <a:ext cx="5293270" cy="20729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文本框 13">
              <a:extLst>
                <a:ext uri="{FF2B5EF4-FFF2-40B4-BE49-F238E27FC236}">
                  <a16:creationId xmlns:a16="http://schemas.microsoft.com/office/drawing/2014/main" id="{B7D15D18-D279-2885-1DB8-CF2C8C3EC553}"/>
                </a:ext>
              </a:extLst>
            </p:cNvPr>
            <p:cNvSpPr txBox="1"/>
            <p:nvPr/>
          </p:nvSpPr>
          <p:spPr>
            <a:xfrm>
              <a:off x="1115740" y="2926025"/>
              <a:ext cx="4667251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版本庫、議題、建置</a:t>
              </a:r>
              <a:r>
                <a:rPr lang="en-US" altLang="zh-TW" sz="1600" dirty="0">
                  <a:cs typeface="+mn-ea"/>
                  <a:sym typeface="+mn-lt"/>
                </a:rPr>
                <a:t>/</a:t>
              </a:r>
              <a:r>
                <a:rPr lang="zh-TW" altLang="en-US" sz="1600" dirty="0">
                  <a:cs typeface="+mn-ea"/>
                  <a:sym typeface="+mn-lt"/>
                </a:rPr>
                <a:t>部署、監控要串起來。</a:t>
              </a:r>
              <a:endParaRPr lang="en-US" altLang="zh-TW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cs typeface="+mn-ea"/>
                  <a:sym typeface="+mn-lt"/>
                </a:rPr>
                <a:t>AI </a:t>
              </a:r>
              <a:r>
                <a:rPr lang="zh-TW" altLang="en-US" sz="1600" dirty="0">
                  <a:cs typeface="+mn-ea"/>
                  <a:sym typeface="+mn-lt"/>
                </a:rPr>
                <a:t>才能真正融入日常流程。</a:t>
              </a:r>
              <a:endParaRPr lang="en-US" altLang="zh-CN" sz="1600" dirty="0">
                <a:cs typeface="+mn-ea"/>
                <a:sym typeface="+mn-lt"/>
              </a:endParaRPr>
            </a:p>
          </p:txBody>
        </p:sp>
        <p:sp>
          <p:nvSpPr>
            <p:cNvPr id="20" name="文本框 17">
              <a:extLst>
                <a:ext uri="{FF2B5EF4-FFF2-40B4-BE49-F238E27FC236}">
                  <a16:creationId xmlns:a16="http://schemas.microsoft.com/office/drawing/2014/main" id="{194717D5-BA8F-0282-9579-D8C4C932296E}"/>
                </a:ext>
              </a:extLst>
            </p:cNvPr>
            <p:cNvSpPr txBox="1"/>
            <p:nvPr/>
          </p:nvSpPr>
          <p:spPr>
            <a:xfrm>
              <a:off x="1964544" y="2297115"/>
              <a:ext cx="29696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TW" altLang="en-US" sz="2000" b="1" dirty="0">
                  <a:cs typeface="+mn-ea"/>
                  <a:sym typeface="+mn-lt"/>
                </a:rPr>
                <a:t>工具鏈整合要做起來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9A388DCB-541B-BBDC-82F8-22B56407949D}"/>
              </a:ext>
            </a:extLst>
          </p:cNvPr>
          <p:cNvGrpSpPr/>
          <p:nvPr/>
        </p:nvGrpSpPr>
        <p:grpSpPr>
          <a:xfrm>
            <a:off x="802730" y="4293062"/>
            <a:ext cx="5293270" cy="2072956"/>
            <a:chOff x="802730" y="1923937"/>
            <a:chExt cx="5293270" cy="207295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F7DD599-2EB9-8C7B-3569-4A18EA12DDD8}"/>
                </a:ext>
              </a:extLst>
            </p:cNvPr>
            <p:cNvSpPr/>
            <p:nvPr/>
          </p:nvSpPr>
          <p:spPr>
            <a:xfrm>
              <a:off x="802730" y="1923937"/>
              <a:ext cx="5293270" cy="20729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文本框 13">
              <a:extLst>
                <a:ext uri="{FF2B5EF4-FFF2-40B4-BE49-F238E27FC236}">
                  <a16:creationId xmlns:a16="http://schemas.microsoft.com/office/drawing/2014/main" id="{E9B3EC4C-F54F-54B3-7922-18BB0907D10B}"/>
                </a:ext>
              </a:extLst>
            </p:cNvPr>
            <p:cNvSpPr txBox="1"/>
            <p:nvPr/>
          </p:nvSpPr>
          <p:spPr>
            <a:xfrm>
              <a:off x="1115740" y="2926025"/>
              <a:ext cx="4667251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哪些資料可用、哪些不可外流要講清楚。</a:t>
              </a:r>
              <a:endParaRPr lang="en-US" altLang="zh-TW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包含外部服務使用規範、敏感資訊處理原則。</a:t>
              </a:r>
              <a:endParaRPr lang="en-US" altLang="zh-CN" sz="1600" dirty="0">
                <a:cs typeface="+mn-ea"/>
                <a:sym typeface="+mn-lt"/>
              </a:endParaRPr>
            </a:p>
          </p:txBody>
        </p:sp>
        <p:sp>
          <p:nvSpPr>
            <p:cNvPr id="28" name="文本框 17">
              <a:extLst>
                <a:ext uri="{FF2B5EF4-FFF2-40B4-BE49-F238E27FC236}">
                  <a16:creationId xmlns:a16="http://schemas.microsoft.com/office/drawing/2014/main" id="{0005817F-FDF4-7190-FBC6-41E6FD71259E}"/>
                </a:ext>
              </a:extLst>
            </p:cNvPr>
            <p:cNvSpPr txBox="1"/>
            <p:nvPr/>
          </p:nvSpPr>
          <p:spPr>
            <a:xfrm>
              <a:off x="1524625" y="2297115"/>
              <a:ext cx="38494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TW" altLang="en-US" sz="2000" b="1" dirty="0">
                  <a:cs typeface="+mn-ea"/>
                  <a:sym typeface="+mn-lt"/>
                </a:rPr>
                <a:t>資安與資料政策要先定義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4E44B28C-A20C-8013-4A9F-D72FB0493C30}"/>
              </a:ext>
            </a:extLst>
          </p:cNvPr>
          <p:cNvGrpSpPr/>
          <p:nvPr/>
        </p:nvGrpSpPr>
        <p:grpSpPr>
          <a:xfrm>
            <a:off x="6305549" y="4293062"/>
            <a:ext cx="5293270" cy="2072956"/>
            <a:chOff x="802730" y="1923937"/>
            <a:chExt cx="5293270" cy="207295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20333BC-FCE6-5B83-A1A2-DE040DD18B8E}"/>
                </a:ext>
              </a:extLst>
            </p:cNvPr>
            <p:cNvSpPr/>
            <p:nvPr/>
          </p:nvSpPr>
          <p:spPr>
            <a:xfrm>
              <a:off x="802730" y="1923937"/>
              <a:ext cx="5293270" cy="20729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文本框 13">
              <a:extLst>
                <a:ext uri="{FF2B5EF4-FFF2-40B4-BE49-F238E27FC236}">
                  <a16:creationId xmlns:a16="http://schemas.microsoft.com/office/drawing/2014/main" id="{00C577F2-697C-CC5E-4DFB-ED5F42E89CFF}"/>
                </a:ext>
              </a:extLst>
            </p:cNvPr>
            <p:cNvSpPr txBox="1"/>
            <p:nvPr/>
          </p:nvSpPr>
          <p:spPr>
            <a:xfrm>
              <a:off x="1115740" y="2926025"/>
              <a:ext cx="4667251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至少能回溯使用情境、版本與決策紀錄。</a:t>
              </a:r>
              <a:endParaRPr lang="en-US" altLang="zh-TW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出問題時才好定位與釐清責任。</a:t>
              </a:r>
              <a:endParaRPr lang="en-US" altLang="zh-CN" sz="1600" dirty="0">
                <a:cs typeface="+mn-ea"/>
                <a:sym typeface="+mn-lt"/>
              </a:endParaRPr>
            </a:p>
          </p:txBody>
        </p:sp>
        <p:sp>
          <p:nvSpPr>
            <p:cNvPr id="32" name="文本框 17">
              <a:extLst>
                <a:ext uri="{FF2B5EF4-FFF2-40B4-BE49-F238E27FC236}">
                  <a16:creationId xmlns:a16="http://schemas.microsoft.com/office/drawing/2014/main" id="{DA9B504D-0D98-F4D5-1713-F89F74606F89}"/>
                </a:ext>
              </a:extLst>
            </p:cNvPr>
            <p:cNvSpPr txBox="1"/>
            <p:nvPr/>
          </p:nvSpPr>
          <p:spPr>
            <a:xfrm>
              <a:off x="1524625" y="2297115"/>
              <a:ext cx="38494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TW" altLang="en-US" sz="2000" b="1" dirty="0">
                  <a:cs typeface="+mn-ea"/>
                  <a:sym typeface="+mn-lt"/>
                </a:rPr>
                <a:t>可追溯性要留得下來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sp>
        <p:nvSpPr>
          <p:cNvPr id="35" name="文本框 18">
            <a:extLst>
              <a:ext uri="{FF2B5EF4-FFF2-40B4-BE49-F238E27FC236}">
                <a16:creationId xmlns:a16="http://schemas.microsoft.com/office/drawing/2014/main" id="{3B18C708-626A-E9F0-CE6A-6943376127BE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11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774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497"/>
    </mc:Choice>
    <mc:Fallback xmlns="">
      <p:transition advTm="449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F380C-1BE1-C0FA-4F40-0899C43F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44A86189-0967-76CB-41BD-1AF6C886057E}"/>
              </a:ext>
            </a:extLst>
          </p:cNvPr>
          <p:cNvGrpSpPr/>
          <p:nvPr/>
        </p:nvGrpSpPr>
        <p:grpSpPr>
          <a:xfrm>
            <a:off x="0" y="391286"/>
            <a:ext cx="12192000" cy="381000"/>
            <a:chOff x="0" y="391286"/>
            <a:chExt cx="12192000" cy="3810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1E1FD158-53FA-7833-4EBE-7A0C2EDB58B5}"/>
                </a:ext>
              </a:extLst>
            </p:cNvPr>
            <p:cNvCxnSpPr/>
            <p:nvPr/>
          </p:nvCxnSpPr>
          <p:spPr>
            <a:xfrm>
              <a:off x="0" y="581786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79D7E45-D366-6BA6-1F73-1569F4060B18}"/>
                </a:ext>
              </a:extLst>
            </p:cNvPr>
            <p:cNvGrpSpPr/>
            <p:nvPr/>
          </p:nvGrpSpPr>
          <p:grpSpPr>
            <a:xfrm rot="10800000">
              <a:off x="11060824" y="391286"/>
              <a:ext cx="656896" cy="381000"/>
              <a:chOff x="307428" y="393221"/>
              <a:chExt cx="656896" cy="381000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BA849455-C532-1BB5-176B-F2E8AF37AB1D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BCC475AE-33BA-2419-F0EB-2E7D3CA973EF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370BEEE8-0FFA-8243-ABE0-CADCD818D4F9}"/>
              </a:ext>
            </a:extLst>
          </p:cNvPr>
          <p:cNvSpPr txBox="1"/>
          <p:nvPr/>
        </p:nvSpPr>
        <p:spPr>
          <a:xfrm>
            <a:off x="350274" y="998332"/>
            <a:ext cx="11491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cs typeface="+mn-ea"/>
                <a:sym typeface="+mn-lt"/>
              </a:rPr>
              <a:t>HACAF </a:t>
            </a:r>
            <a:r>
              <a:rPr lang="zh-TW" altLang="en-US" sz="3200" dirty="0">
                <a:cs typeface="+mn-ea"/>
                <a:sym typeface="+mn-lt"/>
              </a:rPr>
              <a:t>採用框架：</a:t>
            </a:r>
            <a:r>
              <a:rPr lang="en-US" altLang="zh-TW" sz="3200" dirty="0">
                <a:cs typeface="+mn-ea"/>
                <a:sym typeface="+mn-lt"/>
              </a:rPr>
              <a:t>GenAI </a:t>
            </a:r>
            <a:r>
              <a:rPr lang="zh-TW" altLang="en-US" sz="3200" dirty="0">
                <a:cs typeface="+mn-ea"/>
                <a:sym typeface="+mn-lt"/>
              </a:rPr>
              <a:t>為什麼「能用」但「不一定會用」？</a:t>
            </a:r>
            <a:endParaRPr lang="zh-CN" altLang="en-US" sz="3200" dirty="0"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53B9640-61E8-39CE-8E77-FF8051AC3803}"/>
              </a:ext>
            </a:extLst>
          </p:cNvPr>
          <p:cNvSpPr txBox="1"/>
          <p:nvPr/>
        </p:nvSpPr>
        <p:spPr>
          <a:xfrm>
            <a:off x="164279" y="2584315"/>
            <a:ext cx="5755258" cy="2480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1600" dirty="0">
                <a:cs typeface="+mn-ea"/>
                <a:sym typeface="+mn-lt"/>
              </a:rPr>
              <a:t>哪些因素會影響工程師的 </a:t>
            </a:r>
            <a:r>
              <a:rPr lang="zh-TW" altLang="en-US" sz="1600" b="1" dirty="0">
                <a:cs typeface="+mn-ea"/>
                <a:sym typeface="+mn-lt"/>
              </a:rPr>
              <a:t>使用意圖（</a:t>
            </a:r>
            <a:r>
              <a:rPr lang="en-US" altLang="zh-TW" sz="1600" b="1" dirty="0">
                <a:cs typeface="+mn-ea"/>
                <a:sym typeface="+mn-lt"/>
              </a:rPr>
              <a:t>IU / Intention to Use</a:t>
            </a:r>
            <a:r>
              <a:rPr lang="zh-TW" altLang="en-US" sz="1600" b="1" dirty="0">
                <a:cs typeface="+mn-ea"/>
                <a:sym typeface="+mn-lt"/>
              </a:rPr>
              <a:t>）</a:t>
            </a:r>
            <a:endParaRPr lang="en-US" altLang="zh-TW" sz="1600" b="1" dirty="0">
              <a:cs typeface="+mn-ea"/>
              <a:sym typeface="+mn-lt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cs typeface="+mn-ea"/>
                <a:sym typeface="+mn-lt"/>
              </a:rPr>
              <a:t>PT </a:t>
            </a:r>
            <a:r>
              <a:rPr lang="zh-TW" altLang="en-US" sz="1600" b="1" dirty="0">
                <a:cs typeface="+mn-ea"/>
                <a:sym typeface="+mn-lt"/>
              </a:rPr>
              <a:t>技術感知</a:t>
            </a:r>
            <a:r>
              <a:rPr lang="zh-TW" altLang="en-US" sz="1600" dirty="0">
                <a:cs typeface="+mn-ea"/>
                <a:sym typeface="+mn-lt"/>
              </a:rPr>
              <a:t>：覺得有用、好用、相對優勢</a:t>
            </a:r>
            <a:endParaRPr lang="en-US" altLang="zh-TW" sz="1600" dirty="0">
              <a:cs typeface="+mn-ea"/>
              <a:sym typeface="+mn-lt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cs typeface="+mn-ea"/>
                <a:sym typeface="+mn-lt"/>
              </a:rPr>
              <a:t>CF </a:t>
            </a:r>
            <a:r>
              <a:rPr lang="zh-TW" altLang="en-US" sz="1600" b="1" dirty="0">
                <a:cs typeface="+mn-ea"/>
                <a:sym typeface="+mn-lt"/>
              </a:rPr>
              <a:t>相容性</a:t>
            </a:r>
            <a:r>
              <a:rPr lang="zh-TW" altLang="en-US" sz="1600" dirty="0">
                <a:cs typeface="+mn-ea"/>
                <a:sym typeface="+mn-lt"/>
              </a:rPr>
              <a:t>：能不能融入現有流程與工作習慣</a:t>
            </a:r>
            <a:endParaRPr lang="en-US" altLang="zh-TW" sz="1600" dirty="0">
              <a:cs typeface="+mn-ea"/>
              <a:sym typeface="+mn-lt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cs typeface="+mn-ea"/>
                <a:sym typeface="+mn-lt"/>
              </a:rPr>
              <a:t>SF </a:t>
            </a:r>
            <a:r>
              <a:rPr lang="zh-TW" altLang="en-US" sz="1600" b="1" dirty="0">
                <a:cs typeface="+mn-ea"/>
                <a:sym typeface="+mn-lt"/>
              </a:rPr>
              <a:t>社會因素</a:t>
            </a:r>
            <a:r>
              <a:rPr lang="zh-TW" altLang="en-US" sz="1600" dirty="0">
                <a:cs typeface="+mn-ea"/>
                <a:sym typeface="+mn-lt"/>
              </a:rPr>
              <a:t>：同儕影響、自我效能（會不會用、敢不敢用）</a:t>
            </a:r>
            <a:endParaRPr lang="en-US" altLang="zh-TW" sz="1600" dirty="0">
              <a:cs typeface="+mn-ea"/>
              <a:sym typeface="+mn-lt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cs typeface="+mn-ea"/>
                <a:sym typeface="+mn-lt"/>
              </a:rPr>
              <a:t>PEF </a:t>
            </a:r>
            <a:r>
              <a:rPr lang="zh-TW" altLang="en-US" sz="1600" b="1" dirty="0">
                <a:cs typeface="+mn-ea"/>
                <a:sym typeface="+mn-lt"/>
              </a:rPr>
              <a:t>個人與環境</a:t>
            </a:r>
            <a:r>
              <a:rPr lang="zh-TW" altLang="en-US" sz="1600" dirty="0">
                <a:cs typeface="+mn-ea"/>
                <a:sym typeface="+mn-lt"/>
              </a:rPr>
              <a:t>：個人創新性、組織支持（培訓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規範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資源）</a:t>
            </a:r>
            <a:endParaRPr lang="en-US" altLang="zh-CN" sz="1600" dirty="0">
              <a:cs typeface="+mn-ea"/>
              <a:sym typeface="+mn-lt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A9872A64-E3D7-56FC-9C4D-9528AEF4A2D9}"/>
              </a:ext>
            </a:extLst>
          </p:cNvPr>
          <p:cNvGrpSpPr/>
          <p:nvPr/>
        </p:nvGrpSpPr>
        <p:grpSpPr>
          <a:xfrm>
            <a:off x="6096000" y="2546649"/>
            <a:ext cx="6008824" cy="3920065"/>
            <a:chOff x="5742968" y="2247055"/>
            <a:chExt cx="6008824" cy="3920065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72859CA-B7DD-0465-38DC-0927CAA5AFD1}"/>
                </a:ext>
              </a:extLst>
            </p:cNvPr>
            <p:cNvSpPr txBox="1"/>
            <p:nvPr/>
          </p:nvSpPr>
          <p:spPr>
            <a:xfrm>
              <a:off x="5869750" y="5884915"/>
              <a:ext cx="5755257" cy="282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cs typeface="+mn-ea"/>
                  <a:sym typeface="+mn-lt"/>
                </a:rPr>
                <a:t>Fig. 1. The HACAF.</a:t>
              </a:r>
              <a:r>
                <a:rPr lang="zh-TW" altLang="en-US" sz="1200" dirty="0">
                  <a:cs typeface="+mn-ea"/>
                  <a:sym typeface="+mn-lt"/>
                </a:rPr>
                <a:t> </a:t>
              </a:r>
              <a:r>
                <a:rPr lang="en-US" altLang="zh-TW" sz="1200" dirty="0">
                  <a:solidFill>
                    <a:schemeClr val="bg1">
                      <a:lumMod val="65000"/>
                    </a:schemeClr>
                  </a:solidFill>
                  <a:cs typeface="+mn-ea"/>
                  <a:sym typeface="+mn-lt"/>
                </a:rPr>
                <a:t>(Paper C)</a:t>
              </a:r>
              <a:endParaRPr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3" name="圖片 2" descr="一張含有 圖表, 行, 圓形 的圖片&#10;&#10;AI 產生的內容可能不正確。">
              <a:extLst>
                <a:ext uri="{FF2B5EF4-FFF2-40B4-BE49-F238E27FC236}">
                  <a16:creationId xmlns:a16="http://schemas.microsoft.com/office/drawing/2014/main" id="{CFD102D2-86C8-CEC0-310A-F47359439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42968" y="2247055"/>
              <a:ext cx="6008824" cy="3608058"/>
            </a:xfrm>
            <a:prstGeom prst="rect">
              <a:avLst/>
            </a:prstGeom>
          </p:spPr>
        </p:pic>
      </p:grpSp>
      <p:sp>
        <p:nvSpPr>
          <p:cNvPr id="9" name="文本框 24">
            <a:extLst>
              <a:ext uri="{FF2B5EF4-FFF2-40B4-BE49-F238E27FC236}">
                <a16:creationId xmlns:a16="http://schemas.microsoft.com/office/drawing/2014/main" id="{BE106709-A308-684C-FF05-6B94C5500442}"/>
              </a:ext>
            </a:extLst>
          </p:cNvPr>
          <p:cNvSpPr txBox="1"/>
          <p:nvPr/>
        </p:nvSpPr>
        <p:spPr>
          <a:xfrm>
            <a:off x="350275" y="1718260"/>
            <a:ext cx="10173346" cy="56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HACAF = Human-AI Collaboration and Adaptation Framework</a:t>
            </a:r>
            <a:r>
              <a:rPr lang="zh-TW" altLang="en-US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（人機協作與適應框架）</a:t>
            </a:r>
            <a:endParaRPr lang="en-US" altLang="zh-TW" b="1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24">
            <a:extLst>
              <a:ext uri="{FF2B5EF4-FFF2-40B4-BE49-F238E27FC236}">
                <a16:creationId xmlns:a16="http://schemas.microsoft.com/office/drawing/2014/main" id="{C81E18EC-FA40-A0F7-3E4C-76D9EB525993}"/>
              </a:ext>
            </a:extLst>
          </p:cNvPr>
          <p:cNvSpPr txBox="1"/>
          <p:nvPr/>
        </p:nvSpPr>
        <p:spPr>
          <a:xfrm>
            <a:off x="135302" y="5396986"/>
            <a:ext cx="5702078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600" b="1" dirty="0">
                <a:cs typeface="+mn-ea"/>
                <a:sym typeface="+mn-lt"/>
              </a:rPr>
              <a:t>結論</a:t>
            </a:r>
            <a:r>
              <a:rPr lang="zh-TW" altLang="en-US" sz="1600" dirty="0">
                <a:cs typeface="+mn-ea"/>
                <a:sym typeface="+mn-lt"/>
              </a:rPr>
              <a:t>：採用不只看工具強不強，更關鍵是「流程相容性＋組織支持 </a:t>
            </a:r>
            <a:r>
              <a:rPr lang="en-US" altLang="zh-TW" sz="1600" dirty="0">
                <a:cs typeface="+mn-ea"/>
                <a:sym typeface="+mn-lt"/>
              </a:rPr>
              <a:t>+ </a:t>
            </a:r>
            <a:r>
              <a:rPr lang="zh-TW" altLang="en-US" sz="1600" dirty="0">
                <a:cs typeface="+mn-ea"/>
                <a:sym typeface="+mn-lt"/>
              </a:rPr>
              <a:t>同儕認同」能不能到位。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13" name="文本框 18">
            <a:extLst>
              <a:ext uri="{FF2B5EF4-FFF2-40B4-BE49-F238E27FC236}">
                <a16:creationId xmlns:a16="http://schemas.microsoft.com/office/drawing/2014/main" id="{3099C83B-8865-065A-11B9-4E25B3FA8C89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12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2242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3EAC0-A167-38B6-5AAB-AA5B7DD27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>
            <a:extLst>
              <a:ext uri="{FF2B5EF4-FFF2-40B4-BE49-F238E27FC236}">
                <a16:creationId xmlns:a16="http://schemas.microsoft.com/office/drawing/2014/main" id="{F8A251D9-FCDD-AAAE-BB12-246AB93859A6}"/>
              </a:ext>
            </a:extLst>
          </p:cNvPr>
          <p:cNvGrpSpPr/>
          <p:nvPr/>
        </p:nvGrpSpPr>
        <p:grpSpPr>
          <a:xfrm>
            <a:off x="70188" y="4270513"/>
            <a:ext cx="5943439" cy="2391703"/>
            <a:chOff x="856930" y="1328015"/>
            <a:chExt cx="5943439" cy="2391703"/>
          </a:xfrm>
        </p:grpSpPr>
        <p:sp>
          <p:nvSpPr>
            <p:cNvPr id="16" name="文本框 17">
              <a:extLst>
                <a:ext uri="{FF2B5EF4-FFF2-40B4-BE49-F238E27FC236}">
                  <a16:creationId xmlns:a16="http://schemas.microsoft.com/office/drawing/2014/main" id="{81520A6B-57A5-B66E-BDED-5922A74D7BA8}"/>
                </a:ext>
              </a:extLst>
            </p:cNvPr>
            <p:cNvSpPr txBox="1"/>
            <p:nvPr/>
          </p:nvSpPr>
          <p:spPr>
            <a:xfrm>
              <a:off x="856931" y="1328015"/>
              <a:ext cx="59434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Table 13. Path Coefficients, Bootstrap Estimates, Standard Deviation, T Statistics, and p-Values </a:t>
              </a:r>
              <a:r>
                <a:rPr lang="zh-TW" altLang="en-US" sz="1200" dirty="0">
                  <a:cs typeface="+mn-ea"/>
                  <a:sym typeface="+mn-lt"/>
                </a:rPr>
                <a:t> </a:t>
              </a:r>
              <a:r>
                <a:rPr lang="en-US" altLang="zh-TW" sz="1200" dirty="0">
                  <a:solidFill>
                    <a:schemeClr val="bg1">
                      <a:lumMod val="65000"/>
                    </a:schemeClr>
                  </a:solidFill>
                  <a:cs typeface="+mn-ea"/>
                  <a:sym typeface="+mn-lt"/>
                </a:rPr>
                <a:t>(Paper C)</a:t>
              </a:r>
              <a:endParaRPr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14" name="圖片 13" descr="一張含有 文字, 螢幕擷取畫面, 字型, 數字 的圖片&#10;&#10;AI 產生的內容可能不正確。">
              <a:extLst>
                <a:ext uri="{FF2B5EF4-FFF2-40B4-BE49-F238E27FC236}">
                  <a16:creationId xmlns:a16="http://schemas.microsoft.com/office/drawing/2014/main" id="{5DD26F27-9CC2-3EE9-2FF5-1CF4949AC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6930" y="1795948"/>
              <a:ext cx="5943439" cy="1923770"/>
            </a:xfrm>
            <a:prstGeom prst="rect">
              <a:avLst/>
            </a:prstGeom>
          </p:spPr>
        </p:pic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728D8EEF-C0BF-E8EF-CF2E-7AFA7E1178A8}"/>
              </a:ext>
            </a:extLst>
          </p:cNvPr>
          <p:cNvGrpSpPr/>
          <p:nvPr/>
        </p:nvGrpSpPr>
        <p:grpSpPr>
          <a:xfrm>
            <a:off x="6096000" y="2552113"/>
            <a:ext cx="5979847" cy="4110103"/>
            <a:chOff x="6047874" y="2552113"/>
            <a:chExt cx="5979847" cy="4110103"/>
          </a:xfrm>
        </p:grpSpPr>
        <p:pic>
          <p:nvPicPr>
            <p:cNvPr id="10" name="圖片 9" descr="一張含有 圖表, 行, 圓形, 文字 的圖片&#10;&#10;AI 產生的內容可能不正確。">
              <a:extLst>
                <a:ext uri="{FF2B5EF4-FFF2-40B4-BE49-F238E27FC236}">
                  <a16:creationId xmlns:a16="http://schemas.microsoft.com/office/drawing/2014/main" id="{F21FD2F5-CA67-BF55-A58C-EC830E8C5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47874" y="2552113"/>
              <a:ext cx="5979847" cy="3602594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4EE7A58-AF6A-771B-DE0F-41DCDA8F77AF}"/>
                </a:ext>
              </a:extLst>
            </p:cNvPr>
            <p:cNvSpPr txBox="1"/>
            <p:nvPr/>
          </p:nvSpPr>
          <p:spPr>
            <a:xfrm>
              <a:off x="6174656" y="6200551"/>
              <a:ext cx="5755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cs typeface="+mn-ea"/>
                  <a:sym typeface="+mn-lt"/>
                </a:rPr>
                <a:t>Fig. 2. HACAF’s structural model with R2 and path coefficients (***p&lt; 0.001, (NS) p &gt; 0.05).</a:t>
              </a:r>
              <a:r>
                <a:rPr lang="zh-TW" altLang="en-US" sz="1200" dirty="0">
                  <a:cs typeface="+mn-ea"/>
                  <a:sym typeface="+mn-lt"/>
                </a:rPr>
                <a:t> </a:t>
              </a:r>
              <a:r>
                <a:rPr lang="en-US" altLang="zh-TW" sz="1200" dirty="0">
                  <a:solidFill>
                    <a:schemeClr val="bg1">
                      <a:lumMod val="65000"/>
                    </a:schemeClr>
                  </a:solidFill>
                  <a:cs typeface="+mn-ea"/>
                  <a:sym typeface="+mn-lt"/>
                </a:rPr>
                <a:t>(Paper C)</a:t>
              </a:r>
              <a:endParaRPr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2AF6F04-6272-4CE1-37D6-0636BF4726EE}"/>
              </a:ext>
            </a:extLst>
          </p:cNvPr>
          <p:cNvGrpSpPr/>
          <p:nvPr/>
        </p:nvGrpSpPr>
        <p:grpSpPr>
          <a:xfrm>
            <a:off x="0" y="391286"/>
            <a:ext cx="12192000" cy="381000"/>
            <a:chOff x="0" y="391286"/>
            <a:chExt cx="12192000" cy="3810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BC3634D-B08E-94AE-6030-58B0421D51B8}"/>
                </a:ext>
              </a:extLst>
            </p:cNvPr>
            <p:cNvCxnSpPr/>
            <p:nvPr/>
          </p:nvCxnSpPr>
          <p:spPr>
            <a:xfrm>
              <a:off x="0" y="581786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8D607B3-F466-1B5D-262B-0907B0CAD7F4}"/>
                </a:ext>
              </a:extLst>
            </p:cNvPr>
            <p:cNvGrpSpPr/>
            <p:nvPr/>
          </p:nvGrpSpPr>
          <p:grpSpPr>
            <a:xfrm rot="10800000">
              <a:off x="11060824" y="391286"/>
              <a:ext cx="656896" cy="381000"/>
              <a:chOff x="307428" y="393221"/>
              <a:chExt cx="656896" cy="381000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47F7A16F-9CC0-EA79-FCDC-0AF72819C4F0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92029C23-2BBF-1510-8CC9-046A69B6D2F2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1E75A7C2-E049-943F-B0CA-6EA3A9F07103}"/>
              </a:ext>
            </a:extLst>
          </p:cNvPr>
          <p:cNvSpPr txBox="1"/>
          <p:nvPr/>
        </p:nvSpPr>
        <p:spPr>
          <a:xfrm>
            <a:off x="350274" y="998332"/>
            <a:ext cx="11491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cs typeface="+mn-ea"/>
                <a:sym typeface="+mn-lt"/>
              </a:rPr>
              <a:t>HACAF </a:t>
            </a:r>
            <a:r>
              <a:rPr lang="zh-TW" altLang="en-US" sz="3200" dirty="0">
                <a:cs typeface="+mn-ea"/>
                <a:sym typeface="+mn-lt"/>
              </a:rPr>
              <a:t>實證結果 </a:t>
            </a:r>
            <a:r>
              <a:rPr lang="en-US" altLang="zh-TW" sz="3200" dirty="0">
                <a:cs typeface="+mn-ea"/>
                <a:sym typeface="+mn-lt"/>
              </a:rPr>
              <a:t>( 1 / 2 )</a:t>
            </a:r>
            <a:endParaRPr lang="zh-CN" altLang="en-US" sz="3200" dirty="0"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9703F65-2161-099C-46EE-24D78DFFDB8D}"/>
              </a:ext>
            </a:extLst>
          </p:cNvPr>
          <p:cNvSpPr txBox="1"/>
          <p:nvPr/>
        </p:nvSpPr>
        <p:spPr>
          <a:xfrm>
            <a:off x="0" y="1921447"/>
            <a:ext cx="6384758" cy="1895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cs typeface="+mn-ea"/>
                <a:sym typeface="+mn-lt"/>
              </a:rPr>
              <a:t>Coefficient</a:t>
            </a:r>
            <a:r>
              <a:rPr lang="zh-TW" altLang="en-US" sz="1600" b="1" dirty="0">
                <a:cs typeface="+mn-ea"/>
                <a:sym typeface="+mn-lt"/>
              </a:rPr>
              <a:t>（路徑係數）</a:t>
            </a:r>
            <a:r>
              <a:rPr lang="zh-TW" altLang="en-US" sz="1600" dirty="0">
                <a:cs typeface="+mn-ea"/>
                <a:sym typeface="+mn-lt"/>
              </a:rPr>
              <a:t>：影響方向與強度（越接近 </a:t>
            </a:r>
            <a:r>
              <a:rPr lang="en-US" altLang="zh-TW" sz="1600" dirty="0">
                <a:cs typeface="+mn-ea"/>
                <a:sym typeface="+mn-lt"/>
              </a:rPr>
              <a:t>1 </a:t>
            </a:r>
            <a:r>
              <a:rPr lang="zh-TW" altLang="en-US" sz="1600" dirty="0">
                <a:cs typeface="+mn-ea"/>
                <a:sym typeface="+mn-lt"/>
              </a:rPr>
              <a:t>影響越強）</a:t>
            </a:r>
            <a:endParaRPr lang="en-US" altLang="zh-TW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cs typeface="+mn-ea"/>
                <a:sym typeface="+mn-lt"/>
              </a:rPr>
              <a:t>p-value</a:t>
            </a:r>
            <a:r>
              <a:rPr lang="zh-TW" altLang="en-US" sz="1600" b="1" dirty="0">
                <a:cs typeface="+mn-ea"/>
                <a:sym typeface="+mn-lt"/>
              </a:rPr>
              <a:t>（顯著性）</a:t>
            </a:r>
            <a:r>
              <a:rPr lang="zh-TW" altLang="en-US" sz="1600" dirty="0">
                <a:cs typeface="+mn-ea"/>
                <a:sym typeface="+mn-lt"/>
              </a:rPr>
              <a:t>：這條關係是否成立（常用門檻 </a:t>
            </a:r>
            <a:r>
              <a:rPr lang="en-US" altLang="zh-TW" sz="1600" dirty="0">
                <a:cs typeface="+mn-ea"/>
                <a:sym typeface="+mn-lt"/>
              </a:rPr>
              <a:t>p &lt; 0.05</a:t>
            </a:r>
            <a:r>
              <a:rPr lang="zh-TW" altLang="en-US" sz="1600" dirty="0">
                <a:cs typeface="+mn-ea"/>
                <a:sym typeface="+mn-lt"/>
              </a:rPr>
              <a:t>）</a:t>
            </a:r>
            <a:endParaRPr lang="en-US" altLang="zh-TW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cs typeface="+mn-ea"/>
                <a:sym typeface="+mn-lt"/>
              </a:rPr>
              <a:t>T Statistics</a:t>
            </a:r>
            <a:r>
              <a:rPr lang="zh-TW" altLang="en-US" sz="1600" b="1" dirty="0">
                <a:cs typeface="+mn-ea"/>
                <a:sym typeface="+mn-lt"/>
              </a:rPr>
              <a:t>（</a:t>
            </a:r>
            <a:r>
              <a:rPr lang="en-US" altLang="zh-TW" sz="1600" b="1" dirty="0">
                <a:cs typeface="+mn-ea"/>
                <a:sym typeface="+mn-lt"/>
              </a:rPr>
              <a:t>T </a:t>
            </a:r>
            <a:r>
              <a:rPr lang="zh-TW" altLang="en-US" sz="1600" b="1" dirty="0">
                <a:cs typeface="+mn-ea"/>
                <a:sym typeface="+mn-lt"/>
              </a:rPr>
              <a:t>值）</a:t>
            </a:r>
            <a:r>
              <a:rPr lang="zh-TW" altLang="en-US" sz="1600" dirty="0">
                <a:cs typeface="+mn-ea"/>
                <a:sym typeface="+mn-lt"/>
              </a:rPr>
              <a:t>：顯著性的強度（常用門檻 </a:t>
            </a:r>
            <a:r>
              <a:rPr lang="en-US" altLang="zh-TW" sz="1600" dirty="0">
                <a:cs typeface="+mn-ea"/>
                <a:sym typeface="+mn-lt"/>
              </a:rPr>
              <a:t>T &gt; 1.96</a:t>
            </a:r>
            <a:r>
              <a:rPr lang="zh-TW" altLang="en-US" sz="1600" dirty="0">
                <a:cs typeface="+mn-ea"/>
                <a:sym typeface="+mn-lt"/>
              </a:rPr>
              <a:t>）</a:t>
            </a:r>
            <a:endParaRPr lang="en-US" altLang="zh-TW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cs typeface="+mn-ea"/>
                <a:sym typeface="+mn-lt"/>
              </a:rPr>
              <a:t>R²</a:t>
            </a:r>
            <a:r>
              <a:rPr lang="zh-TW" altLang="en-US" sz="1600" b="1" dirty="0">
                <a:cs typeface="+mn-ea"/>
                <a:sym typeface="+mn-lt"/>
              </a:rPr>
              <a:t>（決定係數）</a:t>
            </a:r>
            <a:r>
              <a:rPr lang="zh-TW" altLang="en-US" sz="1600" dirty="0">
                <a:cs typeface="+mn-ea"/>
                <a:sym typeface="+mn-lt"/>
              </a:rPr>
              <a:t>：模型解釋力（</a:t>
            </a:r>
            <a:r>
              <a:rPr lang="en-US" altLang="zh-TW" sz="1600" dirty="0">
                <a:cs typeface="+mn-ea"/>
                <a:sym typeface="+mn-lt"/>
              </a:rPr>
              <a:t>0</a:t>
            </a:r>
            <a:r>
              <a:rPr lang="zh-TW" altLang="en-US" sz="1600" dirty="0">
                <a:cs typeface="+mn-ea"/>
                <a:sym typeface="+mn-lt"/>
              </a:rPr>
              <a:t>～</a:t>
            </a:r>
            <a:r>
              <a:rPr lang="en-US" altLang="zh-TW" sz="1600" dirty="0">
                <a:cs typeface="+mn-ea"/>
                <a:sym typeface="+mn-lt"/>
              </a:rPr>
              <a:t>1</a:t>
            </a:r>
            <a:r>
              <a:rPr lang="zh-TW" altLang="en-US" sz="1600" dirty="0">
                <a:cs typeface="+mn-ea"/>
                <a:sym typeface="+mn-lt"/>
              </a:rPr>
              <a:t>，越高代表解釋越多）</a:t>
            </a:r>
            <a:endParaRPr lang="en-US" altLang="zh-TW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cs typeface="+mn-ea"/>
                <a:sym typeface="+mn-lt"/>
              </a:rPr>
              <a:t>St. Dev.</a:t>
            </a:r>
            <a:r>
              <a:rPr lang="zh-TW" altLang="en-US" sz="1600" b="1" dirty="0">
                <a:cs typeface="+mn-ea"/>
                <a:sym typeface="+mn-lt"/>
              </a:rPr>
              <a:t>（標準差）</a:t>
            </a:r>
            <a:r>
              <a:rPr lang="zh-TW" altLang="en-US" sz="1600" dirty="0">
                <a:cs typeface="+mn-ea"/>
                <a:sym typeface="+mn-lt"/>
              </a:rPr>
              <a:t>：</a:t>
            </a:r>
            <a:r>
              <a:rPr lang="en-US" altLang="zh-TW" sz="1600" dirty="0">
                <a:cs typeface="+mn-ea"/>
                <a:sym typeface="+mn-lt"/>
              </a:rPr>
              <a:t>bootstrapping </a:t>
            </a:r>
            <a:r>
              <a:rPr lang="zh-TW" altLang="en-US" sz="1600" dirty="0">
                <a:cs typeface="+mn-ea"/>
                <a:sym typeface="+mn-lt"/>
              </a:rPr>
              <a:t>下係數的波動（越小越穩）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20" name="文本框 18">
            <a:extLst>
              <a:ext uri="{FF2B5EF4-FFF2-40B4-BE49-F238E27FC236}">
                <a16:creationId xmlns:a16="http://schemas.microsoft.com/office/drawing/2014/main" id="{3989D404-1FA6-989F-4DA4-49E6B8868A5F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13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519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7400-75CF-1473-07EE-E0595E9B7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>
            <a:extLst>
              <a:ext uri="{FF2B5EF4-FFF2-40B4-BE49-F238E27FC236}">
                <a16:creationId xmlns:a16="http://schemas.microsoft.com/office/drawing/2014/main" id="{CE42D971-5BEB-AAE3-DC93-CF3C2E23D48E}"/>
              </a:ext>
            </a:extLst>
          </p:cNvPr>
          <p:cNvGrpSpPr/>
          <p:nvPr/>
        </p:nvGrpSpPr>
        <p:grpSpPr>
          <a:xfrm>
            <a:off x="70188" y="4270513"/>
            <a:ext cx="5943439" cy="2391703"/>
            <a:chOff x="856930" y="1328015"/>
            <a:chExt cx="5943439" cy="2391703"/>
          </a:xfrm>
        </p:grpSpPr>
        <p:sp>
          <p:nvSpPr>
            <p:cNvPr id="16" name="文本框 17">
              <a:extLst>
                <a:ext uri="{FF2B5EF4-FFF2-40B4-BE49-F238E27FC236}">
                  <a16:creationId xmlns:a16="http://schemas.microsoft.com/office/drawing/2014/main" id="{4AB9D287-C9A2-02A5-86FD-8289AE3C35BE}"/>
                </a:ext>
              </a:extLst>
            </p:cNvPr>
            <p:cNvSpPr txBox="1"/>
            <p:nvPr/>
          </p:nvSpPr>
          <p:spPr>
            <a:xfrm>
              <a:off x="856931" y="1328015"/>
              <a:ext cx="59434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Table 13. Path Coefficients, Bootstrap Estimates, Standard Deviation, T Statistics, and p-Values </a:t>
              </a:r>
              <a:r>
                <a:rPr lang="zh-TW" altLang="en-US" sz="1200" dirty="0">
                  <a:cs typeface="+mn-ea"/>
                  <a:sym typeface="+mn-lt"/>
                </a:rPr>
                <a:t> </a:t>
              </a:r>
              <a:r>
                <a:rPr lang="en-US" altLang="zh-TW" sz="1200" dirty="0">
                  <a:solidFill>
                    <a:schemeClr val="bg1">
                      <a:lumMod val="65000"/>
                    </a:schemeClr>
                  </a:solidFill>
                  <a:cs typeface="+mn-ea"/>
                  <a:sym typeface="+mn-lt"/>
                </a:rPr>
                <a:t>(Paper C)</a:t>
              </a:r>
              <a:endParaRPr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14" name="圖片 13" descr="一張含有 文字, 螢幕擷取畫面, 字型, 數字 的圖片&#10;&#10;AI 產生的內容可能不正確。">
              <a:extLst>
                <a:ext uri="{FF2B5EF4-FFF2-40B4-BE49-F238E27FC236}">
                  <a16:creationId xmlns:a16="http://schemas.microsoft.com/office/drawing/2014/main" id="{099FFC34-6FA5-A41B-96F3-E4EC8F0A6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6930" y="1795948"/>
              <a:ext cx="5943439" cy="1923770"/>
            </a:xfrm>
            <a:prstGeom prst="rect">
              <a:avLst/>
            </a:prstGeom>
          </p:spPr>
        </p:pic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4A43D69-4AA8-3BF7-7E1E-63129252463B}"/>
              </a:ext>
            </a:extLst>
          </p:cNvPr>
          <p:cNvGrpSpPr/>
          <p:nvPr/>
        </p:nvGrpSpPr>
        <p:grpSpPr>
          <a:xfrm>
            <a:off x="6096000" y="2552113"/>
            <a:ext cx="5979847" cy="4110103"/>
            <a:chOff x="6047874" y="2552113"/>
            <a:chExt cx="5979847" cy="4110103"/>
          </a:xfrm>
        </p:grpSpPr>
        <p:pic>
          <p:nvPicPr>
            <p:cNvPr id="10" name="圖片 9" descr="一張含有 圖表, 行, 圓形, 文字 的圖片&#10;&#10;AI 產生的內容可能不正確。">
              <a:extLst>
                <a:ext uri="{FF2B5EF4-FFF2-40B4-BE49-F238E27FC236}">
                  <a16:creationId xmlns:a16="http://schemas.microsoft.com/office/drawing/2014/main" id="{E8B90CE7-2711-B8A2-3914-C366B2BB1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47874" y="2552113"/>
              <a:ext cx="5979847" cy="3602594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0D9E37A-FD90-B724-ECD5-1D97F513FBC4}"/>
                </a:ext>
              </a:extLst>
            </p:cNvPr>
            <p:cNvSpPr txBox="1"/>
            <p:nvPr/>
          </p:nvSpPr>
          <p:spPr>
            <a:xfrm>
              <a:off x="6174656" y="6200551"/>
              <a:ext cx="5755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cs typeface="+mn-ea"/>
                  <a:sym typeface="+mn-lt"/>
                </a:rPr>
                <a:t>Fig. 2. HACAF’s structural model with R2 and path coefficients (***p&lt; 0.001, (NS) p &gt; 0.05).</a:t>
              </a:r>
              <a:r>
                <a:rPr lang="zh-TW" altLang="en-US" sz="1200" dirty="0">
                  <a:cs typeface="+mn-ea"/>
                  <a:sym typeface="+mn-lt"/>
                </a:rPr>
                <a:t> </a:t>
              </a:r>
              <a:r>
                <a:rPr lang="en-US" altLang="zh-TW" sz="1200" dirty="0">
                  <a:solidFill>
                    <a:schemeClr val="bg1">
                      <a:lumMod val="65000"/>
                    </a:schemeClr>
                  </a:solidFill>
                  <a:cs typeface="+mn-ea"/>
                  <a:sym typeface="+mn-lt"/>
                </a:rPr>
                <a:t>(Paper C)</a:t>
              </a:r>
              <a:endParaRPr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258F7A0-CAA9-D6E7-83D3-14F30F6287E2}"/>
              </a:ext>
            </a:extLst>
          </p:cNvPr>
          <p:cNvGrpSpPr/>
          <p:nvPr/>
        </p:nvGrpSpPr>
        <p:grpSpPr>
          <a:xfrm>
            <a:off x="0" y="391286"/>
            <a:ext cx="12192000" cy="381000"/>
            <a:chOff x="0" y="391286"/>
            <a:chExt cx="12192000" cy="3810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9225275D-36F4-67CC-47E2-FD920375D0F5}"/>
                </a:ext>
              </a:extLst>
            </p:cNvPr>
            <p:cNvCxnSpPr/>
            <p:nvPr/>
          </p:nvCxnSpPr>
          <p:spPr>
            <a:xfrm>
              <a:off x="0" y="581786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C16766AB-D83F-F583-AE81-51A35D290678}"/>
                </a:ext>
              </a:extLst>
            </p:cNvPr>
            <p:cNvGrpSpPr/>
            <p:nvPr/>
          </p:nvGrpSpPr>
          <p:grpSpPr>
            <a:xfrm rot="10800000">
              <a:off x="11060824" y="391286"/>
              <a:ext cx="656896" cy="381000"/>
              <a:chOff x="307428" y="393221"/>
              <a:chExt cx="656896" cy="381000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147AE1B1-B644-894D-9B26-C9F8B622A746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A7534941-AC85-080D-B0DF-E7C551AAE66C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F0673E26-47AB-97BF-39E8-7539A99F79F1}"/>
              </a:ext>
            </a:extLst>
          </p:cNvPr>
          <p:cNvSpPr txBox="1"/>
          <p:nvPr/>
        </p:nvSpPr>
        <p:spPr>
          <a:xfrm>
            <a:off x="350274" y="998332"/>
            <a:ext cx="11491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cs typeface="+mn-ea"/>
                <a:sym typeface="+mn-lt"/>
              </a:rPr>
              <a:t>HACAF </a:t>
            </a:r>
            <a:r>
              <a:rPr lang="zh-TW" altLang="en-US" sz="3200" dirty="0">
                <a:cs typeface="+mn-ea"/>
                <a:sym typeface="+mn-lt"/>
              </a:rPr>
              <a:t>實證結果 </a:t>
            </a:r>
            <a:r>
              <a:rPr lang="en-US" altLang="zh-TW" sz="3200" dirty="0">
                <a:cs typeface="+mn-ea"/>
                <a:sym typeface="+mn-lt"/>
              </a:rPr>
              <a:t>( 2 / 2 )</a:t>
            </a:r>
            <a:endParaRPr lang="zh-CN" altLang="en-US" sz="3200" dirty="0"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9B593D-B1C8-EA0B-5DE3-A400C1545DF1}"/>
              </a:ext>
            </a:extLst>
          </p:cNvPr>
          <p:cNvSpPr txBox="1"/>
          <p:nvPr/>
        </p:nvSpPr>
        <p:spPr>
          <a:xfrm>
            <a:off x="126782" y="2142760"/>
            <a:ext cx="6096000" cy="152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dirty="0">
                <a:cs typeface="+mn-ea"/>
                <a:sym typeface="+mn-lt"/>
              </a:rPr>
              <a:t>相容性（</a:t>
            </a:r>
            <a:r>
              <a:rPr lang="en-US" altLang="zh-TW" sz="1600" dirty="0">
                <a:cs typeface="+mn-ea"/>
                <a:sym typeface="+mn-lt"/>
              </a:rPr>
              <a:t>CF</a:t>
            </a:r>
            <a:r>
              <a:rPr lang="zh-TW" altLang="en-US" sz="1600" dirty="0">
                <a:cs typeface="+mn-ea"/>
                <a:sym typeface="+mn-lt"/>
              </a:rPr>
              <a:t>）是使用意圖（</a:t>
            </a:r>
            <a:r>
              <a:rPr lang="en-US" altLang="zh-TW" sz="1600" dirty="0">
                <a:cs typeface="+mn-ea"/>
                <a:sym typeface="+mn-lt"/>
              </a:rPr>
              <a:t>IU</a:t>
            </a:r>
            <a:r>
              <a:rPr lang="zh-TW" altLang="en-US" sz="1600" dirty="0">
                <a:cs typeface="+mn-ea"/>
                <a:sym typeface="+mn-lt"/>
              </a:rPr>
              <a:t>）的最強驅動（</a:t>
            </a:r>
            <a:r>
              <a:rPr lang="en-US" altLang="zh-TW" sz="1600" dirty="0">
                <a:cs typeface="+mn-ea"/>
                <a:sym typeface="+mn-lt"/>
              </a:rPr>
              <a:t>H3 </a:t>
            </a:r>
            <a:r>
              <a:rPr lang="zh-TW" altLang="en-US" sz="1600" dirty="0">
                <a:cs typeface="+mn-ea"/>
                <a:sym typeface="+mn-lt"/>
              </a:rPr>
              <a:t>顯著）</a:t>
            </a:r>
            <a:endParaRPr lang="en-US" altLang="zh-TW" sz="1600" dirty="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dirty="0">
                <a:cs typeface="+mn-ea"/>
                <a:sym typeface="+mn-lt"/>
              </a:rPr>
              <a:t>覺得有用（</a:t>
            </a:r>
            <a:r>
              <a:rPr lang="en-US" altLang="zh-TW" sz="1600" dirty="0">
                <a:cs typeface="+mn-ea"/>
                <a:sym typeface="+mn-lt"/>
              </a:rPr>
              <a:t>PT</a:t>
            </a:r>
            <a:r>
              <a:rPr lang="zh-TW" altLang="en-US" sz="1600" dirty="0">
                <a:cs typeface="+mn-ea"/>
                <a:sym typeface="+mn-lt"/>
              </a:rPr>
              <a:t>）不等於就會用（</a:t>
            </a:r>
            <a:r>
              <a:rPr lang="en-US" altLang="zh-TW" sz="1600" dirty="0">
                <a:cs typeface="+mn-ea"/>
                <a:sym typeface="+mn-lt"/>
              </a:rPr>
              <a:t>H1 </a:t>
            </a:r>
            <a:r>
              <a:rPr lang="zh-TW" altLang="en-US" sz="1600" dirty="0">
                <a:cs typeface="+mn-ea"/>
                <a:sym typeface="+mn-lt"/>
              </a:rPr>
              <a:t>不顯著）</a:t>
            </a:r>
            <a:endParaRPr lang="en-US" altLang="zh-TW" sz="1600" dirty="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dirty="0">
                <a:cs typeface="+mn-ea"/>
                <a:sym typeface="+mn-lt"/>
              </a:rPr>
              <a:t>關鍵影響走「間接路徑」：</a:t>
            </a:r>
            <a:r>
              <a:rPr lang="en-US" altLang="zh-TW" sz="1600" dirty="0">
                <a:cs typeface="+mn-ea"/>
                <a:sym typeface="+mn-lt"/>
              </a:rPr>
              <a:t>PT → CF → IU</a:t>
            </a:r>
            <a:r>
              <a:rPr lang="zh-TW" altLang="en-US" sz="1600" dirty="0">
                <a:cs typeface="+mn-ea"/>
                <a:sym typeface="+mn-lt"/>
              </a:rPr>
              <a:t>（</a:t>
            </a:r>
            <a:r>
              <a:rPr lang="en-US" altLang="zh-TW" sz="1600" dirty="0">
                <a:cs typeface="+mn-ea"/>
                <a:sym typeface="+mn-lt"/>
              </a:rPr>
              <a:t>H2</a:t>
            </a:r>
            <a:r>
              <a:rPr lang="zh-TW" altLang="en-US" sz="1600" dirty="0">
                <a:cs typeface="+mn-ea"/>
                <a:sym typeface="+mn-lt"/>
              </a:rPr>
              <a:t>、</a:t>
            </a:r>
            <a:r>
              <a:rPr lang="en-US" altLang="zh-TW" sz="1600" dirty="0">
                <a:cs typeface="+mn-ea"/>
                <a:sym typeface="+mn-lt"/>
              </a:rPr>
              <a:t>H3 </a:t>
            </a:r>
            <a:r>
              <a:rPr lang="zh-TW" altLang="en-US" sz="1600" dirty="0">
                <a:cs typeface="+mn-ea"/>
                <a:sym typeface="+mn-lt"/>
              </a:rPr>
              <a:t>顯著）</a:t>
            </a:r>
            <a:endParaRPr lang="en-US" altLang="zh-TW" sz="1600" dirty="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dirty="0">
                <a:cs typeface="+mn-ea"/>
                <a:sym typeface="+mn-lt"/>
              </a:rPr>
              <a:t>社會因素、個人</a:t>
            </a:r>
            <a:r>
              <a:rPr lang="en-US" altLang="zh-TW" sz="1600" dirty="0">
                <a:cs typeface="+mn-ea"/>
                <a:sym typeface="+mn-lt"/>
              </a:rPr>
              <a:t>/</a:t>
            </a:r>
            <a:r>
              <a:rPr lang="zh-TW" altLang="en-US" sz="1600" dirty="0">
                <a:cs typeface="+mn-ea"/>
                <a:sym typeface="+mn-lt"/>
              </a:rPr>
              <a:t>環境因素沒有直接推動 </a:t>
            </a:r>
            <a:r>
              <a:rPr lang="en-US" altLang="zh-TW" sz="1600" dirty="0">
                <a:cs typeface="+mn-ea"/>
                <a:sym typeface="+mn-lt"/>
              </a:rPr>
              <a:t>IU</a:t>
            </a:r>
            <a:r>
              <a:rPr lang="zh-TW" altLang="en-US" sz="1600" dirty="0">
                <a:cs typeface="+mn-ea"/>
                <a:sym typeface="+mn-lt"/>
              </a:rPr>
              <a:t>（</a:t>
            </a:r>
            <a:r>
              <a:rPr lang="en-US" altLang="zh-TW" sz="1600" dirty="0">
                <a:cs typeface="+mn-ea"/>
                <a:sym typeface="+mn-lt"/>
              </a:rPr>
              <a:t>H5</a:t>
            </a:r>
            <a:r>
              <a:rPr lang="zh-TW" altLang="en-US" sz="1600" dirty="0">
                <a:cs typeface="+mn-ea"/>
                <a:sym typeface="+mn-lt"/>
              </a:rPr>
              <a:t>、</a:t>
            </a:r>
            <a:r>
              <a:rPr lang="en-US" altLang="zh-TW" sz="1600" dirty="0">
                <a:cs typeface="+mn-ea"/>
                <a:sym typeface="+mn-lt"/>
              </a:rPr>
              <a:t>H6 </a:t>
            </a:r>
            <a:r>
              <a:rPr lang="zh-TW" altLang="en-US" sz="1600" dirty="0">
                <a:cs typeface="+mn-ea"/>
                <a:sym typeface="+mn-lt"/>
              </a:rPr>
              <a:t>不顯著）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2" name="文本框 24">
            <a:extLst>
              <a:ext uri="{FF2B5EF4-FFF2-40B4-BE49-F238E27FC236}">
                <a16:creationId xmlns:a16="http://schemas.microsoft.com/office/drawing/2014/main" id="{F69C5DA3-1116-229C-E1B0-86713058936E}"/>
              </a:ext>
            </a:extLst>
          </p:cNvPr>
          <p:cNvSpPr txBox="1"/>
          <p:nvPr/>
        </p:nvSpPr>
        <p:spPr>
          <a:xfrm>
            <a:off x="8856359" y="3575142"/>
            <a:ext cx="421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(H1)</a:t>
            </a:r>
          </a:p>
        </p:txBody>
      </p:sp>
      <p:sp>
        <p:nvSpPr>
          <p:cNvPr id="3" name="文本框 24">
            <a:extLst>
              <a:ext uri="{FF2B5EF4-FFF2-40B4-BE49-F238E27FC236}">
                <a16:creationId xmlns:a16="http://schemas.microsoft.com/office/drawing/2014/main" id="{1EFEBE1A-028A-79DE-8025-9C96955910E9}"/>
              </a:ext>
            </a:extLst>
          </p:cNvPr>
          <p:cNvSpPr txBox="1"/>
          <p:nvPr/>
        </p:nvSpPr>
        <p:spPr>
          <a:xfrm>
            <a:off x="8610691" y="4212637"/>
            <a:ext cx="421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(H2)</a:t>
            </a:r>
          </a:p>
        </p:txBody>
      </p:sp>
      <p:sp>
        <p:nvSpPr>
          <p:cNvPr id="8" name="文本框 24">
            <a:extLst>
              <a:ext uri="{FF2B5EF4-FFF2-40B4-BE49-F238E27FC236}">
                <a16:creationId xmlns:a16="http://schemas.microsoft.com/office/drawing/2014/main" id="{CEC0A0BB-884B-0193-25A8-8EEABA66BBBA}"/>
              </a:ext>
            </a:extLst>
          </p:cNvPr>
          <p:cNvSpPr txBox="1"/>
          <p:nvPr/>
        </p:nvSpPr>
        <p:spPr>
          <a:xfrm>
            <a:off x="10544528" y="4170552"/>
            <a:ext cx="421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(H3)</a:t>
            </a:r>
          </a:p>
        </p:txBody>
      </p:sp>
      <p:sp>
        <p:nvSpPr>
          <p:cNvPr id="9" name="文本框 24">
            <a:extLst>
              <a:ext uri="{FF2B5EF4-FFF2-40B4-BE49-F238E27FC236}">
                <a16:creationId xmlns:a16="http://schemas.microsoft.com/office/drawing/2014/main" id="{D9BFCDBB-A108-A1BC-C3CD-84A84F1B0CAF}"/>
              </a:ext>
            </a:extLst>
          </p:cNvPr>
          <p:cNvSpPr txBox="1"/>
          <p:nvPr/>
        </p:nvSpPr>
        <p:spPr>
          <a:xfrm>
            <a:off x="8399748" y="5333990"/>
            <a:ext cx="421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(H4)</a:t>
            </a:r>
          </a:p>
        </p:txBody>
      </p:sp>
      <p:sp>
        <p:nvSpPr>
          <p:cNvPr id="12" name="文本框 24">
            <a:extLst>
              <a:ext uri="{FF2B5EF4-FFF2-40B4-BE49-F238E27FC236}">
                <a16:creationId xmlns:a16="http://schemas.microsoft.com/office/drawing/2014/main" id="{5F5ED6A4-08FD-B5FE-B262-1B43FCC6DF4D}"/>
              </a:ext>
            </a:extLst>
          </p:cNvPr>
          <p:cNvSpPr txBox="1"/>
          <p:nvPr/>
        </p:nvSpPr>
        <p:spPr>
          <a:xfrm>
            <a:off x="10703496" y="5256588"/>
            <a:ext cx="421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(H5)</a:t>
            </a:r>
          </a:p>
        </p:txBody>
      </p:sp>
      <p:sp>
        <p:nvSpPr>
          <p:cNvPr id="13" name="文本框 24">
            <a:extLst>
              <a:ext uri="{FF2B5EF4-FFF2-40B4-BE49-F238E27FC236}">
                <a16:creationId xmlns:a16="http://schemas.microsoft.com/office/drawing/2014/main" id="{5AC93E63-C855-6105-D1FD-4C67EB723FF2}"/>
              </a:ext>
            </a:extLst>
          </p:cNvPr>
          <p:cNvSpPr txBox="1"/>
          <p:nvPr/>
        </p:nvSpPr>
        <p:spPr>
          <a:xfrm>
            <a:off x="8223530" y="2873937"/>
            <a:ext cx="421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(H6)</a:t>
            </a:r>
          </a:p>
        </p:txBody>
      </p:sp>
      <p:sp>
        <p:nvSpPr>
          <p:cNvPr id="15" name="文本框 24">
            <a:extLst>
              <a:ext uri="{FF2B5EF4-FFF2-40B4-BE49-F238E27FC236}">
                <a16:creationId xmlns:a16="http://schemas.microsoft.com/office/drawing/2014/main" id="{99A1B8E7-1F63-EC8D-CFFF-A90AB48E2C2E}"/>
              </a:ext>
            </a:extLst>
          </p:cNvPr>
          <p:cNvSpPr txBox="1"/>
          <p:nvPr/>
        </p:nvSpPr>
        <p:spPr>
          <a:xfrm>
            <a:off x="6620640" y="3801766"/>
            <a:ext cx="421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(H7)</a:t>
            </a:r>
          </a:p>
        </p:txBody>
      </p:sp>
      <p:sp>
        <p:nvSpPr>
          <p:cNvPr id="17" name="文本框 18">
            <a:extLst>
              <a:ext uri="{FF2B5EF4-FFF2-40B4-BE49-F238E27FC236}">
                <a16:creationId xmlns:a16="http://schemas.microsoft.com/office/drawing/2014/main" id="{ECCCF7EC-52C9-1A5C-5E8F-6651B222AF0E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14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8376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C51C3-0404-68EB-A474-46AE7A3AB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47144481-AF5B-DF00-8E6C-9CEA8A014EC9}"/>
              </a:ext>
            </a:extLst>
          </p:cNvPr>
          <p:cNvGrpSpPr/>
          <p:nvPr/>
        </p:nvGrpSpPr>
        <p:grpSpPr>
          <a:xfrm>
            <a:off x="0" y="517338"/>
            <a:ext cx="12192000" cy="381000"/>
            <a:chOff x="0" y="517338"/>
            <a:chExt cx="12192000" cy="3810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92B9DD1-2353-FE74-FAB8-230014012C79}"/>
                </a:ext>
              </a:extLst>
            </p:cNvPr>
            <p:cNvCxnSpPr/>
            <p:nvPr/>
          </p:nvCxnSpPr>
          <p:spPr>
            <a:xfrm>
              <a:off x="0" y="707838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88E16BA-F07F-DFC5-60AF-CDB930BCB62B}"/>
                </a:ext>
              </a:extLst>
            </p:cNvPr>
            <p:cNvGrpSpPr/>
            <p:nvPr/>
          </p:nvGrpSpPr>
          <p:grpSpPr>
            <a:xfrm rot="10800000">
              <a:off x="11060824" y="517338"/>
              <a:ext cx="656896" cy="381000"/>
              <a:chOff x="307428" y="393221"/>
              <a:chExt cx="656896" cy="381000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9403DD0E-F2F6-DB5B-5369-C72A1BF88C0E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FA214A73-FFFC-2DD8-B2AE-9083E05D3248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3">
            <a:extLst>
              <a:ext uri="{FF2B5EF4-FFF2-40B4-BE49-F238E27FC236}">
                <a16:creationId xmlns:a16="http://schemas.microsoft.com/office/drawing/2014/main" id="{F8D00F16-CBB2-DC5F-B60F-216E396DBF1C}"/>
              </a:ext>
            </a:extLst>
          </p:cNvPr>
          <p:cNvSpPr txBox="1"/>
          <p:nvPr/>
        </p:nvSpPr>
        <p:spPr>
          <a:xfrm>
            <a:off x="802730" y="1042993"/>
            <a:ext cx="10586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/>
              <a:t>落地清單：把 </a:t>
            </a:r>
            <a:r>
              <a:rPr lang="en-US" altLang="zh-TW" sz="3200" dirty="0"/>
              <a:t>GenAI </a:t>
            </a:r>
            <a:r>
              <a:rPr lang="zh-TW" altLang="en-US" sz="3200" dirty="0"/>
              <a:t>變成「可控、可驗證」的工程流程</a:t>
            </a:r>
            <a:endParaRPr lang="zh-CN" altLang="en-US" sz="3200" dirty="0">
              <a:cs typeface="+mn-ea"/>
              <a:sym typeface="+mn-lt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F9C3CC26-5769-5C0C-FC5E-A77221BFFFAA}"/>
              </a:ext>
            </a:extLst>
          </p:cNvPr>
          <p:cNvGrpSpPr/>
          <p:nvPr/>
        </p:nvGrpSpPr>
        <p:grpSpPr>
          <a:xfrm>
            <a:off x="802730" y="1923937"/>
            <a:ext cx="5293270" cy="2072956"/>
            <a:chOff x="802730" y="1923937"/>
            <a:chExt cx="5293270" cy="207295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D93BEB0-DF69-FB97-A75D-39E05057D907}"/>
                </a:ext>
              </a:extLst>
            </p:cNvPr>
            <p:cNvSpPr/>
            <p:nvPr/>
          </p:nvSpPr>
          <p:spPr>
            <a:xfrm>
              <a:off x="802730" y="1923937"/>
              <a:ext cx="5293270" cy="20729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256DA1D-DDE5-E5A1-6A7F-8BA4F6D090DB}"/>
                </a:ext>
              </a:extLst>
            </p:cNvPr>
            <p:cNvSpPr txBox="1"/>
            <p:nvPr/>
          </p:nvSpPr>
          <p:spPr>
            <a:xfrm>
              <a:off x="1012279" y="2926025"/>
              <a:ext cx="4874174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不輸入敏感資料（客戶資料、密碼、內部資訊）</a:t>
              </a:r>
              <a:endParaRPr lang="en-US" altLang="zh-TW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提示用模板：目的／限制／輸出格式／測試條件</a:t>
              </a:r>
            </a:p>
          </p:txBody>
        </p:sp>
        <p:sp>
          <p:nvSpPr>
            <p:cNvPr id="8" name="文本框 17">
              <a:extLst>
                <a:ext uri="{FF2B5EF4-FFF2-40B4-BE49-F238E27FC236}">
                  <a16:creationId xmlns:a16="http://schemas.microsoft.com/office/drawing/2014/main" id="{0FFE4468-C568-8D8E-B84B-AE9B57D45D4A}"/>
                </a:ext>
              </a:extLst>
            </p:cNvPr>
            <p:cNvSpPr txBox="1"/>
            <p:nvPr/>
          </p:nvSpPr>
          <p:spPr>
            <a:xfrm>
              <a:off x="1441985" y="2297115"/>
              <a:ext cx="4014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TW" altLang="en-US" sz="2000" b="1" dirty="0">
                  <a:cs typeface="+mn-ea"/>
                  <a:sym typeface="+mn-lt"/>
                </a:rPr>
                <a:t>輸入管理（</a:t>
              </a:r>
              <a:r>
                <a:rPr lang="en-US" altLang="zh-TW" sz="2000" b="1" dirty="0">
                  <a:cs typeface="+mn-ea"/>
                  <a:sym typeface="+mn-lt"/>
                </a:rPr>
                <a:t>Prompt / </a:t>
              </a:r>
              <a:r>
                <a:rPr lang="zh-TW" altLang="en-US" sz="2000" b="1" dirty="0">
                  <a:cs typeface="+mn-ea"/>
                  <a:sym typeface="+mn-lt"/>
                </a:rPr>
                <a:t>資料）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C86F4396-28AB-109A-EFDB-988FB1DF8E25}"/>
              </a:ext>
            </a:extLst>
          </p:cNvPr>
          <p:cNvGrpSpPr/>
          <p:nvPr/>
        </p:nvGrpSpPr>
        <p:grpSpPr>
          <a:xfrm>
            <a:off x="6305549" y="1931611"/>
            <a:ext cx="5293270" cy="2072956"/>
            <a:chOff x="6305549" y="1931611"/>
            <a:chExt cx="5293270" cy="2072956"/>
          </a:xfrm>
        </p:grpSpPr>
        <p:sp>
          <p:nvSpPr>
            <p:cNvPr id="2" name="文本框 13">
              <a:extLst>
                <a:ext uri="{FF2B5EF4-FFF2-40B4-BE49-F238E27FC236}">
                  <a16:creationId xmlns:a16="http://schemas.microsoft.com/office/drawing/2014/main" id="{6D1EBFA2-DB69-FC86-186F-15DA9ECAEAE9}"/>
                </a:ext>
              </a:extLst>
            </p:cNvPr>
            <p:cNvSpPr txBox="1"/>
            <p:nvPr/>
          </p:nvSpPr>
          <p:spPr>
            <a:xfrm>
              <a:off x="6515096" y="2926025"/>
              <a:ext cx="4874174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一律走 </a:t>
              </a:r>
              <a:r>
                <a:rPr lang="en-US" altLang="zh-TW" sz="1600" dirty="0">
                  <a:cs typeface="+mn-ea"/>
                  <a:sym typeface="+mn-lt"/>
                </a:rPr>
                <a:t>Code Review</a:t>
              </a:r>
              <a:r>
                <a:rPr lang="zh-TW" altLang="en-US" sz="1600" dirty="0">
                  <a:cs typeface="+mn-ea"/>
                  <a:sym typeface="+mn-lt"/>
                </a:rPr>
                <a:t>：</a:t>
              </a:r>
              <a:r>
                <a:rPr lang="en-US" altLang="zh-TW" sz="1600" dirty="0">
                  <a:cs typeface="+mn-ea"/>
                  <a:sym typeface="+mn-lt"/>
                </a:rPr>
                <a:t>AI </a:t>
              </a:r>
              <a:r>
                <a:rPr lang="zh-TW" altLang="en-US" sz="1600" dirty="0">
                  <a:cs typeface="+mn-ea"/>
                  <a:sym typeface="+mn-lt"/>
                </a:rPr>
                <a:t>產出照樣開 </a:t>
              </a:r>
              <a:r>
                <a:rPr lang="en-US" altLang="zh-TW" sz="1600" dirty="0">
                  <a:cs typeface="+mn-ea"/>
                  <a:sym typeface="+mn-lt"/>
                </a:rPr>
                <a:t>PR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先跑測試再合併：單元測試＋靜態檢查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899A601-BA83-28E3-C012-B0C75C5E42FC}"/>
                </a:ext>
              </a:extLst>
            </p:cNvPr>
            <p:cNvSpPr/>
            <p:nvPr/>
          </p:nvSpPr>
          <p:spPr>
            <a:xfrm>
              <a:off x="6305549" y="1931611"/>
              <a:ext cx="5293270" cy="20729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文本框 17">
              <a:extLst>
                <a:ext uri="{FF2B5EF4-FFF2-40B4-BE49-F238E27FC236}">
                  <a16:creationId xmlns:a16="http://schemas.microsoft.com/office/drawing/2014/main" id="{A76BB8DE-0942-1FCA-00A8-B2C9995E5445}"/>
                </a:ext>
              </a:extLst>
            </p:cNvPr>
            <p:cNvSpPr txBox="1"/>
            <p:nvPr/>
          </p:nvSpPr>
          <p:spPr>
            <a:xfrm>
              <a:off x="7467363" y="2304789"/>
              <a:ext cx="29696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TW" altLang="en-US" sz="2000" b="1" dirty="0">
                  <a:cs typeface="+mn-ea"/>
                  <a:sym typeface="+mn-lt"/>
                </a:rPr>
                <a:t>輸出驗證（</a:t>
              </a:r>
              <a:r>
                <a:rPr lang="en-US" altLang="zh-TW" sz="2000" b="1" dirty="0">
                  <a:cs typeface="+mn-ea"/>
                  <a:sym typeface="+mn-lt"/>
                </a:rPr>
                <a:t>Code</a:t>
              </a:r>
              <a:r>
                <a:rPr lang="zh-TW" altLang="en-US" sz="2000" b="1" dirty="0">
                  <a:cs typeface="+mn-ea"/>
                  <a:sym typeface="+mn-lt"/>
                </a:rPr>
                <a:t>／內容）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1996143A-D2DD-BD13-CBF4-B762F8DB829D}"/>
              </a:ext>
            </a:extLst>
          </p:cNvPr>
          <p:cNvGrpSpPr/>
          <p:nvPr/>
        </p:nvGrpSpPr>
        <p:grpSpPr>
          <a:xfrm>
            <a:off x="802730" y="4293062"/>
            <a:ext cx="5293270" cy="2072956"/>
            <a:chOff x="802730" y="1923937"/>
            <a:chExt cx="5293270" cy="207295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ACA5BFE-3CBD-525A-E604-8236B71EA760}"/>
                </a:ext>
              </a:extLst>
            </p:cNvPr>
            <p:cNvSpPr/>
            <p:nvPr/>
          </p:nvSpPr>
          <p:spPr>
            <a:xfrm>
              <a:off x="802730" y="1923937"/>
              <a:ext cx="5293270" cy="20729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文本框 13">
              <a:extLst>
                <a:ext uri="{FF2B5EF4-FFF2-40B4-BE49-F238E27FC236}">
                  <a16:creationId xmlns:a16="http://schemas.microsoft.com/office/drawing/2014/main" id="{3720EDD8-B06F-65A9-10D6-997E540BFD54}"/>
                </a:ext>
              </a:extLst>
            </p:cNvPr>
            <p:cNvSpPr txBox="1"/>
            <p:nvPr/>
          </p:nvSpPr>
          <p:spPr>
            <a:xfrm>
              <a:off x="1012279" y="2926025"/>
              <a:ext cx="4874174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覆蓋率門檻 </a:t>
              </a:r>
              <a:r>
                <a:rPr lang="en-US" altLang="zh-TW" sz="1600" dirty="0">
                  <a:cs typeface="+mn-ea"/>
                  <a:sym typeface="+mn-lt"/>
                </a:rPr>
                <a:t>/ </a:t>
              </a:r>
              <a:r>
                <a:rPr lang="zh-TW" altLang="en-US" sz="1600" dirty="0">
                  <a:cs typeface="+mn-ea"/>
                  <a:sym typeface="+mn-lt"/>
                </a:rPr>
                <a:t>回歸測試必過</a:t>
              </a:r>
              <a:endParaRPr lang="en-US" altLang="zh-TW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高風險模組（資安、金流、權限）必須人工複核</a:t>
              </a:r>
              <a:endParaRPr lang="en-US" altLang="zh-CN" sz="1600" dirty="0">
                <a:cs typeface="+mn-ea"/>
                <a:sym typeface="+mn-lt"/>
              </a:endParaRPr>
            </a:p>
          </p:txBody>
        </p:sp>
        <p:sp>
          <p:nvSpPr>
            <p:cNvPr id="28" name="文本框 17">
              <a:extLst>
                <a:ext uri="{FF2B5EF4-FFF2-40B4-BE49-F238E27FC236}">
                  <a16:creationId xmlns:a16="http://schemas.microsoft.com/office/drawing/2014/main" id="{D06C59E1-FB33-86DD-B6E7-21E0064AF5C2}"/>
                </a:ext>
              </a:extLst>
            </p:cNvPr>
            <p:cNvSpPr txBox="1"/>
            <p:nvPr/>
          </p:nvSpPr>
          <p:spPr>
            <a:xfrm>
              <a:off x="1524625" y="2297115"/>
              <a:ext cx="38494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TW" altLang="en-US" sz="2000" b="1" dirty="0">
                  <a:cs typeface="+mn-ea"/>
                  <a:sym typeface="+mn-lt"/>
                </a:rPr>
                <a:t>品質門檻（</a:t>
              </a:r>
              <a:r>
                <a:rPr lang="en-US" altLang="zh-TW" sz="2000" b="1" dirty="0">
                  <a:cs typeface="+mn-ea"/>
                  <a:sym typeface="+mn-lt"/>
                </a:rPr>
                <a:t>Quality Gates</a:t>
              </a:r>
              <a:r>
                <a:rPr lang="zh-TW" altLang="en-US" sz="2000" b="1" dirty="0">
                  <a:cs typeface="+mn-ea"/>
                  <a:sym typeface="+mn-lt"/>
                </a:rPr>
                <a:t>）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278DDFF7-5619-23FC-77D2-885710F2F2A0}"/>
              </a:ext>
            </a:extLst>
          </p:cNvPr>
          <p:cNvGrpSpPr/>
          <p:nvPr/>
        </p:nvGrpSpPr>
        <p:grpSpPr>
          <a:xfrm>
            <a:off x="6305549" y="4293062"/>
            <a:ext cx="5293270" cy="2072956"/>
            <a:chOff x="802730" y="1923937"/>
            <a:chExt cx="5293270" cy="207295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C525917-241A-BE19-54EB-5365C003E0ED}"/>
                </a:ext>
              </a:extLst>
            </p:cNvPr>
            <p:cNvSpPr/>
            <p:nvPr/>
          </p:nvSpPr>
          <p:spPr>
            <a:xfrm>
              <a:off x="802730" y="1923937"/>
              <a:ext cx="5293270" cy="20729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文本框 13">
              <a:extLst>
                <a:ext uri="{FF2B5EF4-FFF2-40B4-BE49-F238E27FC236}">
                  <a16:creationId xmlns:a16="http://schemas.microsoft.com/office/drawing/2014/main" id="{E6C10F96-DADC-D338-788C-757EF4D2B58D}"/>
                </a:ext>
              </a:extLst>
            </p:cNvPr>
            <p:cNvSpPr txBox="1"/>
            <p:nvPr/>
          </p:nvSpPr>
          <p:spPr>
            <a:xfrm>
              <a:off x="1012277" y="2926025"/>
              <a:ext cx="5083723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重要需求</a:t>
              </a:r>
              <a:r>
                <a:rPr lang="en-US" altLang="zh-TW" sz="1600" dirty="0">
                  <a:cs typeface="+mn-ea"/>
                  <a:sym typeface="+mn-lt"/>
                </a:rPr>
                <a:t>/</a:t>
              </a:r>
              <a:r>
                <a:rPr lang="zh-TW" altLang="en-US" sz="1600" dirty="0">
                  <a:cs typeface="+mn-ea"/>
                  <a:sym typeface="+mn-lt"/>
                </a:rPr>
                <a:t>決策：保留 </a:t>
              </a:r>
              <a:r>
                <a:rPr lang="en-US" altLang="zh-TW" sz="1600" dirty="0">
                  <a:cs typeface="+mn-ea"/>
                  <a:sym typeface="+mn-lt"/>
                </a:rPr>
                <a:t>prompt</a:t>
              </a:r>
              <a:r>
                <a:rPr lang="zh-TW" altLang="en-US" sz="1600" dirty="0">
                  <a:cs typeface="+mn-ea"/>
                  <a:sym typeface="+mn-lt"/>
                </a:rPr>
                <a:t>、版本、</a:t>
              </a:r>
              <a:r>
                <a:rPr lang="en-US" altLang="zh-TW" sz="1600" dirty="0">
                  <a:cs typeface="+mn-ea"/>
                  <a:sym typeface="+mn-lt"/>
                </a:rPr>
                <a:t>review </a:t>
              </a:r>
              <a:r>
                <a:rPr lang="zh-TW" altLang="en-US" sz="1600" dirty="0">
                  <a:cs typeface="+mn-ea"/>
                  <a:sym typeface="+mn-lt"/>
                </a:rPr>
                <a:t>記錄</a:t>
              </a:r>
              <a:endParaRPr lang="en-US" altLang="zh-TW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出問題能回溯：哪次產出、哪次修改、誰核可</a:t>
              </a:r>
              <a:endParaRPr lang="en-US" altLang="zh-CN" sz="1600" dirty="0">
                <a:cs typeface="+mn-ea"/>
                <a:sym typeface="+mn-lt"/>
              </a:endParaRPr>
            </a:p>
          </p:txBody>
        </p:sp>
        <p:sp>
          <p:nvSpPr>
            <p:cNvPr id="32" name="文本框 17">
              <a:extLst>
                <a:ext uri="{FF2B5EF4-FFF2-40B4-BE49-F238E27FC236}">
                  <a16:creationId xmlns:a16="http://schemas.microsoft.com/office/drawing/2014/main" id="{A3AFF45B-D7A3-814C-2754-A260D44945CF}"/>
                </a:ext>
              </a:extLst>
            </p:cNvPr>
            <p:cNvSpPr txBox="1"/>
            <p:nvPr/>
          </p:nvSpPr>
          <p:spPr>
            <a:xfrm>
              <a:off x="1524625" y="2297115"/>
              <a:ext cx="38494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TW" altLang="en-US" sz="2000" b="1" dirty="0">
                  <a:cs typeface="+mn-ea"/>
                  <a:sym typeface="+mn-lt"/>
                </a:rPr>
                <a:t>可追溯性（</a:t>
              </a:r>
              <a:r>
                <a:rPr lang="en-US" altLang="zh-TW" sz="2000" b="1" dirty="0">
                  <a:cs typeface="+mn-ea"/>
                  <a:sym typeface="+mn-lt"/>
                </a:rPr>
                <a:t>Traceability</a:t>
              </a:r>
              <a:r>
                <a:rPr lang="zh-TW" altLang="en-US" sz="2000" b="1" dirty="0">
                  <a:cs typeface="+mn-ea"/>
                  <a:sym typeface="+mn-lt"/>
                </a:rPr>
                <a:t>）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sp>
        <p:nvSpPr>
          <p:cNvPr id="12" name="文本框 18">
            <a:extLst>
              <a:ext uri="{FF2B5EF4-FFF2-40B4-BE49-F238E27FC236}">
                <a16:creationId xmlns:a16="http://schemas.microsoft.com/office/drawing/2014/main" id="{50A57F1B-B56F-B88D-2320-32C9F43BF9D0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15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875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497"/>
    </mc:Choice>
    <mc:Fallback xmlns="">
      <p:transition advTm="4497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4A0BA-0D64-51D3-536F-5D65597A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DECF76A4-03C2-7DF6-472C-B12E1337D437}"/>
              </a:ext>
            </a:extLst>
          </p:cNvPr>
          <p:cNvGrpSpPr/>
          <p:nvPr/>
        </p:nvGrpSpPr>
        <p:grpSpPr>
          <a:xfrm>
            <a:off x="0" y="391286"/>
            <a:ext cx="12192000" cy="381000"/>
            <a:chOff x="0" y="391286"/>
            <a:chExt cx="12192000" cy="38100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16383E9-FFF4-19B8-6A68-10C509EE7DCC}"/>
                </a:ext>
              </a:extLst>
            </p:cNvPr>
            <p:cNvCxnSpPr/>
            <p:nvPr/>
          </p:nvCxnSpPr>
          <p:spPr>
            <a:xfrm>
              <a:off x="0" y="581786"/>
              <a:ext cx="121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6F4E663-8FD8-E99B-AE52-598088E149D2}"/>
                </a:ext>
              </a:extLst>
            </p:cNvPr>
            <p:cNvGrpSpPr/>
            <p:nvPr/>
          </p:nvGrpSpPr>
          <p:grpSpPr>
            <a:xfrm rot="10800000">
              <a:off x="11060824" y="391286"/>
              <a:ext cx="656896" cy="381000"/>
              <a:chOff x="307428" y="393221"/>
              <a:chExt cx="656896" cy="381000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6E9FCC9B-3602-28B0-9DC3-B0EBBDBDA456}"/>
                  </a:ext>
                </a:extLst>
              </p:cNvPr>
              <p:cNvSpPr/>
              <p:nvPr/>
            </p:nvSpPr>
            <p:spPr>
              <a:xfrm rot="5400000">
                <a:off x="281152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2C0D23F5-2387-77AF-F6DF-BE4BD5D94071}"/>
                  </a:ext>
                </a:extLst>
              </p:cNvPr>
              <p:cNvSpPr/>
              <p:nvPr/>
            </p:nvSpPr>
            <p:spPr>
              <a:xfrm rot="5400000">
                <a:off x="609600" y="419497"/>
                <a:ext cx="381000" cy="32844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05DC6A34-D0EB-DD47-D22A-9DD6F514698D}"/>
              </a:ext>
            </a:extLst>
          </p:cNvPr>
          <p:cNvSpPr txBox="1"/>
          <p:nvPr/>
        </p:nvSpPr>
        <p:spPr>
          <a:xfrm>
            <a:off x="2573067" y="1000129"/>
            <a:ext cx="7045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cs typeface="+mn-ea"/>
                <a:sym typeface="+mn-lt"/>
              </a:rPr>
              <a:t>回扣論壇主題四面向</a:t>
            </a:r>
            <a:endParaRPr lang="zh-CN" altLang="en-US" sz="3200" dirty="0">
              <a:cs typeface="+mn-ea"/>
              <a:sym typeface="+mn-lt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F3AD07A8-2A02-A1A3-CDE8-995F46F2AD0F}"/>
              </a:ext>
            </a:extLst>
          </p:cNvPr>
          <p:cNvGrpSpPr/>
          <p:nvPr/>
        </p:nvGrpSpPr>
        <p:grpSpPr>
          <a:xfrm>
            <a:off x="1878018" y="1742627"/>
            <a:ext cx="8435964" cy="1017400"/>
            <a:chOff x="1878018" y="1742627"/>
            <a:chExt cx="8435964" cy="10174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7EE6ABB0-22B9-6CDE-FB54-D0AC2E503E49}"/>
                </a:ext>
              </a:extLst>
            </p:cNvPr>
            <p:cNvGrpSpPr/>
            <p:nvPr/>
          </p:nvGrpSpPr>
          <p:grpSpPr>
            <a:xfrm>
              <a:off x="1878018" y="1742627"/>
              <a:ext cx="8435964" cy="1017400"/>
              <a:chOff x="842540" y="2003246"/>
              <a:chExt cx="9396307" cy="1425754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BC66718-5772-3212-8E64-7EAEDC30A04F}"/>
                  </a:ext>
                </a:extLst>
              </p:cNvPr>
              <p:cNvSpPr/>
              <p:nvPr/>
            </p:nvSpPr>
            <p:spPr>
              <a:xfrm>
                <a:off x="842540" y="2003246"/>
                <a:ext cx="9396307" cy="14257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等腰三角形 10">
                <a:extLst>
                  <a:ext uri="{FF2B5EF4-FFF2-40B4-BE49-F238E27FC236}">
                    <a16:creationId xmlns:a16="http://schemas.microsoft.com/office/drawing/2014/main" id="{BDCED893-9408-B410-40D9-E14230386126}"/>
                  </a:ext>
                </a:extLst>
              </p:cNvPr>
              <p:cNvSpPr/>
              <p:nvPr/>
            </p:nvSpPr>
            <p:spPr>
              <a:xfrm rot="5400000">
                <a:off x="715946" y="2516068"/>
                <a:ext cx="653298" cy="40011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418B8A6-8C8C-F4E4-CCFF-F521BB839EAA}"/>
                </a:ext>
              </a:extLst>
            </p:cNvPr>
            <p:cNvSpPr txBox="1"/>
            <p:nvPr/>
          </p:nvSpPr>
          <p:spPr>
            <a:xfrm>
              <a:off x="2487267" y="1850397"/>
              <a:ext cx="65149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TW" sz="2400" b="1" dirty="0">
                  <a:cs typeface="+mn-ea"/>
                  <a:sym typeface="+mn-lt"/>
                </a:rPr>
                <a:t>a. AI </a:t>
              </a:r>
              <a:r>
                <a:rPr lang="zh-TW" altLang="en-US" sz="2400" b="1" dirty="0">
                  <a:cs typeface="+mn-ea"/>
                  <a:sym typeface="+mn-lt"/>
                </a:rPr>
                <a:t>輔助程式開發與程式碼品質</a:t>
              </a:r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6ACF2A4-2C5C-66AA-0107-B269F2676D51}"/>
                </a:ext>
              </a:extLst>
            </p:cNvPr>
            <p:cNvSpPr txBox="1"/>
            <p:nvPr/>
          </p:nvSpPr>
          <p:spPr>
            <a:xfrm>
              <a:off x="2487267" y="2265637"/>
              <a:ext cx="7571649" cy="418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效率提升最明顯，但要靠 </a:t>
              </a:r>
              <a:r>
                <a:rPr lang="en-US" altLang="zh-TW" sz="1600" dirty="0">
                  <a:cs typeface="+mn-ea"/>
                  <a:sym typeface="+mn-lt"/>
                </a:rPr>
                <a:t>review / </a:t>
              </a:r>
              <a:r>
                <a:rPr lang="zh-TW" altLang="en-US" sz="1600" dirty="0">
                  <a:cs typeface="+mn-ea"/>
                  <a:sym typeface="+mn-lt"/>
                </a:rPr>
                <a:t>測試門檻守住品質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4892A099-42E1-837E-7CCE-BC181D10DA1C}"/>
              </a:ext>
            </a:extLst>
          </p:cNvPr>
          <p:cNvGrpSpPr/>
          <p:nvPr/>
        </p:nvGrpSpPr>
        <p:grpSpPr>
          <a:xfrm>
            <a:off x="1878018" y="2966158"/>
            <a:ext cx="8435964" cy="1017400"/>
            <a:chOff x="1878018" y="1742627"/>
            <a:chExt cx="8435964" cy="1017400"/>
          </a:xfrm>
        </p:grpSpPr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A3A09F7B-3985-9247-3EC8-EB165F52F611}"/>
                </a:ext>
              </a:extLst>
            </p:cNvPr>
            <p:cNvGrpSpPr/>
            <p:nvPr/>
          </p:nvGrpSpPr>
          <p:grpSpPr>
            <a:xfrm>
              <a:off x="1878018" y="1742627"/>
              <a:ext cx="8435964" cy="1017400"/>
              <a:chOff x="842540" y="2003246"/>
              <a:chExt cx="9396307" cy="1425754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9BE7562-21A8-6601-4680-12552875C295}"/>
                  </a:ext>
                </a:extLst>
              </p:cNvPr>
              <p:cNvSpPr/>
              <p:nvPr/>
            </p:nvSpPr>
            <p:spPr>
              <a:xfrm>
                <a:off x="842540" y="2003246"/>
                <a:ext cx="9396307" cy="14257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等腰三角形 13">
                <a:extLst>
                  <a:ext uri="{FF2B5EF4-FFF2-40B4-BE49-F238E27FC236}">
                    <a16:creationId xmlns:a16="http://schemas.microsoft.com/office/drawing/2014/main" id="{605A1BCA-B709-1C13-7381-B4F81789DF31}"/>
                  </a:ext>
                </a:extLst>
              </p:cNvPr>
              <p:cNvSpPr/>
              <p:nvPr/>
            </p:nvSpPr>
            <p:spPr>
              <a:xfrm rot="5400000">
                <a:off x="715946" y="2516068"/>
                <a:ext cx="653298" cy="40011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9" name="文本框 17">
              <a:extLst>
                <a:ext uri="{FF2B5EF4-FFF2-40B4-BE49-F238E27FC236}">
                  <a16:creationId xmlns:a16="http://schemas.microsoft.com/office/drawing/2014/main" id="{84D1584A-EEBE-C683-C1E1-6197893EB925}"/>
                </a:ext>
              </a:extLst>
            </p:cNvPr>
            <p:cNvSpPr txBox="1"/>
            <p:nvPr/>
          </p:nvSpPr>
          <p:spPr>
            <a:xfrm>
              <a:off x="2487267" y="1850397"/>
              <a:ext cx="75716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TW" sz="2400" b="1" dirty="0">
                  <a:cs typeface="+mn-ea"/>
                  <a:sym typeface="+mn-lt"/>
                </a:rPr>
                <a:t>b. AI </a:t>
              </a:r>
              <a:r>
                <a:rPr lang="zh-TW" altLang="en-US" sz="2400" b="1" dirty="0">
                  <a:cs typeface="+mn-ea"/>
                  <a:sym typeface="+mn-lt"/>
                </a:rPr>
                <a:t>在軟體測試、品質保證與 </a:t>
              </a:r>
              <a:r>
                <a:rPr lang="en-US" altLang="zh-TW" sz="2400" b="1" dirty="0">
                  <a:cs typeface="+mn-ea"/>
                  <a:sym typeface="+mn-lt"/>
                </a:rPr>
                <a:t>DevOps </a:t>
              </a:r>
              <a:r>
                <a:rPr lang="zh-TW" altLang="en-US" sz="2400" b="1" dirty="0">
                  <a:cs typeface="+mn-ea"/>
                  <a:sym typeface="+mn-lt"/>
                </a:rPr>
                <a:t>的角色</a:t>
              </a:r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12" name="文本框 18">
              <a:extLst>
                <a:ext uri="{FF2B5EF4-FFF2-40B4-BE49-F238E27FC236}">
                  <a16:creationId xmlns:a16="http://schemas.microsoft.com/office/drawing/2014/main" id="{E82E7E7D-ECDB-4C92-C441-AE7DAADB7D18}"/>
                </a:ext>
              </a:extLst>
            </p:cNvPr>
            <p:cNvSpPr txBox="1"/>
            <p:nvPr/>
          </p:nvSpPr>
          <p:spPr>
            <a:xfrm>
              <a:off x="2487267" y="2265637"/>
              <a:ext cx="7571649" cy="418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測試生成、自動化更強，但 </a:t>
              </a:r>
              <a:r>
                <a:rPr lang="en-US" altLang="zh-TW" sz="1600" dirty="0">
                  <a:cs typeface="+mn-ea"/>
                  <a:sym typeface="+mn-lt"/>
                </a:rPr>
                <a:t>gate </a:t>
              </a:r>
              <a:r>
                <a:rPr lang="zh-TW" altLang="en-US" sz="1600" dirty="0">
                  <a:cs typeface="+mn-ea"/>
                  <a:sym typeface="+mn-lt"/>
                </a:rPr>
                <a:t>與監控會更重要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24EB9472-5A95-EB70-0501-A93720179369}"/>
              </a:ext>
            </a:extLst>
          </p:cNvPr>
          <p:cNvGrpSpPr/>
          <p:nvPr/>
        </p:nvGrpSpPr>
        <p:grpSpPr>
          <a:xfrm>
            <a:off x="1878018" y="4189689"/>
            <a:ext cx="8435964" cy="1017400"/>
            <a:chOff x="1878018" y="1742627"/>
            <a:chExt cx="8435964" cy="1017400"/>
          </a:xfrm>
        </p:grpSpPr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222BC06F-7768-C419-205D-0CE2E4F4ADC1}"/>
                </a:ext>
              </a:extLst>
            </p:cNvPr>
            <p:cNvGrpSpPr/>
            <p:nvPr/>
          </p:nvGrpSpPr>
          <p:grpSpPr>
            <a:xfrm>
              <a:off x="1878018" y="1742627"/>
              <a:ext cx="8435964" cy="1017400"/>
              <a:chOff x="842540" y="2003246"/>
              <a:chExt cx="9396307" cy="1425754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2C11C312-7CAF-1493-0918-3EF60C802D3B}"/>
                  </a:ext>
                </a:extLst>
              </p:cNvPr>
              <p:cNvSpPr/>
              <p:nvPr/>
            </p:nvSpPr>
            <p:spPr>
              <a:xfrm>
                <a:off x="842540" y="2003246"/>
                <a:ext cx="9396307" cy="14257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等腰三角形 21">
                <a:extLst>
                  <a:ext uri="{FF2B5EF4-FFF2-40B4-BE49-F238E27FC236}">
                    <a16:creationId xmlns:a16="http://schemas.microsoft.com/office/drawing/2014/main" id="{1ED5CB0B-731A-6B7A-B033-7E95E953E975}"/>
                  </a:ext>
                </a:extLst>
              </p:cNvPr>
              <p:cNvSpPr/>
              <p:nvPr/>
            </p:nvSpPr>
            <p:spPr>
              <a:xfrm rot="5400000">
                <a:off x="715946" y="2516068"/>
                <a:ext cx="653298" cy="40011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7" name="文本框 17">
              <a:extLst>
                <a:ext uri="{FF2B5EF4-FFF2-40B4-BE49-F238E27FC236}">
                  <a16:creationId xmlns:a16="http://schemas.microsoft.com/office/drawing/2014/main" id="{32625C11-89D6-19E0-4DC0-9E387A302B8D}"/>
                </a:ext>
              </a:extLst>
            </p:cNvPr>
            <p:cNvSpPr txBox="1"/>
            <p:nvPr/>
          </p:nvSpPr>
          <p:spPr>
            <a:xfrm>
              <a:off x="2487267" y="1850397"/>
              <a:ext cx="75716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TW" sz="2400" b="1" dirty="0">
                  <a:cs typeface="+mn-ea"/>
                  <a:sym typeface="+mn-lt"/>
                </a:rPr>
                <a:t>c. AI </a:t>
              </a:r>
              <a:r>
                <a:rPr lang="zh-TW" altLang="en-US" sz="2400" b="1" dirty="0">
                  <a:cs typeface="+mn-ea"/>
                  <a:sym typeface="+mn-lt"/>
                </a:rPr>
                <a:t>介入軟體生命週期各階段</a:t>
              </a:r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20" name="文本框 18">
              <a:extLst>
                <a:ext uri="{FF2B5EF4-FFF2-40B4-BE49-F238E27FC236}">
                  <a16:creationId xmlns:a16="http://schemas.microsoft.com/office/drawing/2014/main" id="{DF56AC57-0CB6-6D79-3924-69E595A55651}"/>
                </a:ext>
              </a:extLst>
            </p:cNvPr>
            <p:cNvSpPr txBox="1"/>
            <p:nvPr/>
          </p:nvSpPr>
          <p:spPr>
            <a:xfrm>
              <a:off x="2487267" y="2265637"/>
              <a:ext cx="7571649" cy="418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需求、設計、實作、測試、部署、維護：能力與普及度不均，但趨勢明確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B260BDCD-552F-4FBE-AAF8-D91A3B347F38}"/>
              </a:ext>
            </a:extLst>
          </p:cNvPr>
          <p:cNvGrpSpPr/>
          <p:nvPr/>
        </p:nvGrpSpPr>
        <p:grpSpPr>
          <a:xfrm>
            <a:off x="1878018" y="5413219"/>
            <a:ext cx="8435964" cy="1017400"/>
            <a:chOff x="1878018" y="1742627"/>
            <a:chExt cx="8435964" cy="1017400"/>
          </a:xfrm>
        </p:grpSpPr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C135F760-1458-BC98-E5D7-CE9AB8308AD8}"/>
                </a:ext>
              </a:extLst>
            </p:cNvPr>
            <p:cNvGrpSpPr/>
            <p:nvPr/>
          </p:nvGrpSpPr>
          <p:grpSpPr>
            <a:xfrm>
              <a:off x="1878018" y="1742627"/>
              <a:ext cx="8435964" cy="1017400"/>
              <a:chOff x="842540" y="2003246"/>
              <a:chExt cx="9396307" cy="1425754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DA4FE8C-7C7E-E4E3-5F09-2659586773B9}"/>
                  </a:ext>
                </a:extLst>
              </p:cNvPr>
              <p:cNvSpPr/>
              <p:nvPr/>
            </p:nvSpPr>
            <p:spPr>
              <a:xfrm>
                <a:off x="842540" y="2003246"/>
                <a:ext cx="9396307" cy="14257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等腰三角形 29">
                <a:extLst>
                  <a:ext uri="{FF2B5EF4-FFF2-40B4-BE49-F238E27FC236}">
                    <a16:creationId xmlns:a16="http://schemas.microsoft.com/office/drawing/2014/main" id="{6D3DAB0E-4821-9811-DCD3-D5DC3B46B465}"/>
                  </a:ext>
                </a:extLst>
              </p:cNvPr>
              <p:cNvSpPr/>
              <p:nvPr/>
            </p:nvSpPr>
            <p:spPr>
              <a:xfrm rot="5400000">
                <a:off x="715946" y="2516068"/>
                <a:ext cx="653298" cy="40011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7" name="文本框 17">
              <a:extLst>
                <a:ext uri="{FF2B5EF4-FFF2-40B4-BE49-F238E27FC236}">
                  <a16:creationId xmlns:a16="http://schemas.microsoft.com/office/drawing/2014/main" id="{4076C02B-D265-18E3-5EFC-CAB1AA6C72C2}"/>
                </a:ext>
              </a:extLst>
            </p:cNvPr>
            <p:cNvSpPr txBox="1"/>
            <p:nvPr/>
          </p:nvSpPr>
          <p:spPr>
            <a:xfrm>
              <a:off x="2487267" y="1850397"/>
              <a:ext cx="75716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TW" sz="2400" b="1" dirty="0">
                  <a:cs typeface="+mn-ea"/>
                  <a:sym typeface="+mn-lt"/>
                </a:rPr>
                <a:t>d. </a:t>
              </a:r>
              <a:r>
                <a:rPr lang="zh-TW" altLang="en-US" sz="2400" b="1" dirty="0">
                  <a:cs typeface="+mn-ea"/>
                  <a:sym typeface="+mn-lt"/>
                </a:rPr>
                <a:t>有 </a:t>
              </a:r>
              <a:r>
                <a:rPr lang="en-US" altLang="zh-TW" sz="2400" b="1" dirty="0">
                  <a:cs typeface="+mn-ea"/>
                  <a:sym typeface="+mn-lt"/>
                </a:rPr>
                <a:t>AI </a:t>
              </a:r>
              <a:r>
                <a:rPr lang="zh-TW" altLang="en-US" sz="2400" b="1" dirty="0">
                  <a:cs typeface="+mn-ea"/>
                  <a:sym typeface="+mn-lt"/>
                </a:rPr>
                <a:t>的時代的工程師技能與倫理議題</a:t>
              </a:r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28" name="文本框 18">
              <a:extLst>
                <a:ext uri="{FF2B5EF4-FFF2-40B4-BE49-F238E27FC236}">
                  <a16:creationId xmlns:a16="http://schemas.microsoft.com/office/drawing/2014/main" id="{EE60B680-62E6-EBAF-B788-24646D72D424}"/>
                </a:ext>
              </a:extLst>
            </p:cNvPr>
            <p:cNvSpPr txBox="1"/>
            <p:nvPr/>
          </p:nvSpPr>
          <p:spPr>
            <a:xfrm>
              <a:off x="2487267" y="2265637"/>
              <a:ext cx="7571649" cy="418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cs typeface="+mn-ea"/>
                  <a:sym typeface="+mn-lt"/>
                </a:rPr>
                <a:t>訓練、信任、授權</a:t>
              </a:r>
              <a:r>
                <a:rPr lang="en-US" altLang="zh-TW" sz="1600" dirty="0">
                  <a:cs typeface="+mn-ea"/>
                  <a:sym typeface="+mn-lt"/>
                </a:rPr>
                <a:t>/</a:t>
              </a:r>
              <a:r>
                <a:rPr lang="zh-TW" altLang="en-US" sz="1600" dirty="0">
                  <a:cs typeface="+mn-ea"/>
                  <a:sym typeface="+mn-lt"/>
                </a:rPr>
                <a:t>智財、責任界線：會變成日常治理題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31" name="文本框 18">
            <a:extLst>
              <a:ext uri="{FF2B5EF4-FFF2-40B4-BE49-F238E27FC236}">
                <a16:creationId xmlns:a16="http://schemas.microsoft.com/office/drawing/2014/main" id="{AED62AE1-E9A3-8C41-C7AA-37770E8FAD72}"/>
              </a:ext>
            </a:extLst>
          </p:cNvPr>
          <p:cNvSpPr txBox="1"/>
          <p:nvPr/>
        </p:nvSpPr>
        <p:spPr>
          <a:xfrm>
            <a:off x="11717720" y="6357946"/>
            <a:ext cx="43285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600" dirty="0">
                <a:cs typeface="+mn-ea"/>
                <a:sym typeface="+mn-lt"/>
              </a:rPr>
              <a:t>16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4357801"/>
      </p:ext>
    </p:extLst>
  </p:cSld>
  <p:clrMapOvr>
    <a:masterClrMapping/>
  </p:clrMapOvr>
  <p:transition spd="slow" advTm="5442">
    <p:wheel spokes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9|0.7|0.9|0.7|0.7|1|0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8|0.7|0.8|0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8|0.6|0.7|0.7|0.7|0.8|0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8|0.6|0.7|0.7|0.7|0.8|0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8|0.8|0.7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8|0.8|0.7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7|0.6|1.3|0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8|0.6|0.7|0.7|0.7|0.8|0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8|0.7|0.8|0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8|0.6|0.7|0.7|0.7|0.8|0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7|0.7|0.8|1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8|0.8|0.7|1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8|0.8|0.7|1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8|0.8|0.7|1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7|0.7|0.8|1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8|0.7|0.8|0.9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lvvoqjl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2042</TotalTime>
  <Words>2179</Words>
  <Application>Microsoft Office PowerPoint</Application>
  <PresentationFormat>寬螢幕</PresentationFormat>
  <Paragraphs>202</Paragraphs>
  <Slides>16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方正正黑简体</vt:lpstr>
      <vt:lpstr>Arial</vt:lpstr>
      <vt:lpstr>Calibri</vt:lpstr>
      <vt:lpstr>Wingdings</vt:lpstr>
      <vt:lpstr>第一PPT，www.1ppt.com</vt:lpstr>
      <vt:lpstr>自定义设计方案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https://www.ypppt.com/</dc:subject>
  <dc:creator>优品PPT</dc:creator>
  <cp:keywords>https:/www.ypppt.com</cp:keywords>
  <dc:description>https://www.ypppt.com/</dc:description>
  <cp:lastModifiedBy>明憲 蔡</cp:lastModifiedBy>
  <cp:revision>58</cp:revision>
  <dcterms:created xsi:type="dcterms:W3CDTF">2020-12-15T09:58:26Z</dcterms:created>
  <dcterms:modified xsi:type="dcterms:W3CDTF">2025-12-08T15:49:34Z</dcterms:modified>
</cp:coreProperties>
</file>